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82" r:id="rId35"/>
    <p:sldId id="283" r:id="rId36"/>
    <p:sldId id="284" r:id="rId37"/>
    <p:sldId id="285" r:id="rId38"/>
    <p:sldId id="286" r:id="rId39"/>
    <p:sldId id="287" r:id="rId40"/>
    <p:sldId id="278" r:id="rId24"/>
    <p:sldId id="280" r:id="rId26"/>
    <p:sldId id="281" r:id="rId27"/>
  </p:sldIdLst>
  <p:sldSz cx="18288000" cy="10287000"/>
  <p:notesSz cx="6858000" cy="9144000"/>
  <p:embeddedFontLst>
    <p:embeddedFont>
      <p:font typeface="ITC Avant Garde Gothic" panose="020B0502020202020204" pitchFamily="34" charset="0"/>
      <p:regular r:id="rId28"/>
    </p:embeddedFont>
    <p:embeddedFont>
      <p:font typeface="ITC Avant Garde Gothic Bold" panose="020B0802020202020204" pitchFamily="34" charset="0"/>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autoAdjust="0"/>
    <p:restoredTop sz="94621" autoAdjust="0"/>
  </p:normalViewPr>
  <p:slideViewPr>
    <p:cSldViewPr>
      <p:cViewPr varScale="1">
        <p:scale>
          <a:sx n="62" d="100"/>
          <a:sy n="62" d="100"/>
        </p:scale>
        <p:origin x="1344" y="5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외국인을 위한 한국어 학습 앱, 마루를 만든 컴퓨터공학과 하도윤입니다.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 해결, 그리고 비전 순서로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K-팝, K-드라마, 웹툰처럼 한국 콘텐츠가 전 세계로 퍼지면서, 한국어를 직접 배우고 싶어 하는 사람도 빠르게 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한국어 학습 시장은 2034년 670억 달러 규모까지 성장할 것으로 전망됩니다.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한국어는 쉬운 언어가 아닙니다. 영어는 단어를 순서대로 놓지만, 한국어는 '나는', '한국어를'처럼 단어 뒤에 조사와 어미를 붙여서 뜻을 만드는 교착어입니다.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미국 외교관 연수기관 FSI는 한국어를 영어권 학습자에게 가장 어려운 등급으로 분류합니다.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하지만 세계 1위 학습 앱도 대부분 듣고 고르는 객관식입니다. 한국어가 어떻게 붙어서 만들어지는지, 그 구조를 직접 체험할 기회는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마루는 한국어의 구조를 직접 체험하는 앱으로 만들었습니다. 이름 그대로 네 가지 기능입니다. M, 형태소 레슨에서는 먼저 의미 덩어리로 문장을 조립하고, 다음 단계에서 그 레슨의 목표 문법만 형태소로 쪼개 봅니다. A, 단어장은 FSRS-4.5 기억 알고리즘으로 단어마다 다음 복습일을 계산해, 오늘 복습할 단어만 보여 줍니다. R, 미션 대화에서는 토끼가 카페 직원 같은 역할로 변신해 대화하고, 거북이가 레드카드와 옐로카드로 실수를 바로잡습니다. U, 실험실에서는 한글 자모를 직접 조합하고, AI로 문장의 시제나 존댓말을 바꿔 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마루의 학습 설계는 토끼와 거북이 이야기에서 왔습니다. 토끼는 일단 빠르게 해 보는 체험, 거북이는 천천히 구조를 분석하는 코칭입니다. 2학기에는 이 둘을 실제 캐릭터로 만들어, 네 기능의 21개 화면에서 학습자의 정답과 오답, 완료에 반응하게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구성입니다. 앱은 Flutter 하나로 iOS와 안드로이드를 지원하고, 서버는 Spring Boot, 데이터는 PostgreSQL에 저장합니다. 서버는 Railway에 배포되어 있어 코드를 올리면 자동으로 다시 배포됩니다. 미션 대화와 발음은 OpenAI, 문법 변형은 Gemini를 쓰고, 같은 요청은 DB에 캐시해 두었다가 바로 돌려줍니다. 레슨의 조립 문제는 Kiwi 형태소 분석기로 미리 만들어 SQL 패치로 반영하는 오프라인 파이프라인입니다.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2학기에는 설계를 실제 동작으로 바꾸는 데 집중했습니다. 미션은 연기와 채점을 병렬로 호출해 한 턴에 약 1.5초에서 2초, 캐시된 요청은 1~2밀리초에 응답합니다. 서버 123개, 앱 67개의 자동 테스트가 모두 통과하고, 실제 iPhone에서 운영 서버로 동작합니다.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실제 iPhone 화면으로 보여 드리겠습니다. (→ 시연 영상 5~6분)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마루의 기대효과입니다. 학습자는 외우는 대신 직접 조립하며 한국어의 구조를 체험하고, 잊기 직전에 복습하고, 목적과 끝이 있는 대화를 연습할 수 있습니다. 새 문법 레슨은 CSV 한 줄로 추가할 수 있고, AI 캐시와 캐릭터 분리 설계 덕분에 확장하기 쉽습니다. 다음 목표는 웹 체험판을 열어 11월 졸업전시에서 누구나 써 볼 수 있게 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마루는 산의 꼭대기, 정상이라는 뜻입니다. 마루로 한국어를 배우는 모든 학습자가 자신만의 정상에 오를 수 있으면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그리고 예로부터 마루가 사람들이 모이는 곳이었듯, 한국어를 배우고 싶은 전 세계 사람들이 모이는 마루가 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image" Target="../media/image80.jpg"/><Relationship Id="rId4" Type="http://schemas.openxmlformats.org/officeDocument/2006/relationships/image" Target="../media/image81.jpg"/><Relationship Id="rId5" Type="http://schemas.openxmlformats.org/officeDocument/2006/relationships/image" Target="../media/image82.jpg"/><Relationship Id="rId6"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84.png"/><Relationship Id="rId4" Type="http://schemas.openxmlformats.org/officeDocument/2006/relationships/image" Target="../media/image88.png"/><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50631" y="3737339"/>
            <a:ext cx="12986739" cy="1406161"/>
          </a:xfrm>
          <a:prstGeom prst="rect">
            <a:avLst/>
          </a:prstGeom>
        </p:spPr>
        <p:txBody>
          <a:bodyPr lIns="0" tIns="0" rIns="0" bIns="0" rtlCol="0" anchor="t">
            <a:spAutoFit/>
          </a:bodyPr>
          <a:lstStyle/>
          <a:p>
            <a:pPr marL="0" lvl="0" indent="0" algn="l">
              <a:lnSpc>
                <a:spcPts val="9275"/>
              </a:lnSpc>
              <a:spcBef>
                <a:spcPct val="0"/>
              </a:spcBef>
            </a:pPr>
            <a:r>
              <a:rPr lang="en-US" sz="9275" spc="-278">
                <a:solidFill>
                  <a:srgbClr val="1A1A1A"/>
                </a:solidFill>
                <a:latin typeface="ITC Avant Garde Gothic"/>
                <a:ea typeface="ITC Avant Garde Gothic"/>
                <a:cs typeface="ITC Avant Garde Gothic"/>
                <a:sym typeface="ITC Avant Garde Gothic"/>
              </a:rPr>
              <a:t>                </a:t>
            </a:r>
            <a:r>
              <a:rPr lang="en-US" sz="9275" u="none" strike="noStrike" spc="-278">
                <a:solidFill>
                  <a:srgbClr val="1A1A1A"/>
                </a:solidFill>
                <a:latin typeface="ITC Avant Garde Gothic"/>
                <a:ea typeface="ITC Avant Garde Gothic"/>
                <a:cs typeface="ITC Avant Garde Gothic"/>
                <a:sym typeface="ITC Avant Garde Gothic"/>
              </a:rPr>
              <a:t>MARU </a:t>
            </a:r>
          </a:p>
        </p:txBody>
      </p:sp>
      <p:grpSp>
        <p:nvGrpSpPr>
          <p:cNvPr id="3" name="Group 3"/>
          <p:cNvGrpSpPr/>
          <p:nvPr/>
        </p:nvGrpSpPr>
        <p:grpSpPr>
          <a:xfrm>
            <a:off x="14744700" y="7829550"/>
            <a:ext cx="4846643" cy="1791955"/>
            <a:chOff x="0" y="0"/>
            <a:chExt cx="6462190" cy="2389273"/>
          </a:xfrm>
        </p:grpSpPr>
        <p:sp>
          <p:nvSpPr>
            <p:cNvPr id="4" name="Freeform 4"/>
            <p:cNvSpPr/>
            <p:nvPr/>
          </p:nvSpPr>
          <p:spPr>
            <a:xfrm>
              <a:off x="0"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ko-KR" altLang="en-US"/>
            </a:p>
          </p:txBody>
        </p:sp>
        <p:sp>
          <p:nvSpPr>
            <p:cNvPr id="5" name="Freeform 5"/>
            <p:cNvSpPr/>
            <p:nvPr/>
          </p:nvSpPr>
          <p:spPr>
            <a:xfrm>
              <a:off x="2036459"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ko-KR" altLang="en-US"/>
            </a:p>
          </p:txBody>
        </p:sp>
        <p:sp>
          <p:nvSpPr>
            <p:cNvPr id="6" name="Freeform 6"/>
            <p:cNvSpPr/>
            <p:nvPr/>
          </p:nvSpPr>
          <p:spPr>
            <a:xfrm>
              <a:off x="4072917" y="0"/>
              <a:ext cx="2389273" cy="2389273"/>
            </a:xfrm>
            <a:custGeom>
              <a:avLst/>
              <a:gdLst/>
              <a:ahLst/>
              <a:cxnLst/>
              <a:rect l="l" t="t" r="r" b="b"/>
              <a:pathLst>
                <a:path w="2389273" h="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ko-KR" altLang="en-US"/>
            </a:p>
          </p:txBody>
        </p:sp>
      </p:grpSp>
      <p:sp>
        <p:nvSpPr>
          <p:cNvPr id="7" name="TextBox 7"/>
          <p:cNvSpPr txBox="1"/>
          <p:nvPr/>
        </p:nvSpPr>
        <p:spPr>
          <a:xfrm>
            <a:off x="7315200" y="6084429"/>
            <a:ext cx="3125944" cy="1901825"/>
          </a:xfrm>
          <a:prstGeom prst="rect">
            <a:avLst/>
          </a:prstGeom>
        </p:spPr>
        <p:txBody>
          <a:bodyPr wrap="square" lIns="0" tIns="0" rIns="0" bIns="0" rtlCol="0" anchor="t">
            <a:spAutoFit/>
          </a:bodyPr>
          <a:lstStyle/>
          <a:p>
            <a:pPr algn="ctr">
              <a:lnSpc>
                <a:spcPts val="4899"/>
              </a:lnSpc>
            </a:pPr>
            <a:r>
              <a:rPr lang="en-US" sz="3499" dirty="0" err="1">
                <a:solidFill>
                  <a:srgbClr val="1A1A1A"/>
                </a:solidFill>
                <a:latin typeface="ITC Avant Garde Gothic"/>
                <a:ea typeface="ITC Avant Garde Gothic"/>
                <a:cs typeface="ITC Avant Garde Gothic"/>
                <a:sym typeface="ITC Avant Garde Gothic"/>
              </a:rPr>
              <a:t>컴퓨터공학과</a:t>
            </a:r>
            <a:r>
              <a:rPr lang="en-US" sz="3499" dirty="0">
                <a:solidFill>
                  <a:srgbClr val="1A1A1A"/>
                </a:solidFill>
                <a:latin typeface="ITC Avant Garde Gothic"/>
                <a:ea typeface="ITC Avant Garde Gothic"/>
                <a:cs typeface="ITC Avant Garde Gothic"/>
                <a:sym typeface="ITC Avant Garde Gothic"/>
              </a:rPr>
              <a:t> </a:t>
            </a:r>
          </a:p>
          <a:p>
            <a:pPr algn="ctr">
              <a:lnSpc>
                <a:spcPts val="4899"/>
              </a:lnSpc>
            </a:pPr>
            <a:r>
              <a:rPr lang="en-US" sz="3499" dirty="0">
                <a:solidFill>
                  <a:srgbClr val="1A1A1A"/>
                </a:solidFill>
                <a:latin typeface="ITC Avant Garde Gothic"/>
                <a:ea typeface="ITC Avant Garde Gothic"/>
                <a:cs typeface="ITC Avant Garde Gothic"/>
                <a:sym typeface="ITC Avant Garde Gothic"/>
              </a:rPr>
              <a:t>20200679</a:t>
            </a:r>
          </a:p>
          <a:p>
            <a:pPr algn="ctr">
              <a:lnSpc>
                <a:spcPts val="4899"/>
              </a:lnSpc>
              <a:spcBef>
                <a:spcPct val="0"/>
              </a:spcBef>
            </a:pPr>
            <a:r>
              <a:rPr lang="en-US" sz="3499" dirty="0">
                <a:solidFill>
                  <a:srgbClr val="1A1A1A"/>
                </a:solidFill>
                <a:latin typeface="ITC Avant Garde Gothic"/>
                <a:ea typeface="ITC Avant Garde Gothic"/>
                <a:cs typeface="ITC Avant Garde Gothic"/>
                <a:sym typeface="ITC Avant Garde Gothic"/>
              </a:rPr>
              <a:t>하 </a:t>
            </a:r>
            <a:r>
              <a:rPr lang="en-US" sz="3499" dirty="0" err="1">
                <a:solidFill>
                  <a:srgbClr val="1A1A1A"/>
                </a:solidFill>
                <a:latin typeface="ITC Avant Garde Gothic"/>
                <a:ea typeface="ITC Avant Garde Gothic"/>
                <a:cs typeface="ITC Avant Garde Gothic"/>
                <a:sym typeface="ITC Avant Garde Gothic"/>
              </a:rPr>
              <a:t>도</a:t>
            </a:r>
            <a:r>
              <a:rPr lang="en-US" sz="3499" dirty="0">
                <a:solidFill>
                  <a:srgbClr val="1A1A1A"/>
                </a:solidFill>
                <a:latin typeface="ITC Avant Garde Gothic"/>
                <a:ea typeface="ITC Avant Garde Gothic"/>
                <a:cs typeface="ITC Avant Garde Gothic"/>
                <a:sym typeface="ITC Avant Garde Gothic"/>
              </a:rPr>
              <a:t> </a:t>
            </a:r>
            <a:r>
              <a:rPr lang="en-US" sz="3499" dirty="0" err="1">
                <a:solidFill>
                  <a:srgbClr val="1A1A1A"/>
                </a:solidFill>
                <a:latin typeface="ITC Avant Garde Gothic"/>
                <a:ea typeface="ITC Avant Garde Gothic"/>
                <a:cs typeface="ITC Avant Garde Gothic"/>
                <a:sym typeface="ITC Avant Garde Gothic"/>
              </a:rPr>
              <a:t>윤</a:t>
            </a:r>
            <a:endParaRPr lang="en-US" sz="3499" dirty="0">
              <a:solidFill>
                <a:srgbClr val="1A1A1A"/>
              </a:solidFill>
              <a:latin typeface="ITC Avant Garde Gothic"/>
              <a:ea typeface="ITC Avant Garde Gothic"/>
              <a:cs typeface="ITC Avant Garde Gothic"/>
              <a:sym typeface="ITC Avant Garde Gothic"/>
            </a:endParaRPr>
          </a:p>
        </p:txBody>
      </p:sp>
      <p:sp>
        <p:nvSpPr>
          <p:cNvPr id="8" name="TextBox 8"/>
          <p:cNvSpPr txBox="1"/>
          <p:nvPr/>
        </p:nvSpPr>
        <p:spPr>
          <a:xfrm>
            <a:off x="5982916" y="5085777"/>
            <a:ext cx="5999815" cy="601127"/>
          </a:xfrm>
          <a:prstGeom prst="rect">
            <a:avLst/>
          </a:prstGeom>
        </p:spPr>
        <p:txBody>
          <a:bodyPr wrap="square" lIns="0" tIns="0" rIns="0" bIns="0" rtlCol="0" anchor="t">
            <a:spAutoFit/>
          </a:bodyPr>
          <a:lstStyle/>
          <a:p>
            <a:pPr algn="ctr">
              <a:lnSpc>
                <a:spcPts val="4899"/>
              </a:lnSpc>
              <a:spcBef>
                <a:spcPct val="0"/>
              </a:spcBef>
            </a:pPr>
            <a:r>
              <a:rPr lang="en-US" sz="3499" dirty="0" err="1">
                <a:solidFill>
                  <a:srgbClr val="1A1A1A"/>
                </a:solidFill>
                <a:latin typeface="ITC Avant Garde Gothic"/>
                <a:ea typeface="ITC Avant Garde Gothic"/>
                <a:cs typeface="ITC Avant Garde Gothic"/>
                <a:sym typeface="ITC Avant Garde Gothic"/>
              </a:rPr>
              <a:t>외국인을</a:t>
            </a:r>
            <a:r>
              <a:rPr lang="en-US" sz="3499" dirty="0">
                <a:solidFill>
                  <a:srgbClr val="1A1A1A"/>
                </a:solidFill>
                <a:latin typeface="ITC Avant Garde Gothic"/>
                <a:ea typeface="ITC Avant Garde Gothic"/>
                <a:cs typeface="ITC Avant Garde Gothic"/>
                <a:sym typeface="ITC Avant Garde Gothic"/>
              </a:rPr>
              <a:t> </a:t>
            </a:r>
            <a:r>
              <a:rPr lang="en-US" sz="3499" dirty="0" err="1">
                <a:solidFill>
                  <a:srgbClr val="1A1A1A"/>
                </a:solidFill>
                <a:latin typeface="ITC Avant Garde Gothic"/>
                <a:ea typeface="ITC Avant Garde Gothic"/>
                <a:cs typeface="ITC Avant Garde Gothic"/>
                <a:sym typeface="ITC Avant Garde Gothic"/>
              </a:rPr>
              <a:t>위한</a:t>
            </a:r>
            <a:r>
              <a:rPr lang="en-US" sz="3499" dirty="0">
                <a:solidFill>
                  <a:srgbClr val="1A1A1A"/>
                </a:solidFill>
                <a:latin typeface="ITC Avant Garde Gothic"/>
                <a:ea typeface="ITC Avant Garde Gothic"/>
                <a:cs typeface="ITC Avant Garde Gothic"/>
                <a:sym typeface="ITC Avant Garde Gothic"/>
              </a:rPr>
              <a:t> </a:t>
            </a:r>
            <a:r>
              <a:rPr lang="en-US" sz="3499" dirty="0" err="1">
                <a:solidFill>
                  <a:srgbClr val="1A1A1A"/>
                </a:solidFill>
                <a:latin typeface="ITC Avant Garde Gothic"/>
                <a:ea typeface="ITC Avant Garde Gothic"/>
                <a:cs typeface="ITC Avant Garde Gothic"/>
                <a:sym typeface="ITC Avant Garde Gothic"/>
              </a:rPr>
              <a:t>한국어</a:t>
            </a:r>
            <a:r>
              <a:rPr lang="en-US" sz="3499" dirty="0">
                <a:solidFill>
                  <a:srgbClr val="1A1A1A"/>
                </a:solidFill>
                <a:latin typeface="ITC Avant Garde Gothic"/>
                <a:ea typeface="ITC Avant Garde Gothic"/>
                <a:cs typeface="ITC Avant Garde Gothic"/>
                <a:sym typeface="ITC Avant Garde Gothic"/>
              </a:rPr>
              <a:t> </a:t>
            </a:r>
            <a:r>
              <a:rPr lang="en-US" sz="3499" dirty="0" err="1">
                <a:solidFill>
                  <a:srgbClr val="1A1A1A"/>
                </a:solidFill>
                <a:latin typeface="ITC Avant Garde Gothic"/>
                <a:ea typeface="ITC Avant Garde Gothic"/>
                <a:cs typeface="ITC Avant Garde Gothic"/>
                <a:sym typeface="ITC Avant Garde Gothic"/>
              </a:rPr>
              <a:t>학습앱</a:t>
            </a:r>
            <a:endParaRPr lang="en-US" sz="3499" dirty="0">
              <a:solidFill>
                <a:srgbClr val="1A1A1A"/>
              </a:solidFill>
              <a:latin typeface="ITC Avant Garde Gothic"/>
              <a:ea typeface="ITC Avant Garde Gothic"/>
              <a:cs typeface="ITC Avant Garde Gothic"/>
              <a:sym typeface="ITC Avant Garde Gothic"/>
            </a:endParaRPr>
          </a:p>
        </p:txBody>
      </p:sp>
      <p:sp>
        <p:nvSpPr>
          <p:cNvPr id="9" name="TextBox 8"/>
          <p:cNvSpPr txBox="1"/>
          <p:nvPr/>
        </p:nvSpPr>
        <p:spPr>
          <a:xfrm>
            <a:off x="3657600" y="8229600"/>
            <a:ext cx="10972800" cy="548640"/>
          </a:xfrm>
          <a:prstGeom prst="rect">
            <a:avLst/>
          </a:prstGeom>
          <a:noFill/>
        </p:spPr>
        <p:txBody>
          <a:bodyPr wrap="square" anchor="t" lIns="0" rIns="0" tIns="0" bIns="0">
            <a:spAutoFit/>
          </a:bodyPr>
          <a:lstStyle/>
          <a:p>
            <a:pPr algn="ctr"/>
            <a:r>
              <a:rPr sz="2400" b="0" i="0">
                <a:solidFill>
                  <a:srgbClr val="6E6A80"/>
                </a:solidFill>
                <a:latin typeface="맑은 고딕"/>
                <a:ea typeface="맑은 고딕"/>
                <a:cs typeface="맑은 고딕"/>
              </a:rPr>
              <a:t>2026 졸업작품  ·  지도교수 한경수 교수</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8519065" y="5786377"/>
            <a:ext cx="429661" cy="1414523"/>
          </a:xfrm>
          <a:custGeom>
            <a:avLst/>
            <a:gdLst/>
            <a:ahLst/>
            <a:cxnLst/>
            <a:rect l="l" t="t" r="r" b="b"/>
            <a:pathLst>
              <a:path w="429661" h="1414523">
                <a:moveTo>
                  <a:pt x="0" y="0"/>
                </a:moveTo>
                <a:lnTo>
                  <a:pt x="429661" y="0"/>
                </a:lnTo>
                <a:lnTo>
                  <a:pt x="429661" y="1414523"/>
                </a:lnTo>
                <a:lnTo>
                  <a:pt x="0" y="14145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ko-KR" altLang="en-US"/>
          </a:p>
        </p:txBody>
      </p:sp>
      <p:sp>
        <p:nvSpPr>
          <p:cNvPr id="3" name="TextBox 3"/>
          <p:cNvSpPr txBox="1"/>
          <p:nvPr/>
        </p:nvSpPr>
        <p:spPr>
          <a:xfrm>
            <a:off x="6297233" y="698291"/>
            <a:ext cx="4873323" cy="1384995"/>
          </a:xfrm>
          <a:prstGeom prst="rect">
            <a:avLst/>
          </a:prstGeom>
        </p:spPr>
        <p:txBody>
          <a:bodyPr wrap="square" lIns="0" tIns="0" rIns="0" bIns="0" rtlCol="0" anchor="t">
            <a:spAutoFit/>
          </a:bodyPr>
          <a:lstStyle/>
          <a:p>
            <a:pPr algn="ctr">
              <a:lnSpc>
                <a:spcPts val="11200"/>
              </a:lnSpc>
              <a:spcBef>
                <a:spcPct val="0"/>
              </a:spcBef>
            </a:pPr>
            <a:r>
              <a:rPr lang="en-US" sz="8000" b="1" dirty="0">
                <a:solidFill>
                  <a:srgbClr val="E61030"/>
                </a:solidFill>
                <a:latin typeface="ITC Avant Garde Gothic Bold"/>
                <a:ea typeface="ITC Avant Garde Gothic Bold"/>
                <a:cs typeface="ITC Avant Garde Gothic Bold"/>
                <a:sym typeface="ITC Avant Garde Gothic Bold"/>
              </a:rPr>
              <a:t>Problem</a:t>
            </a:r>
          </a:p>
        </p:txBody>
      </p:sp>
      <p:sp>
        <p:nvSpPr>
          <p:cNvPr id="4" name="TextBox 4"/>
          <p:cNvSpPr txBox="1"/>
          <p:nvPr/>
        </p:nvSpPr>
        <p:spPr>
          <a:xfrm>
            <a:off x="6621194" y="4086225"/>
            <a:ext cx="4169643" cy="1530349"/>
          </a:xfrm>
          <a:prstGeom prst="rect">
            <a:avLst/>
          </a:prstGeom>
        </p:spPr>
        <p:txBody>
          <a:bodyPr lIns="0" tIns="0" rIns="0" bIns="0" rtlCol="0" anchor="t">
            <a:spAutoFit/>
          </a:bodyPr>
          <a:lstStyle/>
          <a:p>
            <a:pPr algn="ctr">
              <a:lnSpc>
                <a:spcPts val="11200"/>
              </a:lnSpc>
              <a:spcBef>
                <a:spcPct val="0"/>
              </a:spcBef>
            </a:pPr>
            <a:r>
              <a:rPr lang="en-US" sz="8000" b="1">
                <a:solidFill>
                  <a:srgbClr val="137BFE"/>
                </a:solidFill>
                <a:latin typeface="ITC Avant Garde Gothic Bold"/>
                <a:ea typeface="ITC Avant Garde Gothic Bold"/>
                <a:cs typeface="ITC Avant Garde Gothic Bold"/>
                <a:sym typeface="ITC Avant Garde Gothic Bold"/>
              </a:rPr>
              <a:t>Solution</a:t>
            </a:r>
          </a:p>
        </p:txBody>
      </p:sp>
      <p:sp>
        <p:nvSpPr>
          <p:cNvPr id="5" name="TextBox 5"/>
          <p:cNvSpPr txBox="1"/>
          <p:nvPr/>
        </p:nvSpPr>
        <p:spPr>
          <a:xfrm>
            <a:off x="6975405" y="7626237"/>
            <a:ext cx="3516978" cy="1384995"/>
          </a:xfrm>
          <a:prstGeom prst="rect">
            <a:avLst/>
          </a:prstGeom>
        </p:spPr>
        <p:txBody>
          <a:bodyPr wrap="square" lIns="0" tIns="0" rIns="0" bIns="0" rtlCol="0" anchor="t">
            <a:spAutoFit/>
          </a:bodyPr>
          <a:lstStyle/>
          <a:p>
            <a:pPr algn="ctr">
              <a:lnSpc>
                <a:spcPts val="11200"/>
              </a:lnSpc>
              <a:spcBef>
                <a:spcPct val="0"/>
              </a:spcBef>
            </a:pPr>
            <a:r>
              <a:rPr lang="en-US" sz="8000" b="1" dirty="0">
                <a:solidFill>
                  <a:srgbClr val="3E7D00"/>
                </a:solidFill>
                <a:latin typeface="ITC Avant Garde Gothic Bold"/>
                <a:ea typeface="ITC Avant Garde Gothic Bold"/>
                <a:cs typeface="ITC Avant Garde Gothic Bold"/>
                <a:sym typeface="ITC Avant Garde Gothic Bold"/>
              </a:rPr>
              <a:t>Vision</a:t>
            </a:r>
          </a:p>
        </p:txBody>
      </p:sp>
      <p:sp>
        <p:nvSpPr>
          <p:cNvPr id="6" name="Freeform 6"/>
          <p:cNvSpPr/>
          <p:nvPr/>
        </p:nvSpPr>
        <p:spPr>
          <a:xfrm rot="-10800000">
            <a:off x="8519065" y="2340461"/>
            <a:ext cx="429661" cy="1414523"/>
          </a:xfrm>
          <a:custGeom>
            <a:avLst/>
            <a:gdLst/>
            <a:ahLst/>
            <a:cxnLst/>
            <a:rect l="l" t="t" r="r" b="b"/>
            <a:pathLst>
              <a:path w="429661" h="1414523">
                <a:moveTo>
                  <a:pt x="0" y="0"/>
                </a:moveTo>
                <a:lnTo>
                  <a:pt x="429661" y="0"/>
                </a:lnTo>
                <a:lnTo>
                  <a:pt x="429661" y="1414523"/>
                </a:lnTo>
                <a:lnTo>
                  <a:pt x="0" y="14145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930042"/>
            <a:ext cx="4290947" cy="6356958"/>
          </a:xfrm>
          <a:custGeom>
            <a:avLst/>
            <a:gdLst/>
            <a:ahLst/>
            <a:cxnLst/>
            <a:rect l="l" t="t" r="r" b="b"/>
            <a:pathLst>
              <a:path w="4290947" h="6356958">
                <a:moveTo>
                  <a:pt x="0" y="0"/>
                </a:moveTo>
                <a:lnTo>
                  <a:pt x="4290947" y="0"/>
                </a:lnTo>
                <a:lnTo>
                  <a:pt x="4290947" y="6356958"/>
                </a:lnTo>
                <a:lnTo>
                  <a:pt x="0" y="6356958"/>
                </a:lnTo>
                <a:lnTo>
                  <a:pt x="0" y="0"/>
                </a:lnTo>
                <a:close/>
              </a:path>
            </a:pathLst>
          </a:custGeom>
          <a:blipFill>
            <a:blip r:embed="rId2"/>
            <a:stretch>
              <a:fillRect/>
            </a:stretch>
          </a:blipFill>
        </p:spPr>
        <p:txBody>
          <a:bodyPr/>
          <a:lstStyle/>
          <a:p>
            <a:endParaRPr lang="ko-KR" altLang="en-US"/>
          </a:p>
        </p:txBody>
      </p:sp>
      <p:sp>
        <p:nvSpPr>
          <p:cNvPr id="3" name="Freeform 3"/>
          <p:cNvSpPr/>
          <p:nvPr/>
        </p:nvSpPr>
        <p:spPr>
          <a:xfrm>
            <a:off x="4563238" y="6359932"/>
            <a:ext cx="5894286" cy="3927068"/>
          </a:xfrm>
          <a:custGeom>
            <a:avLst/>
            <a:gdLst/>
            <a:ahLst/>
            <a:cxnLst/>
            <a:rect l="l" t="t" r="r" b="b"/>
            <a:pathLst>
              <a:path w="5894286" h="3927068">
                <a:moveTo>
                  <a:pt x="0" y="0"/>
                </a:moveTo>
                <a:lnTo>
                  <a:pt x="5894286" y="0"/>
                </a:lnTo>
                <a:lnTo>
                  <a:pt x="5894286" y="3927068"/>
                </a:lnTo>
                <a:lnTo>
                  <a:pt x="0" y="3927068"/>
                </a:lnTo>
                <a:lnTo>
                  <a:pt x="0" y="0"/>
                </a:lnTo>
                <a:close/>
              </a:path>
            </a:pathLst>
          </a:custGeom>
          <a:blipFill>
            <a:blip r:embed="rId3"/>
            <a:stretch>
              <a:fillRect/>
            </a:stretch>
          </a:blipFill>
        </p:spPr>
        <p:txBody>
          <a:bodyPr/>
          <a:lstStyle/>
          <a:p>
            <a:endParaRPr lang="ko-KR" altLang="en-US"/>
          </a:p>
        </p:txBody>
      </p:sp>
      <p:sp>
        <p:nvSpPr>
          <p:cNvPr id="4" name="Freeform 4"/>
          <p:cNvSpPr/>
          <p:nvPr/>
        </p:nvSpPr>
        <p:spPr>
          <a:xfrm rot="1606629">
            <a:off x="-344156" y="2239709"/>
            <a:ext cx="4593327" cy="3064405"/>
          </a:xfrm>
          <a:custGeom>
            <a:avLst/>
            <a:gdLst/>
            <a:ahLst/>
            <a:cxnLst/>
            <a:rect l="l" t="t" r="r" b="b"/>
            <a:pathLst>
              <a:path w="4593327" h="3064405">
                <a:moveTo>
                  <a:pt x="0" y="0"/>
                </a:moveTo>
                <a:lnTo>
                  <a:pt x="4593327" y="0"/>
                </a:lnTo>
                <a:lnTo>
                  <a:pt x="4593327" y="3064405"/>
                </a:lnTo>
                <a:lnTo>
                  <a:pt x="0" y="3064405"/>
                </a:lnTo>
                <a:lnTo>
                  <a:pt x="0" y="0"/>
                </a:lnTo>
                <a:close/>
              </a:path>
            </a:pathLst>
          </a:custGeom>
          <a:blipFill>
            <a:blip r:embed="rId4"/>
            <a:stretch>
              <a:fillRect/>
            </a:stretch>
          </a:blipFill>
        </p:spPr>
        <p:txBody>
          <a:bodyPr/>
          <a:lstStyle/>
          <a:p>
            <a:endParaRPr lang="ko-KR" altLang="en-US"/>
          </a:p>
        </p:txBody>
      </p:sp>
      <p:sp>
        <p:nvSpPr>
          <p:cNvPr id="5" name="Freeform 5"/>
          <p:cNvSpPr/>
          <p:nvPr/>
        </p:nvSpPr>
        <p:spPr>
          <a:xfrm>
            <a:off x="10141919" y="5648208"/>
            <a:ext cx="7731320" cy="4638792"/>
          </a:xfrm>
          <a:custGeom>
            <a:avLst/>
            <a:gdLst/>
            <a:ahLst/>
            <a:cxnLst/>
            <a:rect l="l" t="t" r="r" b="b"/>
            <a:pathLst>
              <a:path w="7731320" h="4638792">
                <a:moveTo>
                  <a:pt x="0" y="0"/>
                </a:moveTo>
                <a:lnTo>
                  <a:pt x="7731320" y="0"/>
                </a:lnTo>
                <a:lnTo>
                  <a:pt x="7731320" y="4638792"/>
                </a:lnTo>
                <a:lnTo>
                  <a:pt x="0" y="4638792"/>
                </a:lnTo>
                <a:lnTo>
                  <a:pt x="0" y="0"/>
                </a:lnTo>
                <a:close/>
              </a:path>
            </a:pathLst>
          </a:custGeom>
          <a:blipFill>
            <a:blip r:embed="rId5"/>
            <a:stretch>
              <a:fillRect/>
            </a:stretch>
          </a:blipFill>
        </p:spPr>
        <p:txBody>
          <a:bodyPr/>
          <a:lstStyle/>
          <a:p>
            <a:endParaRPr lang="ko-KR" altLang="en-US"/>
          </a:p>
        </p:txBody>
      </p:sp>
      <p:sp>
        <p:nvSpPr>
          <p:cNvPr id="6" name="Freeform 6"/>
          <p:cNvSpPr/>
          <p:nvPr/>
        </p:nvSpPr>
        <p:spPr>
          <a:xfrm>
            <a:off x="4399404" y="3676677"/>
            <a:ext cx="4333112" cy="2829124"/>
          </a:xfrm>
          <a:custGeom>
            <a:avLst/>
            <a:gdLst/>
            <a:ahLst/>
            <a:cxnLst/>
            <a:rect l="l" t="t" r="r" b="b"/>
            <a:pathLst>
              <a:path w="4333112" h="2829124">
                <a:moveTo>
                  <a:pt x="0" y="0"/>
                </a:moveTo>
                <a:lnTo>
                  <a:pt x="4333113" y="0"/>
                </a:lnTo>
                <a:lnTo>
                  <a:pt x="4333113" y="2829124"/>
                </a:lnTo>
                <a:lnTo>
                  <a:pt x="0" y="2829124"/>
                </a:lnTo>
                <a:lnTo>
                  <a:pt x="0" y="0"/>
                </a:lnTo>
                <a:close/>
              </a:path>
            </a:pathLst>
          </a:custGeom>
          <a:blipFill>
            <a:blip r:embed="rId6"/>
            <a:stretch>
              <a:fillRect/>
            </a:stretch>
          </a:blipFill>
        </p:spPr>
        <p:txBody>
          <a:bodyPr/>
          <a:lstStyle/>
          <a:p>
            <a:endParaRPr lang="ko-KR" altLang="en-US"/>
          </a:p>
        </p:txBody>
      </p:sp>
      <p:sp>
        <p:nvSpPr>
          <p:cNvPr id="7" name="Freeform 7"/>
          <p:cNvSpPr/>
          <p:nvPr/>
        </p:nvSpPr>
        <p:spPr>
          <a:xfrm rot="-459790">
            <a:off x="13240868" y="2304834"/>
            <a:ext cx="4886016" cy="2743686"/>
          </a:xfrm>
          <a:custGeom>
            <a:avLst/>
            <a:gdLst/>
            <a:ahLst/>
            <a:cxnLst/>
            <a:rect l="l" t="t" r="r" b="b"/>
            <a:pathLst>
              <a:path w="4886016" h="2743686">
                <a:moveTo>
                  <a:pt x="0" y="0"/>
                </a:moveTo>
                <a:lnTo>
                  <a:pt x="4886016" y="0"/>
                </a:lnTo>
                <a:lnTo>
                  <a:pt x="4886016" y="2743686"/>
                </a:lnTo>
                <a:lnTo>
                  <a:pt x="0" y="2743686"/>
                </a:lnTo>
                <a:lnTo>
                  <a:pt x="0" y="0"/>
                </a:lnTo>
                <a:close/>
              </a:path>
            </a:pathLst>
          </a:custGeom>
          <a:blipFill>
            <a:blip r:embed="rId7"/>
            <a:stretch>
              <a:fillRect/>
            </a:stretch>
          </a:blipFill>
        </p:spPr>
        <p:txBody>
          <a:bodyPr/>
          <a:lstStyle/>
          <a:p>
            <a:endParaRPr lang="ko-KR" altLang="en-US"/>
          </a:p>
        </p:txBody>
      </p:sp>
      <p:sp>
        <p:nvSpPr>
          <p:cNvPr id="8" name="Freeform 8"/>
          <p:cNvSpPr/>
          <p:nvPr/>
        </p:nvSpPr>
        <p:spPr>
          <a:xfrm rot="-1015196">
            <a:off x="9015745" y="1505387"/>
            <a:ext cx="2883557" cy="4533049"/>
          </a:xfrm>
          <a:custGeom>
            <a:avLst/>
            <a:gdLst/>
            <a:ahLst/>
            <a:cxnLst/>
            <a:rect l="l" t="t" r="r" b="b"/>
            <a:pathLst>
              <a:path w="2883557" h="4533049">
                <a:moveTo>
                  <a:pt x="0" y="0"/>
                </a:moveTo>
                <a:lnTo>
                  <a:pt x="2883557" y="0"/>
                </a:lnTo>
                <a:lnTo>
                  <a:pt x="2883557" y="4533049"/>
                </a:lnTo>
                <a:lnTo>
                  <a:pt x="0" y="4533049"/>
                </a:lnTo>
                <a:lnTo>
                  <a:pt x="0" y="0"/>
                </a:lnTo>
                <a:close/>
              </a:path>
            </a:pathLst>
          </a:custGeom>
          <a:blipFill>
            <a:blip r:embed="rId8"/>
            <a:stretch>
              <a:fillRect/>
            </a:stretch>
          </a:blipFill>
        </p:spPr>
        <p:txBody>
          <a:bodyPr/>
          <a:lstStyle/>
          <a:p>
            <a:endParaRPr lang="ko-KR" altLang="en-US"/>
          </a:p>
        </p:txBody>
      </p:sp>
      <p:sp>
        <p:nvSpPr>
          <p:cNvPr id="9" name="Freeform 9"/>
          <p:cNvSpPr/>
          <p:nvPr/>
        </p:nvSpPr>
        <p:spPr>
          <a:xfrm rot="-774703">
            <a:off x="4684345" y="1438659"/>
            <a:ext cx="2571268" cy="2571268"/>
          </a:xfrm>
          <a:custGeom>
            <a:avLst/>
            <a:gdLst/>
            <a:ahLst/>
            <a:cxnLst/>
            <a:rect l="l" t="t" r="r" b="b"/>
            <a:pathLst>
              <a:path w="2571268" h="2571268">
                <a:moveTo>
                  <a:pt x="0" y="0"/>
                </a:moveTo>
                <a:lnTo>
                  <a:pt x="2571268" y="0"/>
                </a:lnTo>
                <a:lnTo>
                  <a:pt x="2571268" y="2571268"/>
                </a:lnTo>
                <a:lnTo>
                  <a:pt x="0" y="2571268"/>
                </a:lnTo>
                <a:lnTo>
                  <a:pt x="0" y="0"/>
                </a:lnTo>
                <a:close/>
              </a:path>
            </a:pathLst>
          </a:custGeom>
          <a:blipFill>
            <a:blip r:embed="rId9"/>
            <a:stretch>
              <a:fillRect/>
            </a:stretch>
          </a:blipFill>
        </p:spPr>
        <p:txBody>
          <a:bodyPr/>
          <a:lstStyle/>
          <a:p>
            <a:endParaRPr lang="ko-KR" altLang="en-US"/>
          </a:p>
        </p:txBody>
      </p:sp>
      <p:sp>
        <p:nvSpPr>
          <p:cNvPr id="10" name="TextBox 10"/>
          <p:cNvSpPr txBox="1"/>
          <p:nvPr/>
        </p:nvSpPr>
        <p:spPr>
          <a:xfrm>
            <a:off x="3795739" y="336165"/>
            <a:ext cx="10377461" cy="779059"/>
          </a:xfrm>
          <a:prstGeom prst="rect">
            <a:avLst/>
          </a:prstGeom>
        </p:spPr>
        <p:txBody>
          <a:bodyPr wrap="square" lIns="0" tIns="0" rIns="0" bIns="0" rtlCol="0" anchor="t">
            <a:spAutoFit/>
          </a:bodyPr>
          <a:lstStyle/>
          <a:p>
            <a:pPr algn="ctr">
              <a:lnSpc>
                <a:spcPts val="6299"/>
              </a:lnSpc>
              <a:spcBef>
                <a:spcPct val="0"/>
              </a:spcBef>
            </a:pPr>
            <a:r>
              <a:rPr lang="en-US" sz="4499" b="1" dirty="0">
                <a:solidFill>
                  <a:srgbClr val="000000"/>
                </a:solidFill>
                <a:latin typeface="ITC Avant Garde Gothic Bold"/>
                <a:ea typeface="ITC Avant Garde Gothic Bold"/>
                <a:cs typeface="ITC Avant Garde Gothic Bold"/>
                <a:sym typeface="ITC Avant Garde Gothic Bold"/>
              </a:rPr>
              <a:t>The Global Rise of Korean Culture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86356" y="1582443"/>
            <a:ext cx="11499178" cy="7675701"/>
          </a:xfrm>
          <a:custGeom>
            <a:avLst/>
            <a:gdLst/>
            <a:ahLst/>
            <a:cxnLst/>
            <a:rect l="l" t="t" r="r" b="b"/>
            <a:pathLst>
              <a:path w="11499178" h="7675701">
                <a:moveTo>
                  <a:pt x="0" y="0"/>
                </a:moveTo>
                <a:lnTo>
                  <a:pt x="11499178" y="0"/>
                </a:lnTo>
                <a:lnTo>
                  <a:pt x="11499178" y="7675701"/>
                </a:lnTo>
                <a:lnTo>
                  <a:pt x="0" y="7675701"/>
                </a:lnTo>
                <a:lnTo>
                  <a:pt x="0" y="0"/>
                </a:lnTo>
                <a:close/>
              </a:path>
            </a:pathLst>
          </a:custGeom>
          <a:blipFill>
            <a:blip r:embed="rId2"/>
            <a:stretch>
              <a:fillRect/>
            </a:stretch>
          </a:blipFill>
        </p:spPr>
        <p:txBody>
          <a:bodyPr/>
          <a:lstStyle/>
          <a:p>
            <a:endParaRPr lang="ko-KR" altLang="en-US"/>
          </a:p>
        </p:txBody>
      </p:sp>
      <p:sp>
        <p:nvSpPr>
          <p:cNvPr id="3" name="TextBox 3"/>
          <p:cNvSpPr txBox="1"/>
          <p:nvPr/>
        </p:nvSpPr>
        <p:spPr>
          <a:xfrm>
            <a:off x="2328080" y="9600888"/>
            <a:ext cx="14131119" cy="465640"/>
          </a:xfrm>
          <a:prstGeom prst="rect">
            <a:avLst/>
          </a:prstGeom>
        </p:spPr>
        <p:txBody>
          <a:bodyPr wrap="square" lIns="0" tIns="0" rIns="0" bIns="0" rtlCol="0" anchor="t">
            <a:spAutoFit/>
          </a:bodyPr>
          <a:lstStyle/>
          <a:p>
            <a:pPr algn="ctr">
              <a:lnSpc>
                <a:spcPts val="3779"/>
              </a:lnSpc>
              <a:spcBef>
                <a:spcPct val="0"/>
              </a:spcBef>
            </a:pPr>
            <a:r>
              <a:rPr lang="en-US" sz="2699" b="1" dirty="0" err="1">
                <a:solidFill>
                  <a:srgbClr val="000000"/>
                </a:solidFill>
                <a:latin typeface="ITC Avant Garde Gothic Bold"/>
                <a:ea typeface="ITC Avant Garde Gothic Bold"/>
                <a:cs typeface="ITC Avant Garde Gothic Bold"/>
                <a:sym typeface="ITC Avant Garde Gothic Bold"/>
              </a:rPr>
              <a:t>출처</a:t>
            </a:r>
            <a:r>
              <a:rPr lang="en-US" sz="2699" b="1" dirty="0">
                <a:solidFill>
                  <a:srgbClr val="000000"/>
                </a:solidFill>
                <a:latin typeface="ITC Avant Garde Gothic Bold"/>
                <a:ea typeface="ITC Avant Garde Gothic Bold"/>
                <a:cs typeface="ITC Avant Garde Gothic Bold"/>
                <a:sym typeface="ITC Avant Garde Gothic Bold"/>
              </a:rPr>
              <a:t>: Research and Markets (2024), Korean Language Learning Market Report</a:t>
            </a:r>
          </a:p>
        </p:txBody>
      </p:sp>
      <p:sp>
        <p:nvSpPr>
          <p:cNvPr id="4" name="TextBox 4"/>
          <p:cNvSpPr txBox="1"/>
          <p:nvPr/>
        </p:nvSpPr>
        <p:spPr>
          <a:xfrm>
            <a:off x="0" y="277674"/>
            <a:ext cx="18135600" cy="772904"/>
          </a:xfrm>
          <a:prstGeom prst="rect">
            <a:avLst/>
          </a:prstGeom>
        </p:spPr>
        <p:txBody>
          <a:bodyPr wrap="square" lIns="0" tIns="0" rIns="0" bIns="0" rtlCol="0" anchor="t">
            <a:spAutoFit/>
          </a:bodyPr>
          <a:lstStyle/>
          <a:p>
            <a:pPr algn="ctr">
              <a:lnSpc>
                <a:spcPts val="6299"/>
              </a:lnSpc>
              <a:spcBef>
                <a:spcPct val="0"/>
              </a:spcBef>
            </a:pPr>
            <a:r>
              <a:rPr lang="en-US" sz="4500" b="1" dirty="0" err="1">
                <a:solidFill>
                  <a:srgbClr val="000000"/>
                </a:solidFill>
                <a:latin typeface="ITC Avant Garde Gothic Bold"/>
                <a:ea typeface="ITC Avant Garde Gothic Bold"/>
                <a:cs typeface="ITC Avant Garde Gothic Bold"/>
                <a:sym typeface="ITC Avant Garde Gothic Bold"/>
              </a:rPr>
              <a:t>한국어</a:t>
            </a:r>
            <a:r>
              <a:rPr lang="en-US" sz="4500" b="1" dirty="0">
                <a:solidFill>
                  <a:srgbClr val="000000"/>
                </a:solidFill>
                <a:latin typeface="ITC Avant Garde Gothic Bold"/>
                <a:ea typeface="ITC Avant Garde Gothic Bold"/>
                <a:cs typeface="ITC Avant Garde Gothic Bold"/>
                <a:sym typeface="ITC Avant Garde Gothic Bold"/>
              </a:rPr>
              <a:t> </a:t>
            </a:r>
            <a:r>
              <a:rPr lang="en-US" sz="4500" b="1" dirty="0" err="1">
                <a:solidFill>
                  <a:srgbClr val="000000"/>
                </a:solidFill>
                <a:latin typeface="ITC Avant Garde Gothic Bold"/>
                <a:ea typeface="ITC Avant Garde Gothic Bold"/>
                <a:cs typeface="ITC Avant Garde Gothic Bold"/>
                <a:sym typeface="ITC Avant Garde Gothic Bold"/>
              </a:rPr>
              <a:t>학습</a:t>
            </a:r>
            <a:r>
              <a:rPr lang="en-US" sz="4500" b="1" dirty="0">
                <a:solidFill>
                  <a:srgbClr val="000000"/>
                </a:solidFill>
                <a:latin typeface="ITC Avant Garde Gothic Bold"/>
                <a:ea typeface="ITC Avant Garde Gothic Bold"/>
                <a:cs typeface="ITC Avant Garde Gothic Bold"/>
                <a:sym typeface="ITC Avant Garde Gothic Bold"/>
              </a:rPr>
              <a:t> </a:t>
            </a:r>
            <a:r>
              <a:rPr lang="en-US" sz="4500" b="1" dirty="0" err="1">
                <a:solidFill>
                  <a:srgbClr val="000000"/>
                </a:solidFill>
                <a:latin typeface="ITC Avant Garde Gothic Bold"/>
                <a:ea typeface="ITC Avant Garde Gothic Bold"/>
                <a:cs typeface="ITC Avant Garde Gothic Bold"/>
                <a:sym typeface="ITC Avant Garde Gothic Bold"/>
              </a:rPr>
              <a:t>시장은</a:t>
            </a:r>
            <a:r>
              <a:rPr lang="en-US" sz="4500" b="1" dirty="0">
                <a:solidFill>
                  <a:srgbClr val="000000"/>
                </a:solidFill>
                <a:latin typeface="ITC Avant Garde Gothic Bold"/>
                <a:ea typeface="ITC Avant Garde Gothic Bold"/>
                <a:cs typeface="ITC Avant Garde Gothic Bold"/>
                <a:sym typeface="ITC Avant Garde Gothic Bold"/>
              </a:rPr>
              <a:t> 2034년 670억 </a:t>
            </a:r>
            <a:r>
              <a:rPr lang="en-US" sz="4500" b="1" dirty="0" err="1">
                <a:solidFill>
                  <a:srgbClr val="000000"/>
                </a:solidFill>
                <a:latin typeface="ITC Avant Garde Gothic Bold"/>
                <a:ea typeface="ITC Avant Garde Gothic Bold"/>
                <a:cs typeface="ITC Avant Garde Gothic Bold"/>
                <a:sym typeface="ITC Avant Garde Gothic Bold"/>
              </a:rPr>
              <a:t>달러</a:t>
            </a:r>
            <a:r>
              <a:rPr lang="en-US" sz="4500" b="1" dirty="0">
                <a:solidFill>
                  <a:srgbClr val="000000"/>
                </a:solidFill>
                <a:latin typeface="ITC Avant Garde Gothic Bold"/>
                <a:ea typeface="ITC Avant Garde Gothic Bold"/>
                <a:cs typeface="ITC Avant Garde Gothic Bold"/>
                <a:sym typeface="ITC Avant Garde Gothic Bold"/>
              </a:rPr>
              <a:t> </a:t>
            </a:r>
            <a:r>
              <a:rPr lang="en-US" sz="4500" b="1" dirty="0" err="1">
                <a:solidFill>
                  <a:srgbClr val="000000"/>
                </a:solidFill>
                <a:latin typeface="ITC Avant Garde Gothic Bold"/>
                <a:ea typeface="ITC Avant Garde Gothic Bold"/>
                <a:cs typeface="ITC Avant Garde Gothic Bold"/>
                <a:sym typeface="ITC Avant Garde Gothic Bold"/>
              </a:rPr>
              <a:t>규모까지</a:t>
            </a:r>
            <a:r>
              <a:rPr lang="en-US" sz="4500" b="1" dirty="0">
                <a:solidFill>
                  <a:srgbClr val="000000"/>
                </a:solidFill>
                <a:latin typeface="ITC Avant Garde Gothic Bold"/>
                <a:ea typeface="ITC Avant Garde Gothic Bold"/>
                <a:cs typeface="ITC Avant Garde Gothic Bold"/>
                <a:sym typeface="ITC Avant Garde Gothic Bold"/>
              </a:rPr>
              <a:t> </a:t>
            </a:r>
            <a:r>
              <a:rPr lang="en-US" sz="4500" b="1" dirty="0" err="1">
                <a:solidFill>
                  <a:srgbClr val="000000"/>
                </a:solidFill>
                <a:latin typeface="ITC Avant Garde Gothic Bold"/>
                <a:ea typeface="ITC Avant Garde Gothic Bold"/>
                <a:cs typeface="ITC Avant Garde Gothic Bold"/>
                <a:sym typeface="ITC Avant Garde Gothic Bold"/>
              </a:rPr>
              <a:t>성장할</a:t>
            </a:r>
            <a:r>
              <a:rPr lang="en-US" sz="4500" b="1" dirty="0">
                <a:solidFill>
                  <a:srgbClr val="000000"/>
                </a:solidFill>
                <a:latin typeface="ITC Avant Garde Gothic Bold"/>
                <a:ea typeface="ITC Avant Garde Gothic Bold"/>
                <a:cs typeface="ITC Avant Garde Gothic Bold"/>
                <a:sym typeface="ITC Avant Garde Gothic Bold"/>
              </a:rPr>
              <a:t> </a:t>
            </a:r>
            <a:r>
              <a:rPr lang="en-US" sz="4500" b="1" dirty="0" err="1">
                <a:solidFill>
                  <a:srgbClr val="000000"/>
                </a:solidFill>
                <a:latin typeface="ITC Avant Garde Gothic Bold"/>
                <a:ea typeface="ITC Avant Garde Gothic Bold"/>
                <a:cs typeface="ITC Avant Garde Gothic Bold"/>
                <a:sym typeface="ITC Avant Garde Gothic Bold"/>
              </a:rPr>
              <a:t>것으로</a:t>
            </a:r>
            <a:r>
              <a:rPr lang="en-US" sz="4500" b="1" dirty="0">
                <a:solidFill>
                  <a:srgbClr val="000000"/>
                </a:solidFill>
                <a:latin typeface="ITC Avant Garde Gothic Bold"/>
                <a:ea typeface="ITC Avant Garde Gothic Bold"/>
                <a:cs typeface="ITC Avant Garde Gothic Bold"/>
                <a:sym typeface="ITC Avant Garde Gothic Bold"/>
              </a:rPr>
              <a:t> </a:t>
            </a:r>
            <a:r>
              <a:rPr lang="en-US" sz="4500" b="1" dirty="0" err="1">
                <a:solidFill>
                  <a:srgbClr val="000000"/>
                </a:solidFill>
                <a:latin typeface="ITC Avant Garde Gothic Bold"/>
                <a:ea typeface="ITC Avant Garde Gothic Bold"/>
                <a:cs typeface="ITC Avant Garde Gothic Bold"/>
                <a:sym typeface="ITC Avant Garde Gothic Bold"/>
              </a:rPr>
              <a:t>전망</a:t>
            </a:r>
            <a:endParaRPr lang="en-US" sz="4500" b="1" dirty="0">
              <a:solidFill>
                <a:srgbClr val="000000"/>
              </a:solidFill>
              <a:latin typeface="ITC Avant Garde Gothic Bold"/>
              <a:ea typeface="ITC Avant Garde Gothic Bold"/>
              <a:cs typeface="ITC Avant Garde Gothic Bold"/>
              <a:sym typeface="ITC Avant Garde Gothic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51482" y="8792484"/>
            <a:ext cx="7489217" cy="845907"/>
          </a:xfrm>
          <a:prstGeom prst="rect">
            <a:avLst/>
          </a:prstGeom>
        </p:spPr>
        <p:txBody>
          <a:bodyPr wrap="square" lIns="0" tIns="0" rIns="0" bIns="0" rtlCol="0" anchor="t">
            <a:spAutoFit/>
          </a:bodyPr>
          <a:lstStyle/>
          <a:p>
            <a:pPr algn="l">
              <a:lnSpc>
                <a:spcPts val="3250"/>
              </a:lnSpc>
              <a:spcBef>
                <a:spcPct val="0"/>
              </a:spcBef>
            </a:pPr>
            <a:r>
              <a:rPr lang="en-US" sz="2321" b="1" dirty="0">
                <a:solidFill>
                  <a:srgbClr val="000000"/>
                </a:solidFill>
                <a:latin typeface="ITC Avant Garde Gothic Bold"/>
                <a:ea typeface="ITC Avant Garde Gothic Bold"/>
                <a:cs typeface="ITC Avant Garde Gothic Bold"/>
                <a:sym typeface="ITC Avant Garde Gothic Bold"/>
              </a:rPr>
              <a:t> 🟦 </a:t>
            </a:r>
            <a:r>
              <a:rPr lang="en-US" sz="2321" b="1" dirty="0" err="1">
                <a:solidFill>
                  <a:srgbClr val="000000"/>
                </a:solidFill>
                <a:latin typeface="ITC Avant Garde Gothic Bold"/>
                <a:ea typeface="ITC Avant Garde Gothic Bold"/>
                <a:cs typeface="ITC Avant Garde Gothic Bold"/>
                <a:sym typeface="ITC Avant Garde Gothic Bold"/>
              </a:rPr>
              <a:t>파랑</a:t>
            </a:r>
            <a:r>
              <a:rPr lang="en-US" sz="2321" b="1" dirty="0">
                <a:solidFill>
                  <a:srgbClr val="000000"/>
                </a:solidFill>
                <a:latin typeface="ITC Avant Garde Gothic Bold"/>
                <a:ea typeface="ITC Avant Garde Gothic Bold"/>
                <a:cs typeface="ITC Avant Garde Gothic Bold"/>
                <a:sym typeface="ITC Avant Garde Gothic Bold"/>
              </a:rPr>
              <a:t> = </a:t>
            </a:r>
            <a:r>
              <a:rPr lang="en-US" sz="2321" b="1" dirty="0" err="1">
                <a:solidFill>
                  <a:srgbClr val="000000"/>
                </a:solidFill>
                <a:latin typeface="ITC Avant Garde Gothic Bold"/>
                <a:ea typeface="ITC Avant Garde Gothic Bold"/>
                <a:cs typeface="ITC Avant Garde Gothic Bold"/>
                <a:sym typeface="ITC Avant Garde Gothic Bold"/>
              </a:rPr>
              <a:t>주어</a:t>
            </a:r>
            <a:r>
              <a:rPr lang="en-US" sz="2321" b="1" dirty="0">
                <a:solidFill>
                  <a:srgbClr val="000000"/>
                </a:solidFill>
                <a:latin typeface="ITC Avant Garde Gothic Bold"/>
                <a:ea typeface="ITC Avant Garde Gothic Bold"/>
                <a:cs typeface="ITC Avant Garde Gothic Bold"/>
                <a:sym typeface="ITC Avant Garde Gothic Bold"/>
              </a:rPr>
              <a:t> (Subject)   🟥 </a:t>
            </a:r>
            <a:r>
              <a:rPr lang="en-US" sz="2321" b="1" dirty="0" err="1">
                <a:solidFill>
                  <a:srgbClr val="000000"/>
                </a:solidFill>
                <a:latin typeface="ITC Avant Garde Gothic Bold"/>
                <a:ea typeface="ITC Avant Garde Gothic Bold"/>
                <a:cs typeface="ITC Avant Garde Gothic Bold"/>
                <a:sym typeface="ITC Avant Garde Gothic Bold"/>
              </a:rPr>
              <a:t>빨강</a:t>
            </a:r>
            <a:r>
              <a:rPr lang="en-US" sz="2321" b="1" dirty="0">
                <a:solidFill>
                  <a:srgbClr val="000000"/>
                </a:solidFill>
                <a:latin typeface="ITC Avant Garde Gothic Bold"/>
                <a:ea typeface="ITC Avant Garde Gothic Bold"/>
                <a:cs typeface="ITC Avant Garde Gothic Bold"/>
                <a:sym typeface="ITC Avant Garde Gothic Bold"/>
              </a:rPr>
              <a:t> = </a:t>
            </a:r>
            <a:r>
              <a:rPr lang="en-US" sz="2321" b="1" dirty="0" err="1">
                <a:solidFill>
                  <a:srgbClr val="000000"/>
                </a:solidFill>
                <a:latin typeface="ITC Avant Garde Gothic Bold"/>
                <a:ea typeface="ITC Avant Garde Gothic Bold"/>
                <a:cs typeface="ITC Avant Garde Gothic Bold"/>
                <a:sym typeface="ITC Avant Garde Gothic Bold"/>
              </a:rPr>
              <a:t>목적어</a:t>
            </a:r>
            <a:r>
              <a:rPr lang="en-US" sz="2321" b="1" dirty="0">
                <a:solidFill>
                  <a:srgbClr val="000000"/>
                </a:solidFill>
                <a:latin typeface="ITC Avant Garde Gothic Bold"/>
                <a:ea typeface="ITC Avant Garde Gothic Bold"/>
                <a:cs typeface="ITC Avant Garde Gothic Bold"/>
                <a:sym typeface="ITC Avant Garde Gothic Bold"/>
              </a:rPr>
              <a:t> (Object)</a:t>
            </a:r>
          </a:p>
          <a:p>
            <a:pPr algn="l">
              <a:lnSpc>
                <a:spcPts val="3250"/>
              </a:lnSpc>
              <a:spcBef>
                <a:spcPct val="0"/>
              </a:spcBef>
            </a:pPr>
            <a:r>
              <a:rPr lang="en-US" sz="2321" b="1" dirty="0">
                <a:solidFill>
                  <a:srgbClr val="000000"/>
                </a:solidFill>
                <a:latin typeface="ITC Avant Garde Gothic Bold"/>
                <a:ea typeface="ITC Avant Garde Gothic Bold"/>
                <a:cs typeface="ITC Avant Garde Gothic Bold"/>
                <a:sym typeface="ITC Avant Garde Gothic Bold"/>
              </a:rPr>
              <a:t> 🟩 </a:t>
            </a:r>
            <a:r>
              <a:rPr lang="en-US" sz="2321" b="1" dirty="0" err="1">
                <a:solidFill>
                  <a:srgbClr val="000000"/>
                </a:solidFill>
                <a:latin typeface="ITC Avant Garde Gothic Bold"/>
                <a:ea typeface="ITC Avant Garde Gothic Bold"/>
                <a:cs typeface="ITC Avant Garde Gothic Bold"/>
                <a:sym typeface="ITC Avant Garde Gothic Bold"/>
              </a:rPr>
              <a:t>초록</a:t>
            </a:r>
            <a:r>
              <a:rPr lang="en-US" sz="2321" b="1" dirty="0">
                <a:solidFill>
                  <a:srgbClr val="000000"/>
                </a:solidFill>
                <a:latin typeface="ITC Avant Garde Gothic Bold"/>
                <a:ea typeface="ITC Avant Garde Gothic Bold"/>
                <a:cs typeface="ITC Avant Garde Gothic Bold"/>
                <a:sym typeface="ITC Avant Garde Gothic Bold"/>
              </a:rPr>
              <a:t> = </a:t>
            </a:r>
            <a:r>
              <a:rPr lang="en-US" sz="2321" b="1" dirty="0" err="1">
                <a:solidFill>
                  <a:srgbClr val="000000"/>
                </a:solidFill>
                <a:latin typeface="ITC Avant Garde Gothic Bold"/>
                <a:ea typeface="ITC Avant Garde Gothic Bold"/>
                <a:cs typeface="ITC Avant Garde Gothic Bold"/>
                <a:sym typeface="ITC Avant Garde Gothic Bold"/>
              </a:rPr>
              <a:t>동사</a:t>
            </a:r>
            <a:r>
              <a:rPr lang="en-US" sz="2321" b="1" dirty="0">
                <a:solidFill>
                  <a:srgbClr val="000000"/>
                </a:solidFill>
                <a:latin typeface="ITC Avant Garde Gothic Bold"/>
                <a:ea typeface="ITC Avant Garde Gothic Bold"/>
                <a:cs typeface="ITC Avant Garde Gothic Bold"/>
                <a:sym typeface="ITC Avant Garde Gothic Bold"/>
              </a:rPr>
              <a:t> (Verb)       🟣 </a:t>
            </a:r>
            <a:r>
              <a:rPr lang="en-US" sz="2321" b="1" dirty="0" err="1">
                <a:solidFill>
                  <a:srgbClr val="000000"/>
                </a:solidFill>
                <a:latin typeface="ITC Avant Garde Gothic Bold"/>
                <a:ea typeface="ITC Avant Garde Gothic Bold"/>
                <a:cs typeface="ITC Avant Garde Gothic Bold"/>
                <a:sym typeface="ITC Avant Garde Gothic Bold"/>
              </a:rPr>
              <a:t>보라</a:t>
            </a:r>
            <a:r>
              <a:rPr lang="en-US" sz="2321" b="1" dirty="0">
                <a:solidFill>
                  <a:srgbClr val="000000"/>
                </a:solidFill>
                <a:latin typeface="ITC Avant Garde Gothic Bold"/>
                <a:ea typeface="ITC Avant Garde Gothic Bold"/>
                <a:cs typeface="ITC Avant Garde Gothic Bold"/>
                <a:sym typeface="ITC Avant Garde Gothic Bold"/>
              </a:rPr>
              <a:t> = </a:t>
            </a:r>
            <a:r>
              <a:rPr lang="en-US" sz="2321" b="1" dirty="0" err="1">
                <a:solidFill>
                  <a:srgbClr val="000000"/>
                </a:solidFill>
                <a:latin typeface="ITC Avant Garde Gothic Bold"/>
                <a:ea typeface="ITC Avant Garde Gothic Bold"/>
                <a:cs typeface="ITC Avant Garde Gothic Bold"/>
                <a:sym typeface="ITC Avant Garde Gothic Bold"/>
              </a:rPr>
              <a:t>조사</a:t>
            </a:r>
            <a:r>
              <a:rPr lang="en-US" sz="2321" b="1" dirty="0">
                <a:solidFill>
                  <a:srgbClr val="000000"/>
                </a:solidFill>
                <a:latin typeface="ITC Avant Garde Gothic Bold"/>
                <a:ea typeface="ITC Avant Garde Gothic Bold"/>
                <a:cs typeface="ITC Avant Garde Gothic Bold"/>
                <a:sym typeface="ITC Avant Garde Gothic Bold"/>
              </a:rPr>
              <a:t> (Particle) </a:t>
            </a:r>
          </a:p>
        </p:txBody>
      </p:sp>
      <p:sp>
        <p:nvSpPr>
          <p:cNvPr id="3" name="TextBox 3"/>
          <p:cNvSpPr txBox="1"/>
          <p:nvPr/>
        </p:nvSpPr>
        <p:spPr>
          <a:xfrm>
            <a:off x="1028700" y="3269794"/>
            <a:ext cx="6667500" cy="759632"/>
          </a:xfrm>
          <a:prstGeom prst="rect">
            <a:avLst/>
          </a:prstGeom>
        </p:spPr>
        <p:txBody>
          <a:bodyPr wrap="square" lIns="0" tIns="0" rIns="0" bIns="0" rtlCol="0" anchor="t">
            <a:spAutoFit/>
          </a:bodyPr>
          <a:lstStyle/>
          <a:p>
            <a:pPr algn="ctr">
              <a:lnSpc>
                <a:spcPts val="6160"/>
              </a:lnSpc>
              <a:spcBef>
                <a:spcPct val="0"/>
              </a:spcBef>
            </a:pPr>
            <a:r>
              <a:rPr lang="en-US" sz="4400" b="1" dirty="0">
                <a:solidFill>
                  <a:srgbClr val="000000"/>
                </a:solidFill>
                <a:latin typeface="ITC Avant Garde Gothic Bold"/>
                <a:ea typeface="ITC Avant Garde Gothic Bold"/>
                <a:cs typeface="ITC Avant Garde Gothic Bold"/>
                <a:sym typeface="ITC Avant Garde Gothic Bold"/>
              </a:rPr>
              <a:t>🇰🇷 </a:t>
            </a:r>
            <a:r>
              <a:rPr lang="en-US" sz="4400" b="1" dirty="0" err="1">
                <a:solidFill>
                  <a:srgbClr val="137BFE"/>
                </a:solidFill>
                <a:latin typeface="ITC Avant Garde Gothic Bold"/>
                <a:ea typeface="ITC Avant Garde Gothic Bold"/>
                <a:cs typeface="ITC Avant Garde Gothic Bold"/>
                <a:sym typeface="ITC Avant Garde Gothic Bold"/>
              </a:rPr>
              <a:t>나</a:t>
            </a:r>
            <a:r>
              <a:rPr lang="en-US" sz="4400" b="1" dirty="0" err="1">
                <a:solidFill>
                  <a:srgbClr val="5E17EB"/>
                </a:solidFill>
                <a:latin typeface="ITC Avant Garde Gothic Bold"/>
                <a:ea typeface="ITC Avant Garde Gothic Bold"/>
                <a:cs typeface="ITC Avant Garde Gothic Bold"/>
                <a:sym typeface="ITC Avant Garde Gothic Bold"/>
              </a:rPr>
              <a:t>는</a:t>
            </a:r>
            <a:r>
              <a:rPr lang="en-US" sz="4400" b="1" dirty="0">
                <a:solidFill>
                  <a:srgbClr val="000000"/>
                </a:solidFill>
                <a:latin typeface="ITC Avant Garde Gothic Bold"/>
                <a:ea typeface="ITC Avant Garde Gothic Bold"/>
                <a:cs typeface="ITC Avant Garde Gothic Bold"/>
                <a:sym typeface="ITC Avant Garde Gothic Bold"/>
              </a:rPr>
              <a:t> </a:t>
            </a:r>
            <a:r>
              <a:rPr lang="en-US" sz="4400" b="1" dirty="0" err="1">
                <a:solidFill>
                  <a:srgbClr val="FF3A3A"/>
                </a:solidFill>
                <a:latin typeface="ITC Avant Garde Gothic Bold"/>
                <a:ea typeface="ITC Avant Garde Gothic Bold"/>
                <a:cs typeface="ITC Avant Garde Gothic Bold"/>
                <a:sym typeface="ITC Avant Garde Gothic Bold"/>
              </a:rPr>
              <a:t>한국어</a:t>
            </a:r>
            <a:r>
              <a:rPr lang="en-US" sz="4400" b="1" dirty="0" err="1">
                <a:solidFill>
                  <a:srgbClr val="5E17EB"/>
                </a:solidFill>
                <a:latin typeface="ITC Avant Garde Gothic Bold"/>
                <a:ea typeface="ITC Avant Garde Gothic Bold"/>
                <a:cs typeface="ITC Avant Garde Gothic Bold"/>
                <a:sym typeface="ITC Avant Garde Gothic Bold"/>
              </a:rPr>
              <a:t>를</a:t>
            </a:r>
            <a:r>
              <a:rPr lang="en-US" sz="4400" b="1" dirty="0">
                <a:solidFill>
                  <a:srgbClr val="000000"/>
                </a:solidFill>
                <a:latin typeface="ITC Avant Garde Gothic Bold"/>
                <a:ea typeface="ITC Avant Garde Gothic Bold"/>
                <a:cs typeface="ITC Avant Garde Gothic Bold"/>
                <a:sym typeface="ITC Avant Garde Gothic Bold"/>
              </a:rPr>
              <a:t> </a:t>
            </a:r>
            <a:r>
              <a:rPr lang="en-US" sz="4400" b="1" dirty="0" err="1">
                <a:solidFill>
                  <a:srgbClr val="3E7D00"/>
                </a:solidFill>
                <a:latin typeface="ITC Avant Garde Gothic Bold"/>
                <a:ea typeface="ITC Avant Garde Gothic Bold"/>
                <a:cs typeface="ITC Avant Garde Gothic Bold"/>
                <a:sym typeface="ITC Avant Garde Gothic Bold"/>
              </a:rPr>
              <a:t>공부한다</a:t>
            </a:r>
            <a:endParaRPr lang="en-US" sz="4400" b="1" dirty="0">
              <a:solidFill>
                <a:srgbClr val="3E7D00"/>
              </a:solidFill>
              <a:latin typeface="ITC Avant Garde Gothic Bold"/>
              <a:ea typeface="ITC Avant Garde Gothic Bold"/>
              <a:cs typeface="ITC Avant Garde Gothic Bold"/>
              <a:sym typeface="ITC Avant Garde Gothic Bold"/>
            </a:endParaRPr>
          </a:p>
        </p:txBody>
      </p:sp>
      <p:sp>
        <p:nvSpPr>
          <p:cNvPr id="4" name="TextBox 4"/>
          <p:cNvSpPr txBox="1"/>
          <p:nvPr/>
        </p:nvSpPr>
        <p:spPr>
          <a:xfrm>
            <a:off x="1036326" y="5922684"/>
            <a:ext cx="6659873" cy="753604"/>
          </a:xfrm>
          <a:prstGeom prst="rect">
            <a:avLst/>
          </a:prstGeom>
        </p:spPr>
        <p:txBody>
          <a:bodyPr wrap="square" lIns="0" tIns="0" rIns="0" bIns="0" rtlCol="0" anchor="t">
            <a:spAutoFit/>
          </a:bodyPr>
          <a:lstStyle/>
          <a:p>
            <a:pPr algn="ctr">
              <a:lnSpc>
                <a:spcPts val="6160"/>
              </a:lnSpc>
              <a:spcBef>
                <a:spcPct val="0"/>
              </a:spcBef>
            </a:pPr>
            <a:r>
              <a:rPr lang="en-US" sz="4400" b="1" dirty="0">
                <a:solidFill>
                  <a:srgbClr val="000000"/>
                </a:solidFill>
                <a:latin typeface="ITC Avant Garde Gothic Bold"/>
                <a:ea typeface="ITC Avant Garde Gothic Bold"/>
                <a:cs typeface="ITC Avant Garde Gothic Bold"/>
                <a:sym typeface="ITC Avant Garde Gothic Bold"/>
              </a:rPr>
              <a:t>🇯🇵 </a:t>
            </a:r>
            <a:r>
              <a:rPr lang="en-US" sz="4400" b="1" dirty="0" err="1">
                <a:solidFill>
                  <a:srgbClr val="137BFE"/>
                </a:solidFill>
                <a:latin typeface="ITC Avant Garde Gothic Bold"/>
                <a:ea typeface="ITC Avant Garde Gothic Bold"/>
                <a:cs typeface="ITC Avant Garde Gothic Bold"/>
                <a:sym typeface="ITC Avant Garde Gothic Bold"/>
              </a:rPr>
              <a:t>私</a:t>
            </a:r>
            <a:r>
              <a:rPr lang="en-US" sz="4400" b="1" dirty="0" err="1">
                <a:solidFill>
                  <a:srgbClr val="5E17EB"/>
                </a:solidFill>
                <a:latin typeface="ITC Avant Garde Gothic Bold"/>
                <a:ea typeface="ITC Avant Garde Gothic Bold"/>
                <a:cs typeface="ITC Avant Garde Gothic Bold"/>
                <a:sym typeface="ITC Avant Garde Gothic Bold"/>
              </a:rPr>
              <a:t>は</a:t>
            </a:r>
            <a:r>
              <a:rPr lang="en-US" sz="4400" b="1" dirty="0" err="1">
                <a:solidFill>
                  <a:srgbClr val="FF3A3A"/>
                </a:solidFill>
                <a:latin typeface="ITC Avant Garde Gothic Bold"/>
                <a:ea typeface="ITC Avant Garde Gothic Bold"/>
                <a:cs typeface="ITC Avant Garde Gothic Bold"/>
                <a:sym typeface="ITC Avant Garde Gothic Bold"/>
              </a:rPr>
              <a:t>韓国語</a:t>
            </a:r>
            <a:r>
              <a:rPr lang="en-US" sz="4400" b="1" dirty="0" err="1">
                <a:solidFill>
                  <a:srgbClr val="5E17EB"/>
                </a:solidFill>
                <a:latin typeface="ITC Avant Garde Gothic Bold"/>
                <a:ea typeface="ITC Avant Garde Gothic Bold"/>
                <a:cs typeface="ITC Avant Garde Gothic Bold"/>
                <a:sym typeface="ITC Avant Garde Gothic Bold"/>
              </a:rPr>
              <a:t>を</a:t>
            </a:r>
            <a:r>
              <a:rPr lang="en-US" sz="4400" b="1" dirty="0" err="1">
                <a:solidFill>
                  <a:srgbClr val="3E7D00"/>
                </a:solidFill>
                <a:latin typeface="ITC Avant Garde Gothic Bold"/>
                <a:ea typeface="ITC Avant Garde Gothic Bold"/>
                <a:cs typeface="ITC Avant Garde Gothic Bold"/>
                <a:sym typeface="ITC Avant Garde Gothic Bold"/>
              </a:rPr>
              <a:t>勉強する</a:t>
            </a:r>
            <a:endParaRPr lang="en-US" sz="4400" b="1" dirty="0">
              <a:solidFill>
                <a:srgbClr val="3E7D00"/>
              </a:solidFill>
              <a:latin typeface="ITC Avant Garde Gothic Bold"/>
              <a:ea typeface="ITC Avant Garde Gothic Bold"/>
              <a:cs typeface="ITC Avant Garde Gothic Bold"/>
              <a:sym typeface="ITC Avant Garde Gothic Bold"/>
            </a:endParaRPr>
          </a:p>
        </p:txBody>
      </p:sp>
      <p:sp>
        <p:nvSpPr>
          <p:cNvPr id="5" name="TextBox 5"/>
          <p:cNvSpPr txBox="1"/>
          <p:nvPr/>
        </p:nvSpPr>
        <p:spPr>
          <a:xfrm>
            <a:off x="10360498" y="2744649"/>
            <a:ext cx="5047133" cy="765594"/>
          </a:xfrm>
          <a:prstGeom prst="rect">
            <a:avLst/>
          </a:prstGeom>
        </p:spPr>
        <p:txBody>
          <a:bodyPr wrap="square" lIns="0" tIns="0" rIns="0" bIns="0" rtlCol="0" anchor="t">
            <a:spAutoFit/>
          </a:bodyPr>
          <a:lstStyle/>
          <a:p>
            <a:pPr algn="ctr">
              <a:lnSpc>
                <a:spcPts val="6160"/>
              </a:lnSpc>
              <a:spcBef>
                <a:spcPct val="0"/>
              </a:spcBef>
            </a:pPr>
            <a:r>
              <a:rPr lang="en-US" sz="4400" b="1" dirty="0">
                <a:solidFill>
                  <a:srgbClr val="000000"/>
                </a:solidFill>
                <a:latin typeface="ITC Avant Garde Gothic Bold"/>
                <a:ea typeface="ITC Avant Garde Gothic Bold"/>
                <a:cs typeface="ITC Avant Garde Gothic Bold"/>
                <a:sym typeface="ITC Avant Garde Gothic Bold"/>
              </a:rPr>
              <a:t>🇺🇸 </a:t>
            </a:r>
            <a:r>
              <a:rPr lang="en-US" sz="4400" b="1" dirty="0">
                <a:solidFill>
                  <a:srgbClr val="137BFE"/>
                </a:solidFill>
                <a:latin typeface="ITC Avant Garde Gothic Bold"/>
                <a:ea typeface="ITC Avant Garde Gothic Bold"/>
                <a:cs typeface="ITC Avant Garde Gothic Bold"/>
                <a:sym typeface="ITC Avant Garde Gothic Bold"/>
              </a:rPr>
              <a:t>I </a:t>
            </a:r>
            <a:r>
              <a:rPr lang="en-US" sz="4400" b="1" dirty="0">
                <a:solidFill>
                  <a:srgbClr val="3E7D00"/>
                </a:solidFill>
                <a:latin typeface="ITC Avant Garde Gothic Bold"/>
                <a:ea typeface="ITC Avant Garde Gothic Bold"/>
                <a:cs typeface="ITC Avant Garde Gothic Bold"/>
                <a:sym typeface="ITC Avant Garde Gothic Bold"/>
              </a:rPr>
              <a:t>study </a:t>
            </a:r>
            <a:r>
              <a:rPr lang="en-US" sz="4400" b="1" dirty="0">
                <a:solidFill>
                  <a:srgbClr val="FF3A3A"/>
                </a:solidFill>
                <a:latin typeface="ITC Avant Garde Gothic Bold"/>
                <a:ea typeface="ITC Avant Garde Gothic Bold"/>
                <a:cs typeface="ITC Avant Garde Gothic Bold"/>
                <a:sym typeface="ITC Avant Garde Gothic Bold"/>
              </a:rPr>
              <a:t>Korean</a:t>
            </a:r>
          </a:p>
        </p:txBody>
      </p:sp>
      <p:sp>
        <p:nvSpPr>
          <p:cNvPr id="6" name="TextBox 6"/>
          <p:cNvSpPr txBox="1"/>
          <p:nvPr/>
        </p:nvSpPr>
        <p:spPr>
          <a:xfrm>
            <a:off x="10360498" y="3985439"/>
            <a:ext cx="6446565" cy="765594"/>
          </a:xfrm>
          <a:prstGeom prst="rect">
            <a:avLst/>
          </a:prstGeom>
        </p:spPr>
        <p:txBody>
          <a:bodyPr wrap="square" lIns="0" tIns="0" rIns="0" bIns="0" rtlCol="0" anchor="t">
            <a:spAutoFit/>
          </a:bodyPr>
          <a:lstStyle/>
          <a:p>
            <a:pPr algn="ctr">
              <a:lnSpc>
                <a:spcPts val="6160"/>
              </a:lnSpc>
              <a:spcBef>
                <a:spcPct val="0"/>
              </a:spcBef>
            </a:pPr>
            <a:r>
              <a:rPr lang="en-US" sz="4400" b="1" dirty="0">
                <a:solidFill>
                  <a:srgbClr val="000000"/>
                </a:solidFill>
                <a:latin typeface="ITC Avant Garde Gothic Bold"/>
                <a:ea typeface="ITC Avant Garde Gothic Bold"/>
                <a:cs typeface="ITC Avant Garde Gothic Bold"/>
                <a:sym typeface="ITC Avant Garde Gothic Bold"/>
              </a:rPr>
              <a:t>🇪🇸 </a:t>
            </a:r>
            <a:r>
              <a:rPr lang="en-US" sz="4400" b="1" dirty="0" err="1">
                <a:solidFill>
                  <a:srgbClr val="137BFE"/>
                </a:solidFill>
                <a:latin typeface="ITC Avant Garde Gothic Bold"/>
                <a:ea typeface="ITC Avant Garde Gothic Bold"/>
                <a:cs typeface="ITC Avant Garde Gothic Bold"/>
                <a:sym typeface="ITC Avant Garde Gothic Bold"/>
              </a:rPr>
              <a:t>Yo</a:t>
            </a:r>
            <a:r>
              <a:rPr lang="en-US" sz="4400" b="1" dirty="0">
                <a:solidFill>
                  <a:srgbClr val="137BFE"/>
                </a:solidFill>
                <a:latin typeface="ITC Avant Garde Gothic Bold"/>
                <a:ea typeface="ITC Avant Garde Gothic Bold"/>
                <a:cs typeface="ITC Avant Garde Gothic Bold"/>
                <a:sym typeface="ITC Avant Garde Gothic Bold"/>
              </a:rPr>
              <a:t> </a:t>
            </a:r>
            <a:r>
              <a:rPr lang="en-US" sz="4400" b="1" dirty="0" err="1">
                <a:solidFill>
                  <a:srgbClr val="3E7D00"/>
                </a:solidFill>
                <a:latin typeface="ITC Avant Garde Gothic Bold"/>
                <a:ea typeface="ITC Avant Garde Gothic Bold"/>
                <a:cs typeface="ITC Avant Garde Gothic Bold"/>
                <a:sym typeface="ITC Avant Garde Gothic Bold"/>
              </a:rPr>
              <a:t>estudio</a:t>
            </a:r>
            <a:r>
              <a:rPr lang="en-US" sz="4400" b="1" dirty="0">
                <a:solidFill>
                  <a:srgbClr val="3E7D00"/>
                </a:solidFill>
                <a:latin typeface="ITC Avant Garde Gothic Bold"/>
                <a:ea typeface="ITC Avant Garde Gothic Bold"/>
                <a:cs typeface="ITC Avant Garde Gothic Bold"/>
                <a:sym typeface="ITC Avant Garde Gothic Bold"/>
              </a:rPr>
              <a:t> </a:t>
            </a:r>
            <a:r>
              <a:rPr lang="en-US" sz="4400" b="1" dirty="0" err="1">
                <a:solidFill>
                  <a:srgbClr val="FF3A3A"/>
                </a:solidFill>
                <a:latin typeface="ITC Avant Garde Gothic Bold"/>
                <a:ea typeface="ITC Avant Garde Gothic Bold"/>
                <a:cs typeface="ITC Avant Garde Gothic Bold"/>
                <a:sym typeface="ITC Avant Garde Gothic Bold"/>
              </a:rPr>
              <a:t>coreano</a:t>
            </a:r>
            <a:endParaRPr lang="en-US" sz="4400" b="1" dirty="0">
              <a:solidFill>
                <a:srgbClr val="FF3A3A"/>
              </a:solidFill>
              <a:latin typeface="ITC Avant Garde Gothic Bold"/>
              <a:ea typeface="ITC Avant Garde Gothic Bold"/>
              <a:cs typeface="ITC Avant Garde Gothic Bold"/>
              <a:sym typeface="ITC Avant Garde Gothic Bold"/>
            </a:endParaRPr>
          </a:p>
        </p:txBody>
      </p:sp>
      <p:sp>
        <p:nvSpPr>
          <p:cNvPr id="7" name="TextBox 7"/>
          <p:cNvSpPr txBox="1"/>
          <p:nvPr/>
        </p:nvSpPr>
        <p:spPr>
          <a:xfrm>
            <a:off x="10360499" y="5226229"/>
            <a:ext cx="6446565" cy="840740"/>
          </a:xfrm>
          <a:prstGeom prst="rect">
            <a:avLst/>
          </a:prstGeom>
        </p:spPr>
        <p:txBody>
          <a:bodyPr lIns="0" tIns="0" rIns="0" bIns="0" rtlCol="0" anchor="t">
            <a:spAutoFit/>
          </a:bodyPr>
          <a:lstStyle/>
          <a:p>
            <a:pPr algn="ctr">
              <a:lnSpc>
                <a:spcPts val="6160"/>
              </a:lnSpc>
              <a:spcBef>
                <a:spcPct val="0"/>
              </a:spcBef>
            </a:pPr>
            <a:r>
              <a:rPr lang="en-US" sz="4400" b="1">
                <a:solidFill>
                  <a:srgbClr val="000000"/>
                </a:solidFill>
                <a:latin typeface="ITC Avant Garde Gothic Bold"/>
                <a:ea typeface="ITC Avant Garde Gothic Bold"/>
                <a:cs typeface="ITC Avant Garde Gothic Bold"/>
                <a:sym typeface="ITC Avant Garde Gothic Bold"/>
              </a:rPr>
              <a:t>🇫🇷 </a:t>
            </a:r>
            <a:r>
              <a:rPr lang="en-US" sz="4400" b="1">
                <a:solidFill>
                  <a:srgbClr val="137BFE"/>
                </a:solidFill>
                <a:latin typeface="ITC Avant Garde Gothic Bold"/>
                <a:ea typeface="ITC Avant Garde Gothic Bold"/>
                <a:cs typeface="ITC Avant Garde Gothic Bold"/>
                <a:sym typeface="ITC Avant Garde Gothic Bold"/>
              </a:rPr>
              <a:t>Je</a:t>
            </a:r>
            <a:r>
              <a:rPr lang="en-US" sz="4400" b="1">
                <a:solidFill>
                  <a:srgbClr val="000000"/>
                </a:solidFill>
                <a:latin typeface="ITC Avant Garde Gothic Bold"/>
                <a:ea typeface="ITC Avant Garde Gothic Bold"/>
                <a:cs typeface="ITC Avant Garde Gothic Bold"/>
                <a:sym typeface="ITC Avant Garde Gothic Bold"/>
              </a:rPr>
              <a:t> </a:t>
            </a:r>
            <a:r>
              <a:rPr lang="en-US" sz="4400" b="1">
                <a:solidFill>
                  <a:srgbClr val="3E7D00"/>
                </a:solidFill>
                <a:latin typeface="ITC Avant Garde Gothic Bold"/>
                <a:ea typeface="ITC Avant Garde Gothic Bold"/>
                <a:cs typeface="ITC Avant Garde Gothic Bold"/>
                <a:sym typeface="ITC Avant Garde Gothic Bold"/>
              </a:rPr>
              <a:t>étudie</a:t>
            </a:r>
            <a:r>
              <a:rPr lang="en-US" sz="4400" b="1">
                <a:solidFill>
                  <a:srgbClr val="000000"/>
                </a:solidFill>
                <a:latin typeface="ITC Avant Garde Gothic Bold"/>
                <a:ea typeface="ITC Avant Garde Gothic Bold"/>
                <a:cs typeface="ITC Avant Garde Gothic Bold"/>
                <a:sym typeface="ITC Avant Garde Gothic Bold"/>
              </a:rPr>
              <a:t> </a:t>
            </a:r>
            <a:r>
              <a:rPr lang="en-US" sz="4400" b="1">
                <a:solidFill>
                  <a:srgbClr val="FF3A3A"/>
                </a:solidFill>
                <a:latin typeface="ITC Avant Garde Gothic Bold"/>
                <a:ea typeface="ITC Avant Garde Gothic Bold"/>
                <a:cs typeface="ITC Avant Garde Gothic Bold"/>
                <a:sym typeface="ITC Avant Garde Gothic Bold"/>
              </a:rPr>
              <a:t>le coréen</a:t>
            </a:r>
            <a:r>
              <a:rPr lang="en-US" sz="4400" b="1">
                <a:solidFill>
                  <a:srgbClr val="000000"/>
                </a:solidFill>
                <a:latin typeface="ITC Avant Garde Gothic Bold"/>
                <a:ea typeface="ITC Avant Garde Gothic Bold"/>
                <a:cs typeface="ITC Avant Garde Gothic Bold"/>
                <a:sym typeface="ITC Avant Garde Gothic Bold"/>
              </a:rPr>
              <a:t> </a:t>
            </a:r>
          </a:p>
        </p:txBody>
      </p:sp>
      <p:sp>
        <p:nvSpPr>
          <p:cNvPr id="8" name="TextBox 8"/>
          <p:cNvSpPr txBox="1"/>
          <p:nvPr/>
        </p:nvSpPr>
        <p:spPr>
          <a:xfrm>
            <a:off x="10360499" y="6466879"/>
            <a:ext cx="6782842" cy="840740"/>
          </a:xfrm>
          <a:prstGeom prst="rect">
            <a:avLst/>
          </a:prstGeom>
        </p:spPr>
        <p:txBody>
          <a:bodyPr lIns="0" tIns="0" rIns="0" bIns="0" rtlCol="0" anchor="t">
            <a:spAutoFit/>
          </a:bodyPr>
          <a:lstStyle/>
          <a:p>
            <a:pPr algn="ctr">
              <a:lnSpc>
                <a:spcPts val="6160"/>
              </a:lnSpc>
              <a:spcBef>
                <a:spcPct val="0"/>
              </a:spcBef>
            </a:pPr>
            <a:r>
              <a:rPr lang="en-US" sz="4400" b="1">
                <a:solidFill>
                  <a:srgbClr val="000000"/>
                </a:solidFill>
                <a:latin typeface="ITC Avant Garde Gothic Bold"/>
                <a:ea typeface="ITC Avant Garde Gothic Bold"/>
                <a:cs typeface="ITC Avant Garde Gothic Bold"/>
                <a:sym typeface="ITC Avant Garde Gothic Bold"/>
              </a:rPr>
              <a:t>🇩🇪 </a:t>
            </a:r>
            <a:r>
              <a:rPr lang="en-US" sz="4400" b="1">
                <a:solidFill>
                  <a:srgbClr val="137BFE"/>
                </a:solidFill>
                <a:latin typeface="ITC Avant Garde Gothic Bold"/>
                <a:ea typeface="ITC Avant Garde Gothic Bold"/>
                <a:cs typeface="ITC Avant Garde Gothic Bold"/>
                <a:sym typeface="ITC Avant Garde Gothic Bold"/>
              </a:rPr>
              <a:t>Ich</a:t>
            </a:r>
            <a:r>
              <a:rPr lang="en-US" sz="4400" b="1">
                <a:solidFill>
                  <a:srgbClr val="000000"/>
                </a:solidFill>
                <a:latin typeface="ITC Avant Garde Gothic Bold"/>
                <a:ea typeface="ITC Avant Garde Gothic Bold"/>
                <a:cs typeface="ITC Avant Garde Gothic Bold"/>
                <a:sym typeface="ITC Avant Garde Gothic Bold"/>
              </a:rPr>
              <a:t> </a:t>
            </a:r>
            <a:r>
              <a:rPr lang="en-US" sz="4400" b="1">
                <a:solidFill>
                  <a:srgbClr val="3E7D00"/>
                </a:solidFill>
                <a:latin typeface="ITC Avant Garde Gothic Bold"/>
                <a:ea typeface="ITC Avant Garde Gothic Bold"/>
                <a:cs typeface="ITC Avant Garde Gothic Bold"/>
                <a:sym typeface="ITC Avant Garde Gothic Bold"/>
              </a:rPr>
              <a:t>lerne </a:t>
            </a:r>
            <a:r>
              <a:rPr lang="en-US" sz="4400" b="1">
                <a:solidFill>
                  <a:srgbClr val="FF3A3A"/>
                </a:solidFill>
                <a:latin typeface="ITC Avant Garde Gothic Bold"/>
                <a:ea typeface="ITC Avant Garde Gothic Bold"/>
                <a:cs typeface="ITC Avant Garde Gothic Bold"/>
                <a:sym typeface="ITC Avant Garde Gothic Bold"/>
              </a:rPr>
              <a:t>Koreanisch</a:t>
            </a:r>
            <a:r>
              <a:rPr lang="en-US" sz="4400" b="1">
                <a:solidFill>
                  <a:srgbClr val="000000"/>
                </a:solidFill>
                <a:latin typeface="ITC Avant Garde Gothic Bold"/>
                <a:ea typeface="ITC Avant Garde Gothic Bold"/>
                <a:cs typeface="ITC Avant Garde Gothic Bold"/>
                <a:sym typeface="ITC Avant Garde Gothic Bold"/>
              </a:rPr>
              <a:t> </a:t>
            </a:r>
          </a:p>
        </p:txBody>
      </p:sp>
      <p:sp>
        <p:nvSpPr>
          <p:cNvPr id="9" name="TextBox 9"/>
          <p:cNvSpPr txBox="1"/>
          <p:nvPr/>
        </p:nvSpPr>
        <p:spPr>
          <a:xfrm>
            <a:off x="10360499" y="7879119"/>
            <a:ext cx="3137967" cy="840740"/>
          </a:xfrm>
          <a:prstGeom prst="rect">
            <a:avLst/>
          </a:prstGeom>
        </p:spPr>
        <p:txBody>
          <a:bodyPr lIns="0" tIns="0" rIns="0" bIns="0" rtlCol="0" anchor="t">
            <a:spAutoFit/>
          </a:bodyPr>
          <a:lstStyle/>
          <a:p>
            <a:pPr algn="ctr">
              <a:lnSpc>
                <a:spcPts val="6160"/>
              </a:lnSpc>
              <a:spcBef>
                <a:spcPct val="0"/>
              </a:spcBef>
            </a:pPr>
            <a:r>
              <a:rPr lang="en-US" sz="4400" b="1">
                <a:solidFill>
                  <a:srgbClr val="000000"/>
                </a:solidFill>
                <a:latin typeface="ITC Avant Garde Gothic Bold"/>
                <a:ea typeface="ITC Avant Garde Gothic Bold"/>
                <a:cs typeface="ITC Avant Garde Gothic Bold"/>
                <a:sym typeface="ITC Avant Garde Gothic Bold"/>
              </a:rPr>
              <a:t>🇨🇳 </a:t>
            </a:r>
            <a:r>
              <a:rPr lang="en-US" sz="4400" b="1">
                <a:solidFill>
                  <a:srgbClr val="137BFE"/>
                </a:solidFill>
                <a:latin typeface="ITC Avant Garde Gothic Bold"/>
                <a:ea typeface="ITC Avant Garde Gothic Bold"/>
                <a:cs typeface="ITC Avant Garde Gothic Bold"/>
                <a:sym typeface="ITC Avant Garde Gothic Bold"/>
              </a:rPr>
              <a:t>我</a:t>
            </a:r>
            <a:r>
              <a:rPr lang="en-US" sz="4400" b="1">
                <a:solidFill>
                  <a:srgbClr val="3E7D00"/>
                </a:solidFill>
                <a:latin typeface="ITC Avant Garde Gothic Bold"/>
                <a:ea typeface="ITC Avant Garde Gothic Bold"/>
                <a:cs typeface="ITC Avant Garde Gothic Bold"/>
                <a:sym typeface="ITC Avant Garde Gothic Bold"/>
              </a:rPr>
              <a:t>学</a:t>
            </a:r>
            <a:r>
              <a:rPr lang="en-US" sz="4400" b="1">
                <a:solidFill>
                  <a:srgbClr val="FF3A3A"/>
                </a:solidFill>
                <a:latin typeface="ITC Avant Garde Gothic Bold"/>
                <a:ea typeface="ITC Avant Garde Gothic Bold"/>
                <a:cs typeface="ITC Avant Garde Gothic Bold"/>
                <a:sym typeface="ITC Avant Garde Gothic Bold"/>
              </a:rPr>
              <a:t>韩语</a:t>
            </a:r>
            <a:r>
              <a:rPr lang="en-US" sz="4400" b="1">
                <a:solidFill>
                  <a:srgbClr val="000000"/>
                </a:solidFill>
                <a:latin typeface="ITC Avant Garde Gothic Bold"/>
                <a:ea typeface="ITC Avant Garde Gothic Bold"/>
                <a:cs typeface="ITC Avant Garde Gothic Bold"/>
                <a:sym typeface="ITC Avant Garde Gothic Bold"/>
              </a:rPr>
              <a:t> </a:t>
            </a:r>
          </a:p>
        </p:txBody>
      </p:sp>
      <p:sp>
        <p:nvSpPr>
          <p:cNvPr id="10" name="TextBox 10"/>
          <p:cNvSpPr txBox="1"/>
          <p:nvPr/>
        </p:nvSpPr>
        <p:spPr>
          <a:xfrm>
            <a:off x="8340700" y="4564062"/>
            <a:ext cx="1108100" cy="865622"/>
          </a:xfrm>
          <a:prstGeom prst="rect">
            <a:avLst/>
          </a:prstGeom>
        </p:spPr>
        <p:txBody>
          <a:bodyPr wrap="square" lIns="0" tIns="0" rIns="0" bIns="0" rtlCol="0" anchor="t">
            <a:spAutoFit/>
          </a:bodyPr>
          <a:lstStyle/>
          <a:p>
            <a:pPr algn="ctr">
              <a:lnSpc>
                <a:spcPts val="6999"/>
              </a:lnSpc>
              <a:spcBef>
                <a:spcPct val="0"/>
              </a:spcBef>
            </a:pPr>
            <a:r>
              <a:rPr lang="en-US" sz="4999" b="1" dirty="0">
                <a:solidFill>
                  <a:srgbClr val="000000"/>
                </a:solidFill>
                <a:latin typeface="ITC Avant Garde Gothic Bold"/>
                <a:ea typeface="ITC Avant Garde Gothic Bold"/>
                <a:cs typeface="ITC Avant Garde Gothic Bold"/>
                <a:sym typeface="ITC Avant Garde Gothic Bold"/>
              </a:rPr>
              <a:t>VS</a:t>
            </a:r>
          </a:p>
        </p:txBody>
      </p:sp>
      <p:sp>
        <p:nvSpPr>
          <p:cNvPr id="11" name="TextBox 11"/>
          <p:cNvSpPr txBox="1"/>
          <p:nvPr/>
        </p:nvSpPr>
        <p:spPr>
          <a:xfrm>
            <a:off x="2871544" y="439738"/>
            <a:ext cx="2310056" cy="858825"/>
          </a:xfrm>
          <a:prstGeom prst="rect">
            <a:avLst/>
          </a:prstGeom>
        </p:spPr>
        <p:txBody>
          <a:bodyPr wrap="square" lIns="0" tIns="0" rIns="0" bIns="0" rtlCol="0" anchor="t">
            <a:spAutoFit/>
          </a:bodyPr>
          <a:lstStyle/>
          <a:p>
            <a:pPr algn="ctr">
              <a:lnSpc>
                <a:spcPts val="7000"/>
              </a:lnSpc>
              <a:spcBef>
                <a:spcPct val="0"/>
              </a:spcBef>
            </a:pPr>
            <a:r>
              <a:rPr lang="en-US" sz="5000" b="1" dirty="0" err="1">
                <a:solidFill>
                  <a:srgbClr val="000000"/>
                </a:solidFill>
                <a:latin typeface="ITC Avant Garde Gothic Bold"/>
                <a:ea typeface="ITC Avant Garde Gothic Bold"/>
                <a:cs typeface="ITC Avant Garde Gothic Bold"/>
                <a:sym typeface="ITC Avant Garde Gothic Bold"/>
              </a:rPr>
              <a:t>교착어</a:t>
            </a:r>
            <a:endParaRPr lang="en-US" sz="5000" b="1" dirty="0">
              <a:solidFill>
                <a:srgbClr val="000000"/>
              </a:solidFill>
              <a:latin typeface="ITC Avant Garde Gothic Bold"/>
              <a:ea typeface="ITC Avant Garde Gothic Bold"/>
              <a:cs typeface="ITC Avant Garde Gothic Bold"/>
              <a:sym typeface="ITC Avant Garde Gothic Bold"/>
            </a:endParaRPr>
          </a:p>
        </p:txBody>
      </p:sp>
      <p:sp>
        <p:nvSpPr>
          <p:cNvPr id="12" name="TextBox 12"/>
          <p:cNvSpPr txBox="1"/>
          <p:nvPr/>
        </p:nvSpPr>
        <p:spPr>
          <a:xfrm>
            <a:off x="11183466" y="439738"/>
            <a:ext cx="5047134" cy="858825"/>
          </a:xfrm>
          <a:prstGeom prst="rect">
            <a:avLst/>
          </a:prstGeom>
        </p:spPr>
        <p:txBody>
          <a:bodyPr wrap="square" lIns="0" tIns="0" rIns="0" bIns="0" rtlCol="0" anchor="t">
            <a:spAutoFit/>
          </a:bodyPr>
          <a:lstStyle/>
          <a:p>
            <a:pPr algn="ctr">
              <a:lnSpc>
                <a:spcPts val="7000"/>
              </a:lnSpc>
              <a:spcBef>
                <a:spcPct val="0"/>
              </a:spcBef>
            </a:pPr>
            <a:r>
              <a:rPr lang="en-US" sz="5000" b="1" dirty="0" err="1">
                <a:solidFill>
                  <a:srgbClr val="000000"/>
                </a:solidFill>
                <a:latin typeface="ITC Avant Garde Gothic Bold"/>
                <a:ea typeface="ITC Avant Garde Gothic Bold"/>
                <a:cs typeface="ITC Avant Garde Gothic Bold"/>
                <a:sym typeface="ITC Avant Garde Gothic Bold"/>
              </a:rPr>
              <a:t>굴절어</a:t>
            </a:r>
            <a:r>
              <a:rPr lang="en-US" sz="5000" b="1" dirty="0">
                <a:solidFill>
                  <a:srgbClr val="000000"/>
                </a:solidFill>
                <a:latin typeface="ITC Avant Garde Gothic Bold"/>
                <a:ea typeface="ITC Avant Garde Gothic Bold"/>
                <a:cs typeface="ITC Avant Garde Gothic Bold"/>
                <a:sym typeface="ITC Avant Garde Gothic Bold"/>
              </a:rPr>
              <a:t> / </a:t>
            </a:r>
            <a:r>
              <a:rPr lang="en-US" sz="5000" b="1" dirty="0" err="1">
                <a:solidFill>
                  <a:srgbClr val="000000"/>
                </a:solidFill>
                <a:latin typeface="ITC Avant Garde Gothic Bold"/>
                <a:ea typeface="ITC Avant Garde Gothic Bold"/>
                <a:cs typeface="ITC Avant Garde Gothic Bold"/>
                <a:sym typeface="ITC Avant Garde Gothic Bold"/>
              </a:rPr>
              <a:t>독립어</a:t>
            </a:r>
            <a:endParaRPr lang="en-US" sz="5000" b="1" dirty="0">
              <a:solidFill>
                <a:srgbClr val="000000"/>
              </a:solidFill>
              <a:latin typeface="ITC Avant Garde Gothic Bold"/>
              <a:ea typeface="ITC Avant Garde Gothic Bold"/>
              <a:cs typeface="ITC Avant Garde Gothic Bold"/>
              <a:sym typeface="ITC Avant Garde Gothic Bold"/>
            </a:endParaRPr>
          </a:p>
        </p:txBody>
      </p:sp>
      <p:sp>
        <p:nvSpPr>
          <p:cNvPr id="13" name="TextBox 13"/>
          <p:cNvSpPr txBox="1"/>
          <p:nvPr/>
        </p:nvSpPr>
        <p:spPr>
          <a:xfrm>
            <a:off x="11282809" y="1450519"/>
            <a:ext cx="4566791" cy="650756"/>
          </a:xfrm>
          <a:prstGeom prst="rect">
            <a:avLst/>
          </a:prstGeom>
        </p:spPr>
        <p:txBody>
          <a:bodyPr wrap="square" lIns="0" tIns="0" rIns="0" bIns="0" rtlCol="0" anchor="t">
            <a:spAutoFit/>
          </a:bodyPr>
          <a:lstStyle/>
          <a:p>
            <a:pPr algn="ctr">
              <a:lnSpc>
                <a:spcPts val="5320"/>
              </a:lnSpc>
              <a:spcBef>
                <a:spcPct val="0"/>
              </a:spcBef>
            </a:pPr>
            <a:r>
              <a:rPr lang="en-US" sz="3800" dirty="0" err="1">
                <a:solidFill>
                  <a:srgbClr val="000000"/>
                </a:solidFill>
                <a:latin typeface="ITC Avant Garde Gothic"/>
                <a:ea typeface="ITC Avant Garde Gothic"/>
                <a:cs typeface="ITC Avant Garde Gothic"/>
                <a:sym typeface="ITC Avant Garde Gothic"/>
              </a:rPr>
              <a:t>세계</a:t>
            </a:r>
            <a:r>
              <a:rPr lang="en-US" sz="3800" dirty="0">
                <a:solidFill>
                  <a:srgbClr val="000000"/>
                </a:solidFill>
                <a:latin typeface="ITC Avant Garde Gothic"/>
                <a:ea typeface="ITC Avant Garde Gothic"/>
                <a:cs typeface="ITC Avant Garde Gothic"/>
                <a:sym typeface="ITC Avant Garde Gothic"/>
              </a:rPr>
              <a:t> </a:t>
            </a:r>
            <a:r>
              <a:rPr lang="en-US" sz="3800" dirty="0" err="1">
                <a:solidFill>
                  <a:srgbClr val="000000"/>
                </a:solidFill>
                <a:latin typeface="ITC Avant Garde Gothic"/>
                <a:ea typeface="ITC Avant Garde Gothic"/>
                <a:cs typeface="ITC Avant Garde Gothic"/>
                <a:sym typeface="ITC Avant Garde Gothic"/>
              </a:rPr>
              <a:t>인구의</a:t>
            </a:r>
            <a:r>
              <a:rPr lang="en-US" sz="3800" dirty="0">
                <a:solidFill>
                  <a:srgbClr val="000000"/>
                </a:solidFill>
                <a:latin typeface="ITC Avant Garde Gothic"/>
                <a:ea typeface="ITC Avant Garde Gothic"/>
                <a:cs typeface="ITC Avant Garde Gothic"/>
                <a:sym typeface="ITC Avant Garde Gothic"/>
              </a:rPr>
              <a:t> </a:t>
            </a:r>
            <a:r>
              <a:rPr lang="en-US" sz="3800" dirty="0" err="1">
                <a:solidFill>
                  <a:srgbClr val="000000"/>
                </a:solidFill>
                <a:latin typeface="ITC Avant Garde Gothic"/>
                <a:ea typeface="ITC Avant Garde Gothic"/>
                <a:cs typeface="ITC Avant Garde Gothic"/>
                <a:sym typeface="ITC Avant Garde Gothic"/>
              </a:rPr>
              <a:t>약</a:t>
            </a:r>
            <a:r>
              <a:rPr lang="en-US" sz="3800" dirty="0">
                <a:solidFill>
                  <a:srgbClr val="000000"/>
                </a:solidFill>
                <a:latin typeface="ITC Avant Garde Gothic"/>
                <a:ea typeface="ITC Avant Garde Gothic"/>
                <a:cs typeface="ITC Avant Garde Gothic"/>
                <a:sym typeface="ITC Avant Garde Gothic"/>
              </a:rPr>
              <a:t> </a:t>
            </a:r>
            <a:r>
              <a:rPr lang="en-US" sz="3800" b="1" dirty="0">
                <a:solidFill>
                  <a:srgbClr val="E61030"/>
                </a:solidFill>
                <a:latin typeface="ITC Avant Garde Gothic Bold"/>
                <a:ea typeface="ITC Avant Garde Gothic Bold"/>
                <a:cs typeface="ITC Avant Garde Gothic Bold"/>
                <a:sym typeface="ITC Avant Garde Gothic Bold"/>
              </a:rPr>
              <a:t>70%</a:t>
            </a:r>
          </a:p>
        </p:txBody>
      </p:sp>
      <p:sp>
        <p:nvSpPr>
          <p:cNvPr id="14" name="TextBox 14"/>
          <p:cNvSpPr txBox="1"/>
          <p:nvPr/>
        </p:nvSpPr>
        <p:spPr>
          <a:xfrm>
            <a:off x="1761026" y="1450519"/>
            <a:ext cx="4566791" cy="650756"/>
          </a:xfrm>
          <a:prstGeom prst="rect">
            <a:avLst/>
          </a:prstGeom>
        </p:spPr>
        <p:txBody>
          <a:bodyPr wrap="square" lIns="0" tIns="0" rIns="0" bIns="0" rtlCol="0" anchor="t">
            <a:spAutoFit/>
          </a:bodyPr>
          <a:lstStyle/>
          <a:p>
            <a:pPr algn="ctr">
              <a:lnSpc>
                <a:spcPts val="5320"/>
              </a:lnSpc>
              <a:spcBef>
                <a:spcPct val="0"/>
              </a:spcBef>
            </a:pPr>
            <a:r>
              <a:rPr lang="en-US" sz="3800" dirty="0" err="1">
                <a:solidFill>
                  <a:srgbClr val="000000"/>
                </a:solidFill>
                <a:latin typeface="ITC Avant Garde Gothic"/>
                <a:ea typeface="ITC Avant Garde Gothic"/>
                <a:cs typeface="ITC Avant Garde Gothic"/>
                <a:sym typeface="ITC Avant Garde Gothic"/>
              </a:rPr>
              <a:t>세계</a:t>
            </a:r>
            <a:r>
              <a:rPr lang="en-US" sz="3800" dirty="0">
                <a:solidFill>
                  <a:srgbClr val="000000"/>
                </a:solidFill>
                <a:latin typeface="ITC Avant Garde Gothic"/>
                <a:ea typeface="ITC Avant Garde Gothic"/>
                <a:cs typeface="ITC Avant Garde Gothic"/>
                <a:sym typeface="ITC Avant Garde Gothic"/>
              </a:rPr>
              <a:t> </a:t>
            </a:r>
            <a:r>
              <a:rPr lang="en-US" sz="3800" dirty="0" err="1">
                <a:solidFill>
                  <a:srgbClr val="000000"/>
                </a:solidFill>
                <a:latin typeface="ITC Avant Garde Gothic"/>
                <a:ea typeface="ITC Avant Garde Gothic"/>
                <a:cs typeface="ITC Avant Garde Gothic"/>
                <a:sym typeface="ITC Avant Garde Gothic"/>
              </a:rPr>
              <a:t>인구의</a:t>
            </a:r>
            <a:r>
              <a:rPr lang="en-US" sz="3800" dirty="0">
                <a:solidFill>
                  <a:srgbClr val="000000"/>
                </a:solidFill>
                <a:latin typeface="ITC Avant Garde Gothic"/>
                <a:ea typeface="ITC Avant Garde Gothic"/>
                <a:cs typeface="ITC Avant Garde Gothic"/>
                <a:sym typeface="ITC Avant Garde Gothic"/>
              </a:rPr>
              <a:t> </a:t>
            </a:r>
            <a:r>
              <a:rPr lang="en-US" sz="3800" dirty="0" err="1">
                <a:solidFill>
                  <a:srgbClr val="000000"/>
                </a:solidFill>
                <a:latin typeface="ITC Avant Garde Gothic"/>
                <a:ea typeface="ITC Avant Garde Gothic"/>
                <a:cs typeface="ITC Avant Garde Gothic"/>
                <a:sym typeface="ITC Avant Garde Gothic"/>
              </a:rPr>
              <a:t>약</a:t>
            </a:r>
            <a:r>
              <a:rPr lang="en-US" sz="3800" dirty="0">
                <a:solidFill>
                  <a:srgbClr val="000000"/>
                </a:solidFill>
                <a:latin typeface="ITC Avant Garde Gothic"/>
                <a:ea typeface="ITC Avant Garde Gothic"/>
                <a:cs typeface="ITC Avant Garde Gothic"/>
                <a:sym typeface="ITC Avant Garde Gothic"/>
              </a:rPr>
              <a:t> 30%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6708" y="1189007"/>
            <a:ext cx="18453332" cy="9987866"/>
          </a:xfrm>
          <a:custGeom>
            <a:avLst/>
            <a:gdLst/>
            <a:ahLst/>
            <a:cxnLst/>
            <a:rect l="l" t="t" r="r" b="b"/>
            <a:pathLst>
              <a:path w="18453332" h="9987866">
                <a:moveTo>
                  <a:pt x="0" y="0"/>
                </a:moveTo>
                <a:lnTo>
                  <a:pt x="18453332" y="0"/>
                </a:lnTo>
                <a:lnTo>
                  <a:pt x="18453332" y="9987866"/>
                </a:lnTo>
                <a:lnTo>
                  <a:pt x="0" y="9987866"/>
                </a:lnTo>
                <a:lnTo>
                  <a:pt x="0" y="0"/>
                </a:lnTo>
                <a:close/>
              </a:path>
            </a:pathLst>
          </a:custGeom>
          <a:blipFill>
            <a:blip r:embed="rId2"/>
            <a:stretch>
              <a:fillRect/>
            </a:stretch>
          </a:blipFill>
        </p:spPr>
        <p:txBody>
          <a:bodyPr/>
          <a:lstStyle/>
          <a:p>
            <a:endParaRPr lang="ko-KR" altLang="en-US" dirty="0"/>
          </a:p>
        </p:txBody>
      </p:sp>
      <p:sp>
        <p:nvSpPr>
          <p:cNvPr id="3" name="TextBox 3"/>
          <p:cNvSpPr txBox="1"/>
          <p:nvPr/>
        </p:nvSpPr>
        <p:spPr>
          <a:xfrm>
            <a:off x="290066" y="495300"/>
            <a:ext cx="17707868" cy="686983"/>
          </a:xfrm>
          <a:prstGeom prst="rect">
            <a:avLst/>
          </a:prstGeom>
        </p:spPr>
        <p:txBody>
          <a:bodyPr wrap="square" lIns="0" tIns="0" rIns="0" bIns="0" rtlCol="0" anchor="t">
            <a:spAutoFit/>
          </a:bodyPr>
          <a:lstStyle/>
          <a:p>
            <a:pPr algn="ctr">
              <a:lnSpc>
                <a:spcPts val="5599"/>
              </a:lnSpc>
              <a:spcBef>
                <a:spcPct val="0"/>
              </a:spcBef>
            </a:pPr>
            <a:r>
              <a:rPr lang="en-US" sz="3999" b="1" dirty="0" err="1">
                <a:solidFill>
                  <a:srgbClr val="000000"/>
                </a:solidFill>
                <a:latin typeface="ITC Avant Garde Gothic Bold"/>
                <a:ea typeface="ITC Avant Garde Gothic Bold"/>
                <a:cs typeface="ITC Avant Garde Gothic Bold"/>
                <a:sym typeface="ITC Avant Garde Gothic Bold"/>
              </a:rPr>
              <a:t>미국</a:t>
            </a:r>
            <a:r>
              <a:rPr lang="en-US" sz="3999" b="1" dirty="0">
                <a:solidFill>
                  <a:srgbClr val="000000"/>
                </a:solidFill>
                <a:latin typeface="ITC Avant Garde Gothic Bold"/>
                <a:ea typeface="ITC Avant Garde Gothic Bold"/>
                <a:cs typeface="ITC Avant Garde Gothic Bold"/>
                <a:sym typeface="ITC Avant Garde Gothic Bold"/>
              </a:rPr>
              <a:t> </a:t>
            </a:r>
            <a:r>
              <a:rPr lang="en-US" sz="3999" b="1" dirty="0" err="1">
                <a:solidFill>
                  <a:srgbClr val="000000"/>
                </a:solidFill>
                <a:latin typeface="ITC Avant Garde Gothic Bold"/>
                <a:ea typeface="ITC Avant Garde Gothic Bold"/>
                <a:cs typeface="ITC Avant Garde Gothic Bold"/>
                <a:sym typeface="ITC Avant Garde Gothic Bold"/>
              </a:rPr>
              <a:t>외교관</a:t>
            </a:r>
            <a:r>
              <a:rPr lang="en-US" sz="3999" b="1" dirty="0">
                <a:solidFill>
                  <a:srgbClr val="000000"/>
                </a:solidFill>
                <a:latin typeface="ITC Avant Garde Gothic Bold"/>
                <a:ea typeface="ITC Avant Garde Gothic Bold"/>
                <a:cs typeface="ITC Avant Garde Gothic Bold"/>
                <a:sym typeface="ITC Avant Garde Gothic Bold"/>
              </a:rPr>
              <a:t> </a:t>
            </a:r>
            <a:r>
              <a:rPr lang="en-US" sz="3999" b="1" dirty="0" err="1">
                <a:solidFill>
                  <a:srgbClr val="000000"/>
                </a:solidFill>
                <a:latin typeface="ITC Avant Garde Gothic Bold"/>
                <a:ea typeface="ITC Avant Garde Gothic Bold"/>
                <a:cs typeface="ITC Avant Garde Gothic Bold"/>
                <a:sym typeface="ITC Avant Garde Gothic Bold"/>
              </a:rPr>
              <a:t>연수기관</a:t>
            </a:r>
            <a:r>
              <a:rPr lang="en-US" sz="3999" b="1" dirty="0">
                <a:solidFill>
                  <a:srgbClr val="000000"/>
                </a:solidFill>
                <a:latin typeface="ITC Avant Garde Gothic Bold"/>
                <a:ea typeface="ITC Avant Garde Gothic Bold"/>
                <a:cs typeface="ITC Avant Garde Gothic Bold"/>
                <a:sym typeface="ITC Avant Garde Gothic Bold"/>
              </a:rPr>
              <a:t>(FSI), </a:t>
            </a:r>
            <a:r>
              <a:rPr lang="en-US" sz="3999" b="1" dirty="0" err="1">
                <a:solidFill>
                  <a:srgbClr val="000000"/>
                </a:solidFill>
                <a:latin typeface="ITC Avant Garde Gothic Bold"/>
                <a:ea typeface="ITC Avant Garde Gothic Bold"/>
                <a:cs typeface="ITC Avant Garde Gothic Bold"/>
                <a:sym typeface="ITC Avant Garde Gothic Bold"/>
              </a:rPr>
              <a:t>세계</a:t>
            </a:r>
            <a:r>
              <a:rPr lang="en-US" sz="3999" b="1" dirty="0">
                <a:solidFill>
                  <a:srgbClr val="000000"/>
                </a:solidFill>
                <a:latin typeface="ITC Avant Garde Gothic Bold"/>
                <a:ea typeface="ITC Avant Garde Gothic Bold"/>
                <a:cs typeface="ITC Avant Garde Gothic Bold"/>
                <a:sym typeface="ITC Avant Garde Gothic Bold"/>
              </a:rPr>
              <a:t> 70개 </a:t>
            </a:r>
            <a:r>
              <a:rPr lang="en-US" sz="3999" b="1" dirty="0" err="1">
                <a:solidFill>
                  <a:srgbClr val="000000"/>
                </a:solidFill>
                <a:latin typeface="ITC Avant Garde Gothic Bold"/>
                <a:ea typeface="ITC Avant Garde Gothic Bold"/>
                <a:cs typeface="ITC Avant Garde Gothic Bold"/>
                <a:sym typeface="ITC Avant Garde Gothic Bold"/>
              </a:rPr>
              <a:t>언어를</a:t>
            </a:r>
            <a:r>
              <a:rPr lang="en-US" sz="3999" b="1" dirty="0">
                <a:solidFill>
                  <a:srgbClr val="000000"/>
                </a:solidFill>
                <a:latin typeface="ITC Avant Garde Gothic Bold"/>
                <a:ea typeface="ITC Avant Garde Gothic Bold"/>
                <a:cs typeface="ITC Avant Garde Gothic Bold"/>
                <a:sym typeface="ITC Avant Garde Gothic Bold"/>
              </a:rPr>
              <a:t> </a:t>
            </a:r>
            <a:r>
              <a:rPr lang="en-US" sz="3999" b="1" dirty="0" err="1">
                <a:solidFill>
                  <a:srgbClr val="000000"/>
                </a:solidFill>
                <a:latin typeface="ITC Avant Garde Gothic Bold"/>
                <a:ea typeface="ITC Avant Garde Gothic Bold"/>
                <a:cs typeface="ITC Avant Garde Gothic Bold"/>
                <a:sym typeface="ITC Avant Garde Gothic Bold"/>
              </a:rPr>
              <a:t>난이도에</a:t>
            </a:r>
            <a:r>
              <a:rPr lang="en-US" sz="3999" b="1" dirty="0">
                <a:solidFill>
                  <a:srgbClr val="000000"/>
                </a:solidFill>
                <a:latin typeface="ITC Avant Garde Gothic Bold"/>
                <a:ea typeface="ITC Avant Garde Gothic Bold"/>
                <a:cs typeface="ITC Avant Garde Gothic Bold"/>
                <a:sym typeface="ITC Avant Garde Gothic Bold"/>
              </a:rPr>
              <a:t> </a:t>
            </a:r>
            <a:r>
              <a:rPr lang="en-US" sz="3999" b="1" dirty="0" err="1">
                <a:solidFill>
                  <a:srgbClr val="000000"/>
                </a:solidFill>
                <a:latin typeface="ITC Avant Garde Gothic Bold"/>
                <a:ea typeface="ITC Avant Garde Gothic Bold"/>
                <a:cs typeface="ITC Avant Garde Gothic Bold"/>
                <a:sym typeface="ITC Avant Garde Gothic Bold"/>
              </a:rPr>
              <a:t>따라</a:t>
            </a:r>
            <a:r>
              <a:rPr lang="en-US" sz="3999" b="1" dirty="0">
                <a:solidFill>
                  <a:srgbClr val="000000"/>
                </a:solidFill>
                <a:latin typeface="ITC Avant Garde Gothic Bold"/>
                <a:ea typeface="ITC Avant Garde Gothic Bold"/>
                <a:cs typeface="ITC Avant Garde Gothic Bold"/>
                <a:sym typeface="ITC Avant Garde Gothic Bold"/>
              </a:rPr>
              <a:t> 1~5단계로 </a:t>
            </a:r>
            <a:r>
              <a:rPr lang="en-US" sz="3999" b="1" dirty="0" err="1">
                <a:solidFill>
                  <a:srgbClr val="000000"/>
                </a:solidFill>
                <a:latin typeface="ITC Avant Garde Gothic Bold"/>
                <a:ea typeface="ITC Avant Garde Gothic Bold"/>
                <a:cs typeface="ITC Avant Garde Gothic Bold"/>
                <a:sym typeface="ITC Avant Garde Gothic Bold"/>
              </a:rPr>
              <a:t>분류</a:t>
            </a:r>
            <a:endParaRPr lang="en-US" sz="3999" b="1" dirty="0">
              <a:solidFill>
                <a:srgbClr val="000000"/>
              </a:solidFill>
              <a:latin typeface="ITC Avant Garde Gothic Bold"/>
              <a:ea typeface="ITC Avant Garde Gothic Bold"/>
              <a:cs typeface="ITC Avant Garde Gothic Bold"/>
              <a:sym typeface="ITC Avant Garde Gothic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29480" y="1995254"/>
            <a:ext cx="12914359" cy="7880028"/>
          </a:xfrm>
          <a:custGeom>
            <a:avLst/>
            <a:gdLst/>
            <a:ahLst/>
            <a:cxnLst/>
            <a:rect l="l" t="t" r="r" b="b"/>
            <a:pathLst>
              <a:path w="12914359" h="7880028">
                <a:moveTo>
                  <a:pt x="0" y="0"/>
                </a:moveTo>
                <a:lnTo>
                  <a:pt x="12914358" y="0"/>
                </a:lnTo>
                <a:lnTo>
                  <a:pt x="12914358" y="7880029"/>
                </a:lnTo>
                <a:lnTo>
                  <a:pt x="0" y="7880029"/>
                </a:lnTo>
                <a:lnTo>
                  <a:pt x="0" y="0"/>
                </a:lnTo>
                <a:close/>
              </a:path>
            </a:pathLst>
          </a:custGeom>
          <a:blipFill>
            <a:blip r:embed="rId2"/>
            <a:stretch>
              <a:fillRect l="-33371"/>
            </a:stretch>
          </a:blipFill>
        </p:spPr>
        <p:txBody>
          <a:bodyPr/>
          <a:lstStyle/>
          <a:p>
            <a:endParaRPr lang="ko-KR" altLang="en-US"/>
          </a:p>
        </p:txBody>
      </p:sp>
      <p:sp>
        <p:nvSpPr>
          <p:cNvPr id="3" name="TextBox 3"/>
          <p:cNvSpPr txBox="1"/>
          <p:nvPr/>
        </p:nvSpPr>
        <p:spPr>
          <a:xfrm>
            <a:off x="4125107" y="419735"/>
            <a:ext cx="9667093" cy="908326"/>
          </a:xfrm>
          <a:prstGeom prst="rect">
            <a:avLst/>
          </a:prstGeom>
        </p:spPr>
        <p:txBody>
          <a:bodyPr wrap="square" lIns="0" tIns="0" rIns="0" bIns="0" rtlCol="0" anchor="t">
            <a:spAutoFit/>
          </a:bodyPr>
          <a:lstStyle/>
          <a:p>
            <a:pPr algn="ctr">
              <a:lnSpc>
                <a:spcPts val="7419"/>
              </a:lnSpc>
              <a:spcBef>
                <a:spcPct val="0"/>
              </a:spcBef>
            </a:pPr>
            <a:r>
              <a:rPr lang="en-US" sz="5299" b="1" dirty="0" err="1">
                <a:solidFill>
                  <a:srgbClr val="000000"/>
                </a:solidFill>
                <a:latin typeface="ITC Avant Garde Gothic Bold"/>
                <a:ea typeface="ITC Avant Garde Gothic Bold"/>
                <a:cs typeface="ITC Avant Garde Gothic Bold"/>
                <a:sym typeface="ITC Avant Garde Gothic Bold"/>
              </a:rPr>
              <a:t>세계</a:t>
            </a:r>
            <a:r>
              <a:rPr lang="en-US" sz="5299" b="1" dirty="0">
                <a:solidFill>
                  <a:srgbClr val="000000"/>
                </a:solidFill>
                <a:latin typeface="ITC Avant Garde Gothic Bold"/>
                <a:ea typeface="ITC Avant Garde Gothic Bold"/>
                <a:cs typeface="ITC Avant Garde Gothic Bold"/>
                <a:sym typeface="ITC Avant Garde Gothic Bold"/>
              </a:rPr>
              <a:t> 1위 </a:t>
            </a:r>
            <a:r>
              <a:rPr lang="en-US" sz="5299" b="1" dirty="0" err="1">
                <a:solidFill>
                  <a:srgbClr val="000000"/>
                </a:solidFill>
                <a:latin typeface="ITC Avant Garde Gothic Bold"/>
                <a:ea typeface="ITC Avant Garde Gothic Bold"/>
                <a:cs typeface="ITC Avant Garde Gothic Bold"/>
                <a:sym typeface="ITC Avant Garde Gothic Bold"/>
              </a:rPr>
              <a:t>앱도</a:t>
            </a:r>
            <a:r>
              <a:rPr lang="en-US" sz="5299" b="1" dirty="0">
                <a:solidFill>
                  <a:srgbClr val="000000"/>
                </a:solidFill>
                <a:latin typeface="ITC Avant Garde Gothic Bold"/>
                <a:ea typeface="ITC Avant Garde Gothic Bold"/>
                <a:cs typeface="ITC Avant Garde Gothic Bold"/>
                <a:sym typeface="ITC Avant Garde Gothic Bold"/>
              </a:rPr>
              <a:t> </a:t>
            </a:r>
            <a:r>
              <a:rPr lang="en-US" sz="5299" b="1" dirty="0" err="1">
                <a:solidFill>
                  <a:srgbClr val="000000"/>
                </a:solidFill>
                <a:latin typeface="ITC Avant Garde Gothic Bold"/>
                <a:ea typeface="ITC Avant Garde Gothic Bold"/>
                <a:cs typeface="ITC Avant Garde Gothic Bold"/>
                <a:sym typeface="ITC Avant Garde Gothic Bold"/>
              </a:rPr>
              <a:t>이게</a:t>
            </a:r>
            <a:r>
              <a:rPr lang="en-US" sz="5299" b="1" dirty="0">
                <a:solidFill>
                  <a:srgbClr val="000000"/>
                </a:solidFill>
                <a:latin typeface="ITC Avant Garde Gothic Bold"/>
                <a:ea typeface="ITC Avant Garde Gothic Bold"/>
                <a:cs typeface="ITC Avant Garde Gothic Bold"/>
                <a:sym typeface="ITC Avant Garde Gothic Bold"/>
              </a:rPr>
              <a:t> </a:t>
            </a:r>
            <a:r>
              <a:rPr lang="en-US" sz="5299" b="1" dirty="0" err="1">
                <a:solidFill>
                  <a:srgbClr val="000000"/>
                </a:solidFill>
                <a:latin typeface="ITC Avant Garde Gothic Bold"/>
                <a:ea typeface="ITC Avant Garde Gothic Bold"/>
                <a:cs typeface="ITC Avant Garde Gothic Bold"/>
                <a:sym typeface="ITC Avant Garde Gothic Bold"/>
              </a:rPr>
              <a:t>전부입니다</a:t>
            </a:r>
            <a:endParaRPr lang="en-US" sz="5299" b="1" dirty="0">
              <a:solidFill>
                <a:srgbClr val="000000"/>
              </a:solidFill>
              <a:latin typeface="ITC Avant Garde Gothic Bold"/>
              <a:ea typeface="ITC Avant Garde Gothic Bold"/>
              <a:cs typeface="ITC Avant Garde Gothic Bold"/>
              <a:sym typeface="ITC Avant Garde Gothic 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68157" y="352488"/>
            <a:ext cx="14551687" cy="1800771"/>
          </a:xfrm>
          <a:custGeom>
            <a:avLst/>
            <a:gdLst/>
            <a:ahLst/>
            <a:cxnLst/>
            <a:rect l="l" t="t" r="r" b="b"/>
            <a:pathLst>
              <a:path w="14551687" h="1800771">
                <a:moveTo>
                  <a:pt x="0" y="0"/>
                </a:moveTo>
                <a:lnTo>
                  <a:pt x="14551686" y="0"/>
                </a:lnTo>
                <a:lnTo>
                  <a:pt x="14551686" y="1800771"/>
                </a:lnTo>
                <a:lnTo>
                  <a:pt x="0" y="1800771"/>
                </a:lnTo>
                <a:lnTo>
                  <a:pt x="0" y="0"/>
                </a:lnTo>
                <a:close/>
              </a:path>
            </a:pathLst>
          </a:custGeom>
          <a:blipFill>
            <a:blip r:embed="rId2"/>
            <a:stretch>
              <a:fillRect/>
            </a:stretch>
          </a:blipFill>
        </p:spPr>
        <p:txBody>
          <a:bodyPr/>
          <a:lstStyle/>
          <a:p>
            <a:endParaRPr lang="ko-KR" altLang="en-US"/>
          </a:p>
        </p:txBody>
      </p:sp>
      <p:sp>
        <p:nvSpPr>
          <p:cNvPr id="3" name="Freeform 3"/>
          <p:cNvSpPr/>
          <p:nvPr/>
        </p:nvSpPr>
        <p:spPr>
          <a:xfrm>
            <a:off x="4084975" y="2019423"/>
            <a:ext cx="9554968" cy="5697150"/>
          </a:xfrm>
          <a:custGeom>
            <a:avLst/>
            <a:gdLst/>
            <a:ahLst/>
            <a:cxnLst/>
            <a:rect l="l" t="t" r="r" b="b"/>
            <a:pathLst>
              <a:path w="9554968" h="5697150">
                <a:moveTo>
                  <a:pt x="0" y="0"/>
                </a:moveTo>
                <a:lnTo>
                  <a:pt x="9554968" y="0"/>
                </a:lnTo>
                <a:lnTo>
                  <a:pt x="9554968" y="5697150"/>
                </a:lnTo>
                <a:lnTo>
                  <a:pt x="0" y="5697150"/>
                </a:lnTo>
                <a:lnTo>
                  <a:pt x="0" y="0"/>
                </a:lnTo>
                <a:close/>
              </a:path>
            </a:pathLst>
          </a:custGeom>
          <a:blipFill>
            <a:blip r:embed="rId3"/>
            <a:stretch>
              <a:fillRect/>
            </a:stretch>
          </a:blipFill>
        </p:spPr>
        <p:txBody>
          <a:bodyPr/>
          <a:lstStyle/>
          <a:p>
            <a:endParaRPr lang="ko-KR" altLang="en-US"/>
          </a:p>
        </p:txBody>
      </p:sp>
      <p:sp>
        <p:nvSpPr>
          <p:cNvPr id="4" name="TextBox 4"/>
          <p:cNvSpPr txBox="1"/>
          <p:nvPr/>
        </p:nvSpPr>
        <p:spPr>
          <a:xfrm>
            <a:off x="3419963" y="8120338"/>
            <a:ext cx="12048637" cy="1631409"/>
          </a:xfrm>
          <a:prstGeom prst="rect">
            <a:avLst/>
          </a:prstGeom>
        </p:spPr>
        <p:txBody>
          <a:bodyPr wrap="square" lIns="0" tIns="0" rIns="0" bIns="0" rtlCol="0" anchor="t">
            <a:spAutoFit/>
          </a:bodyPr>
          <a:lstStyle/>
          <a:p>
            <a:pPr algn="ctr">
              <a:lnSpc>
                <a:spcPts val="6516"/>
              </a:lnSpc>
              <a:spcBef>
                <a:spcPct val="0"/>
              </a:spcBef>
            </a:pPr>
            <a:r>
              <a:rPr lang="en-US" sz="4654" b="1" dirty="0" err="1">
                <a:solidFill>
                  <a:srgbClr val="137BFE"/>
                </a:solidFill>
                <a:latin typeface="ITC Avant Garde Gothic Bold"/>
                <a:ea typeface="ITC Avant Garde Gothic Bold"/>
                <a:cs typeface="ITC Avant Garde Gothic Bold"/>
                <a:sym typeface="ITC Avant Garde Gothic Bold"/>
              </a:rPr>
              <a:t>마루</a:t>
            </a:r>
            <a:r>
              <a:rPr lang="en-US" sz="4654" b="1" dirty="0" err="1">
                <a:solidFill>
                  <a:srgbClr val="000000"/>
                </a:solidFill>
                <a:latin typeface="ITC Avant Garde Gothic Bold"/>
                <a:ea typeface="ITC Avant Garde Gothic Bold"/>
                <a:cs typeface="ITC Avant Garde Gothic Bold"/>
                <a:sym typeface="ITC Avant Garde Gothic Bold"/>
              </a:rPr>
              <a:t>를</a:t>
            </a:r>
            <a:r>
              <a:rPr lang="en-US" sz="4654" b="1" dirty="0">
                <a:solidFill>
                  <a:srgbClr val="000000"/>
                </a:solidFill>
                <a:latin typeface="ITC Avant Garde Gothic Bold"/>
                <a:ea typeface="ITC Avant Garde Gothic Bold"/>
                <a:cs typeface="ITC Avant Garde Gothic Bold"/>
                <a:sym typeface="ITC Avant Garde Gothic Bold"/>
              </a:rPr>
              <a:t> </a:t>
            </a:r>
            <a:r>
              <a:rPr lang="en-US" sz="4654" b="1" dirty="0" err="1">
                <a:solidFill>
                  <a:srgbClr val="000000"/>
                </a:solidFill>
                <a:latin typeface="ITC Avant Garde Gothic Bold"/>
                <a:ea typeface="ITC Avant Garde Gothic Bold"/>
                <a:cs typeface="ITC Avant Garde Gothic Bold"/>
                <a:sym typeface="ITC Avant Garde Gothic Bold"/>
              </a:rPr>
              <a:t>통해</a:t>
            </a:r>
            <a:r>
              <a:rPr lang="en-US" sz="4654" b="1" dirty="0">
                <a:solidFill>
                  <a:srgbClr val="000000"/>
                </a:solidFill>
                <a:latin typeface="ITC Avant Garde Gothic Bold"/>
                <a:ea typeface="ITC Avant Garde Gothic Bold"/>
                <a:cs typeface="ITC Avant Garde Gothic Bold"/>
                <a:sym typeface="ITC Avant Garde Gothic Bold"/>
              </a:rPr>
              <a:t> </a:t>
            </a:r>
            <a:r>
              <a:rPr lang="en-US" sz="4654" b="1" dirty="0" err="1">
                <a:solidFill>
                  <a:srgbClr val="000000"/>
                </a:solidFill>
                <a:latin typeface="ITC Avant Garde Gothic Bold"/>
                <a:ea typeface="ITC Avant Garde Gothic Bold"/>
                <a:cs typeface="ITC Avant Garde Gothic Bold"/>
                <a:sym typeface="ITC Avant Garde Gothic Bold"/>
              </a:rPr>
              <a:t>한국어를</a:t>
            </a:r>
            <a:r>
              <a:rPr lang="en-US" sz="4654" b="1" dirty="0">
                <a:solidFill>
                  <a:srgbClr val="000000"/>
                </a:solidFill>
                <a:latin typeface="ITC Avant Garde Gothic Bold"/>
                <a:ea typeface="ITC Avant Garde Gothic Bold"/>
                <a:cs typeface="ITC Avant Garde Gothic Bold"/>
                <a:sym typeface="ITC Avant Garde Gothic Bold"/>
              </a:rPr>
              <a:t> </a:t>
            </a:r>
            <a:r>
              <a:rPr lang="en-US" sz="4654" b="1" dirty="0" err="1">
                <a:solidFill>
                  <a:srgbClr val="000000"/>
                </a:solidFill>
                <a:latin typeface="ITC Avant Garde Gothic Bold"/>
                <a:ea typeface="ITC Avant Garde Gothic Bold"/>
                <a:cs typeface="ITC Avant Garde Gothic Bold"/>
                <a:sym typeface="ITC Avant Garde Gothic Bold"/>
              </a:rPr>
              <a:t>배우는</a:t>
            </a:r>
            <a:r>
              <a:rPr lang="en-US" sz="4654" b="1" dirty="0">
                <a:solidFill>
                  <a:srgbClr val="000000"/>
                </a:solidFill>
                <a:latin typeface="ITC Avant Garde Gothic Bold"/>
                <a:ea typeface="ITC Avant Garde Gothic Bold"/>
                <a:cs typeface="ITC Avant Garde Gothic Bold"/>
                <a:sym typeface="ITC Avant Garde Gothic Bold"/>
              </a:rPr>
              <a:t> </a:t>
            </a:r>
            <a:r>
              <a:rPr lang="en-US" sz="4654" b="1" dirty="0" err="1">
                <a:solidFill>
                  <a:srgbClr val="000000"/>
                </a:solidFill>
                <a:latin typeface="ITC Avant Garde Gothic Bold"/>
                <a:ea typeface="ITC Avant Garde Gothic Bold"/>
                <a:cs typeface="ITC Avant Garde Gothic Bold"/>
                <a:sym typeface="ITC Avant Garde Gothic Bold"/>
              </a:rPr>
              <a:t>모든</a:t>
            </a:r>
            <a:r>
              <a:rPr lang="en-US" sz="4654" b="1" dirty="0">
                <a:solidFill>
                  <a:srgbClr val="000000"/>
                </a:solidFill>
                <a:latin typeface="ITC Avant Garde Gothic Bold"/>
                <a:ea typeface="ITC Avant Garde Gothic Bold"/>
                <a:cs typeface="ITC Avant Garde Gothic Bold"/>
                <a:sym typeface="ITC Avant Garde Gothic Bold"/>
              </a:rPr>
              <a:t> </a:t>
            </a:r>
            <a:r>
              <a:rPr lang="en-US" sz="4654" b="1" dirty="0" err="1">
                <a:solidFill>
                  <a:srgbClr val="000000"/>
                </a:solidFill>
                <a:latin typeface="ITC Avant Garde Gothic Bold"/>
                <a:ea typeface="ITC Avant Garde Gothic Bold"/>
                <a:cs typeface="ITC Avant Garde Gothic Bold"/>
                <a:sym typeface="ITC Avant Garde Gothic Bold"/>
              </a:rPr>
              <a:t>학습자가</a:t>
            </a:r>
            <a:r>
              <a:rPr lang="en-US" sz="4654" b="1" dirty="0">
                <a:solidFill>
                  <a:srgbClr val="000000"/>
                </a:solidFill>
                <a:latin typeface="ITC Avant Garde Gothic Bold"/>
                <a:ea typeface="ITC Avant Garde Gothic Bold"/>
                <a:cs typeface="ITC Avant Garde Gothic Bold"/>
                <a:sym typeface="ITC Avant Garde Gothic Bold"/>
              </a:rPr>
              <a:t> </a:t>
            </a:r>
          </a:p>
          <a:p>
            <a:pPr algn="ctr">
              <a:lnSpc>
                <a:spcPts val="6516"/>
              </a:lnSpc>
              <a:spcBef>
                <a:spcPct val="0"/>
              </a:spcBef>
            </a:pPr>
            <a:r>
              <a:rPr lang="en-US" sz="4654" b="1" dirty="0" err="1">
                <a:solidFill>
                  <a:srgbClr val="000000"/>
                </a:solidFill>
                <a:latin typeface="ITC Avant Garde Gothic Bold"/>
                <a:ea typeface="ITC Avant Garde Gothic Bold"/>
                <a:cs typeface="ITC Avant Garde Gothic Bold"/>
                <a:sym typeface="ITC Avant Garde Gothic Bold"/>
              </a:rPr>
              <a:t>자신만의</a:t>
            </a:r>
            <a:r>
              <a:rPr lang="en-US" sz="4654" b="1" dirty="0">
                <a:solidFill>
                  <a:srgbClr val="000000"/>
                </a:solidFill>
                <a:latin typeface="ITC Avant Garde Gothic Bold"/>
                <a:ea typeface="ITC Avant Garde Gothic Bold"/>
                <a:cs typeface="ITC Avant Garde Gothic Bold"/>
                <a:sym typeface="ITC Avant Garde Gothic Bold"/>
              </a:rPr>
              <a:t> </a:t>
            </a:r>
            <a:r>
              <a:rPr lang="en-US" sz="4654" b="1" dirty="0" err="1">
                <a:solidFill>
                  <a:srgbClr val="E61030"/>
                </a:solidFill>
                <a:latin typeface="ITC Avant Garde Gothic Bold"/>
                <a:ea typeface="ITC Avant Garde Gothic Bold"/>
                <a:cs typeface="ITC Avant Garde Gothic Bold"/>
                <a:sym typeface="ITC Avant Garde Gothic Bold"/>
              </a:rPr>
              <a:t>마루</a:t>
            </a:r>
            <a:r>
              <a:rPr lang="en-US" sz="4654" b="1" dirty="0">
                <a:solidFill>
                  <a:srgbClr val="000000"/>
                </a:solidFill>
                <a:latin typeface="ITC Avant Garde Gothic Bold"/>
                <a:ea typeface="ITC Avant Garde Gothic Bold"/>
                <a:cs typeface="ITC Avant Garde Gothic Bold"/>
                <a:sym typeface="ITC Avant Garde Gothic Bold"/>
              </a:rPr>
              <a:t>(</a:t>
            </a:r>
            <a:r>
              <a:rPr lang="en-US" sz="4654" b="1" dirty="0" err="1">
                <a:solidFill>
                  <a:srgbClr val="000000"/>
                </a:solidFill>
                <a:latin typeface="ITC Avant Garde Gothic Bold"/>
                <a:ea typeface="ITC Avant Garde Gothic Bold"/>
                <a:cs typeface="ITC Avant Garde Gothic Bold"/>
                <a:sym typeface="ITC Avant Garde Gothic Bold"/>
              </a:rPr>
              <a:t>정상</a:t>
            </a:r>
            <a:r>
              <a:rPr lang="en-US" sz="4654" b="1" dirty="0">
                <a:solidFill>
                  <a:srgbClr val="000000"/>
                </a:solidFill>
                <a:latin typeface="ITC Avant Garde Gothic Bold"/>
                <a:ea typeface="ITC Avant Garde Gothic Bold"/>
                <a:cs typeface="ITC Avant Garde Gothic Bold"/>
                <a:sym typeface="ITC Avant Garde Gothic Bold"/>
              </a:rPr>
              <a:t>)</a:t>
            </a:r>
            <a:r>
              <a:rPr lang="en-US" sz="4654" b="1" dirty="0" err="1">
                <a:solidFill>
                  <a:srgbClr val="000000"/>
                </a:solidFill>
                <a:latin typeface="ITC Avant Garde Gothic Bold"/>
                <a:ea typeface="ITC Avant Garde Gothic Bold"/>
                <a:cs typeface="ITC Avant Garde Gothic Bold"/>
                <a:sym typeface="ITC Avant Garde Gothic Bold"/>
              </a:rPr>
              <a:t>에</a:t>
            </a:r>
            <a:r>
              <a:rPr lang="en-US" sz="4654" b="1" dirty="0">
                <a:solidFill>
                  <a:srgbClr val="000000"/>
                </a:solidFill>
                <a:latin typeface="ITC Avant Garde Gothic Bold"/>
                <a:ea typeface="ITC Avant Garde Gothic Bold"/>
                <a:cs typeface="ITC Avant Garde Gothic Bold"/>
                <a:sym typeface="ITC Avant Garde Gothic Bold"/>
              </a:rPr>
              <a:t> </a:t>
            </a:r>
            <a:r>
              <a:rPr lang="en-US" sz="4654" b="1" dirty="0" err="1">
                <a:solidFill>
                  <a:srgbClr val="000000"/>
                </a:solidFill>
                <a:latin typeface="ITC Avant Garde Gothic Bold"/>
                <a:ea typeface="ITC Avant Garde Gothic Bold"/>
                <a:cs typeface="ITC Avant Garde Gothic Bold"/>
                <a:sym typeface="ITC Avant Garde Gothic Bold"/>
              </a:rPr>
              <a:t>오를</a:t>
            </a:r>
            <a:r>
              <a:rPr lang="en-US" sz="4654" b="1" dirty="0">
                <a:solidFill>
                  <a:srgbClr val="000000"/>
                </a:solidFill>
                <a:latin typeface="ITC Avant Garde Gothic Bold"/>
                <a:ea typeface="ITC Avant Garde Gothic Bold"/>
                <a:cs typeface="ITC Avant Garde Gothic Bold"/>
                <a:sym typeface="ITC Avant Garde Gothic Bold"/>
              </a:rPr>
              <a:t> </a:t>
            </a:r>
            <a:r>
              <a:rPr lang="en-US" sz="4654" b="1" dirty="0" err="1">
                <a:solidFill>
                  <a:srgbClr val="000000"/>
                </a:solidFill>
                <a:latin typeface="ITC Avant Garde Gothic Bold"/>
                <a:ea typeface="ITC Avant Garde Gothic Bold"/>
                <a:cs typeface="ITC Avant Garde Gothic Bold"/>
                <a:sym typeface="ITC Avant Garde Gothic Bold"/>
              </a:rPr>
              <a:t>수</a:t>
            </a:r>
            <a:r>
              <a:rPr lang="en-US" sz="4654" b="1" dirty="0">
                <a:solidFill>
                  <a:srgbClr val="000000"/>
                </a:solidFill>
                <a:latin typeface="ITC Avant Garde Gothic Bold"/>
                <a:ea typeface="ITC Avant Garde Gothic Bold"/>
                <a:cs typeface="ITC Avant Garde Gothic Bold"/>
                <a:sym typeface="ITC Avant Garde Gothic Bold"/>
              </a:rPr>
              <a:t> </a:t>
            </a:r>
            <a:r>
              <a:rPr lang="en-US" sz="4654" b="1" dirty="0" err="1">
                <a:solidFill>
                  <a:srgbClr val="000000"/>
                </a:solidFill>
                <a:latin typeface="ITC Avant Garde Gothic Bold"/>
                <a:ea typeface="ITC Avant Garde Gothic Bold"/>
                <a:cs typeface="ITC Avant Garde Gothic Bold"/>
                <a:sym typeface="ITC Avant Garde Gothic Bold"/>
              </a:rPr>
              <a:t>있도록</a:t>
            </a:r>
            <a:endParaRPr lang="en-US" sz="4654" b="1" dirty="0">
              <a:solidFill>
                <a:srgbClr val="000000"/>
              </a:solidFill>
              <a:latin typeface="ITC Avant Garde Gothic Bold"/>
              <a:ea typeface="ITC Avant Garde Gothic Bold"/>
              <a:cs typeface="ITC Avant Garde Gothic Bold"/>
              <a:sym typeface="ITC Avant Garde Gothic 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76069" y="1028700"/>
            <a:ext cx="15192611" cy="987520"/>
          </a:xfrm>
          <a:custGeom>
            <a:avLst/>
            <a:gdLst/>
            <a:ahLst/>
            <a:cxnLst/>
            <a:rect l="l" t="t" r="r" b="b"/>
            <a:pathLst>
              <a:path w="15192611" h="987520">
                <a:moveTo>
                  <a:pt x="0" y="0"/>
                </a:moveTo>
                <a:lnTo>
                  <a:pt x="15192611" y="0"/>
                </a:lnTo>
                <a:lnTo>
                  <a:pt x="15192611" y="987520"/>
                </a:lnTo>
                <a:lnTo>
                  <a:pt x="0" y="987520"/>
                </a:lnTo>
                <a:lnTo>
                  <a:pt x="0" y="0"/>
                </a:lnTo>
                <a:close/>
              </a:path>
            </a:pathLst>
          </a:custGeom>
          <a:blipFill>
            <a:blip r:embed="rId2"/>
            <a:stretch>
              <a:fillRect/>
            </a:stretch>
          </a:blipFill>
        </p:spPr>
        <p:txBody>
          <a:bodyPr/>
          <a:lstStyle/>
          <a:p>
            <a:endParaRPr lang="ko-KR" altLang="en-US"/>
          </a:p>
        </p:txBody>
      </p:sp>
      <p:sp>
        <p:nvSpPr>
          <p:cNvPr id="3" name="Freeform 3"/>
          <p:cNvSpPr/>
          <p:nvPr/>
        </p:nvSpPr>
        <p:spPr>
          <a:xfrm>
            <a:off x="560916" y="3020056"/>
            <a:ext cx="7952811" cy="4334282"/>
          </a:xfrm>
          <a:custGeom>
            <a:avLst/>
            <a:gdLst/>
            <a:ahLst/>
            <a:cxnLst/>
            <a:rect l="l" t="t" r="r" b="b"/>
            <a:pathLst>
              <a:path w="7952811" h="4334282">
                <a:moveTo>
                  <a:pt x="0" y="0"/>
                </a:moveTo>
                <a:lnTo>
                  <a:pt x="7952811" y="0"/>
                </a:lnTo>
                <a:lnTo>
                  <a:pt x="7952811" y="4334282"/>
                </a:lnTo>
                <a:lnTo>
                  <a:pt x="0" y="4334282"/>
                </a:lnTo>
                <a:lnTo>
                  <a:pt x="0" y="0"/>
                </a:lnTo>
                <a:close/>
              </a:path>
            </a:pathLst>
          </a:custGeom>
          <a:blipFill>
            <a:blip r:embed="rId3"/>
            <a:stretch>
              <a:fillRect/>
            </a:stretch>
          </a:blipFill>
        </p:spPr>
        <p:txBody>
          <a:bodyPr/>
          <a:lstStyle/>
          <a:p>
            <a:endParaRPr lang="ko-KR" altLang="en-US"/>
          </a:p>
        </p:txBody>
      </p:sp>
      <p:sp>
        <p:nvSpPr>
          <p:cNvPr id="4" name="Freeform 4"/>
          <p:cNvSpPr/>
          <p:nvPr/>
        </p:nvSpPr>
        <p:spPr>
          <a:xfrm>
            <a:off x="9620454" y="3020056"/>
            <a:ext cx="7952811" cy="4334282"/>
          </a:xfrm>
          <a:custGeom>
            <a:avLst/>
            <a:gdLst/>
            <a:ahLst/>
            <a:cxnLst/>
            <a:rect l="l" t="t" r="r" b="b"/>
            <a:pathLst>
              <a:path w="7952811" h="4334282">
                <a:moveTo>
                  <a:pt x="0" y="0"/>
                </a:moveTo>
                <a:lnTo>
                  <a:pt x="7952811" y="0"/>
                </a:lnTo>
                <a:lnTo>
                  <a:pt x="7952811" y="4334282"/>
                </a:lnTo>
                <a:lnTo>
                  <a:pt x="0" y="4334282"/>
                </a:lnTo>
                <a:lnTo>
                  <a:pt x="0" y="0"/>
                </a:lnTo>
                <a:close/>
              </a:path>
            </a:pathLst>
          </a:custGeom>
          <a:blipFill>
            <a:blip r:embed="rId4"/>
            <a:stretch>
              <a:fillRect/>
            </a:stretch>
          </a:blipFill>
        </p:spPr>
        <p:txBody>
          <a:bodyPr/>
          <a:lstStyle/>
          <a:p>
            <a:endParaRPr lang="ko-KR" altLang="en-US"/>
          </a:p>
        </p:txBody>
      </p:sp>
      <p:sp>
        <p:nvSpPr>
          <p:cNvPr id="5" name="TextBox 5"/>
          <p:cNvSpPr txBox="1"/>
          <p:nvPr/>
        </p:nvSpPr>
        <p:spPr>
          <a:xfrm>
            <a:off x="-381000" y="7886700"/>
            <a:ext cx="19698957" cy="1584729"/>
          </a:xfrm>
          <a:prstGeom prst="rect">
            <a:avLst/>
          </a:prstGeom>
        </p:spPr>
        <p:txBody>
          <a:bodyPr wrap="square" lIns="0" tIns="0" rIns="0" bIns="0" rtlCol="0" anchor="t">
            <a:spAutoFit/>
          </a:bodyPr>
          <a:lstStyle/>
          <a:p>
            <a:pPr algn="ctr">
              <a:lnSpc>
                <a:spcPts val="6361"/>
              </a:lnSpc>
              <a:spcBef>
                <a:spcPct val="0"/>
              </a:spcBef>
            </a:pPr>
            <a:r>
              <a:rPr lang="en-US" sz="4000" b="1" dirty="0" err="1">
                <a:solidFill>
                  <a:srgbClr val="000000"/>
                </a:solidFill>
                <a:latin typeface="ITC Avant Garde Gothic Bold"/>
                <a:ea typeface="ITC Avant Garde Gothic Bold"/>
                <a:cs typeface="ITC Avant Garde Gothic Bold"/>
                <a:sym typeface="ITC Avant Garde Gothic Bold"/>
              </a:rPr>
              <a:t>그리고</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예로부터</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E61030"/>
                </a:solidFill>
                <a:latin typeface="ITC Avant Garde Gothic Bold"/>
                <a:ea typeface="ITC Avant Garde Gothic Bold"/>
                <a:cs typeface="ITC Avant Garde Gothic Bold"/>
                <a:sym typeface="ITC Avant Garde Gothic Bold"/>
              </a:rPr>
              <a:t>마루</a:t>
            </a:r>
            <a:r>
              <a:rPr lang="en-US" sz="4000" b="1" dirty="0" err="1">
                <a:solidFill>
                  <a:srgbClr val="000000"/>
                </a:solidFill>
                <a:latin typeface="ITC Avant Garde Gothic Bold"/>
                <a:ea typeface="ITC Avant Garde Gothic Bold"/>
                <a:cs typeface="ITC Avant Garde Gothic Bold"/>
                <a:sym typeface="ITC Avant Garde Gothic Bold"/>
              </a:rPr>
              <a:t>가</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사람들이</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모이는</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공간이었듯</a:t>
            </a:r>
            <a:r>
              <a:rPr lang="en-US" sz="4000" b="1" dirty="0">
                <a:solidFill>
                  <a:srgbClr val="000000"/>
                </a:solidFill>
                <a:latin typeface="ITC Avant Garde Gothic Bold"/>
                <a:ea typeface="ITC Avant Garde Gothic Bold"/>
                <a:cs typeface="ITC Avant Garde Gothic Bold"/>
                <a:sym typeface="ITC Avant Garde Gothic Bold"/>
              </a:rPr>
              <a:t>, </a:t>
            </a:r>
          </a:p>
          <a:p>
            <a:pPr algn="ctr">
              <a:lnSpc>
                <a:spcPts val="6361"/>
              </a:lnSpc>
              <a:spcBef>
                <a:spcPct val="0"/>
              </a:spcBef>
            </a:pPr>
            <a:r>
              <a:rPr lang="en-US" sz="4000" b="1" dirty="0" err="1">
                <a:solidFill>
                  <a:srgbClr val="000000"/>
                </a:solidFill>
                <a:latin typeface="ITC Avant Garde Gothic Bold"/>
                <a:ea typeface="ITC Avant Garde Gothic Bold"/>
                <a:cs typeface="ITC Avant Garde Gothic Bold"/>
                <a:sym typeface="ITC Avant Garde Gothic Bold"/>
              </a:rPr>
              <a:t>한국어를</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배우고</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싶은</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전</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세계의</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외국인들이</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모여드는</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137BFE"/>
                </a:solidFill>
                <a:latin typeface="ITC Avant Garde Gothic Bold"/>
                <a:ea typeface="ITC Avant Garde Gothic Bold"/>
                <a:cs typeface="ITC Avant Garde Gothic Bold"/>
                <a:sym typeface="ITC Avant Garde Gothic Bold"/>
              </a:rPr>
              <a:t>마루</a:t>
            </a:r>
            <a:r>
              <a:rPr lang="en-US" sz="4000" b="1" dirty="0" err="1">
                <a:solidFill>
                  <a:srgbClr val="000000"/>
                </a:solidFill>
                <a:latin typeface="ITC Avant Garde Gothic Bold"/>
                <a:ea typeface="ITC Avant Garde Gothic Bold"/>
                <a:cs typeface="ITC Avant Garde Gothic Bold"/>
                <a:sym typeface="ITC Avant Garde Gothic Bold"/>
              </a:rPr>
              <a:t>가</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될</a:t>
            </a:r>
            <a:r>
              <a:rPr lang="en-US" sz="4000" b="1" dirty="0">
                <a:solidFill>
                  <a:srgbClr val="000000"/>
                </a:solidFill>
                <a:latin typeface="ITC Avant Garde Gothic Bold"/>
                <a:ea typeface="ITC Avant Garde Gothic Bold"/>
                <a:cs typeface="ITC Avant Garde Gothic Bold"/>
                <a:sym typeface="ITC Avant Garde Gothic Bold"/>
              </a:rPr>
              <a:t> </a:t>
            </a:r>
            <a:r>
              <a:rPr lang="en-US" sz="4000" b="1" dirty="0" err="1">
                <a:solidFill>
                  <a:srgbClr val="000000"/>
                </a:solidFill>
                <a:latin typeface="ITC Avant Garde Gothic Bold"/>
                <a:ea typeface="ITC Avant Garde Gothic Bold"/>
                <a:cs typeface="ITC Avant Garde Gothic Bold"/>
                <a:sym typeface="ITC Avant Garde Gothic Bold"/>
              </a:rPr>
              <a:t>것입니다</a:t>
            </a:r>
            <a:r>
              <a:rPr lang="en-US" sz="4000" b="1" dirty="0">
                <a:solidFill>
                  <a:srgbClr val="000000"/>
                </a:solidFill>
                <a:latin typeface="ITC Avant Garde Gothic Bold"/>
                <a:ea typeface="ITC Avant Garde Gothic Bold"/>
                <a:cs typeface="ITC Avant Garde Gothic Bold"/>
                <a:sym typeface="ITC Avant Garde Gothic Bold"/>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5908" y="285859"/>
            <a:ext cx="11722813" cy="9715281"/>
          </a:xfrm>
          <a:custGeom>
            <a:avLst/>
            <a:gdLst/>
            <a:ahLst/>
            <a:cxnLst/>
            <a:rect l="l" t="t" r="r" b="b"/>
            <a:pathLst>
              <a:path w="11722813" h="9715281">
                <a:moveTo>
                  <a:pt x="0" y="0"/>
                </a:moveTo>
                <a:lnTo>
                  <a:pt x="11722813" y="0"/>
                </a:lnTo>
                <a:lnTo>
                  <a:pt x="11722813" y="9715282"/>
                </a:lnTo>
                <a:lnTo>
                  <a:pt x="0" y="9715282"/>
                </a:lnTo>
                <a:lnTo>
                  <a:pt x="0" y="0"/>
                </a:lnTo>
                <a:close/>
              </a:path>
            </a:pathLst>
          </a:custGeom>
          <a:blipFill>
            <a:blip r:embed="rId2"/>
            <a:stretch>
              <a:fillRect/>
            </a:stretch>
          </a:blipFill>
        </p:spPr>
        <p:txBody>
          <a:bodyPr/>
          <a:lstStyle/>
          <a:p>
            <a:endParaRPr lang="ko-KR" altLang="en-US"/>
          </a:p>
        </p:txBody>
      </p:sp>
      <p:sp>
        <p:nvSpPr>
          <p:cNvPr id="3" name="TextBox 3"/>
          <p:cNvSpPr txBox="1"/>
          <p:nvPr/>
        </p:nvSpPr>
        <p:spPr>
          <a:xfrm>
            <a:off x="10946342" y="4040665"/>
            <a:ext cx="6274857" cy="1668470"/>
          </a:xfrm>
          <a:prstGeom prst="rect">
            <a:avLst/>
          </a:prstGeom>
        </p:spPr>
        <p:txBody>
          <a:bodyPr wrap="square" lIns="0" tIns="0" rIns="0" bIns="0" rtlCol="0" anchor="t">
            <a:spAutoFit/>
          </a:bodyPr>
          <a:lstStyle/>
          <a:p>
            <a:pPr algn="ctr">
              <a:lnSpc>
                <a:spcPts val="13599"/>
              </a:lnSpc>
              <a:spcBef>
                <a:spcPct val="0"/>
              </a:spcBef>
            </a:pPr>
            <a:r>
              <a:rPr lang="en-US" sz="9713" b="1" dirty="0" err="1">
                <a:solidFill>
                  <a:srgbClr val="000000"/>
                </a:solidFill>
                <a:latin typeface="ITC Avant Garde Gothic Bold"/>
                <a:ea typeface="ITC Avant Garde Gothic Bold"/>
                <a:cs typeface="ITC Avant Garde Gothic Bold"/>
                <a:sym typeface="ITC Avant Garde Gothic Bold"/>
              </a:rPr>
              <a:t>감사합니다</a:t>
            </a:r>
            <a:endParaRPr lang="en-US" sz="9713" b="1" dirty="0">
              <a:solidFill>
                <a:srgbClr val="000000"/>
              </a:solidFill>
              <a:latin typeface="ITC Avant Garde Gothic Bold"/>
              <a:ea typeface="ITC Avant Garde Gothic Bold"/>
              <a:cs typeface="ITC Avant Garde Gothic Bold"/>
              <a:sym typeface="ITC Avant Garde Gothic Bold"/>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16459200" cy="914400"/>
          </a:xfrm>
          <a:prstGeom prst="rect">
            <a:avLst/>
          </a:prstGeom>
          <a:noFill/>
        </p:spPr>
        <p:txBody>
          <a:bodyPr wrap="square" anchor="t" lIns="0" rIns="0" tIns="0" bIns="0">
            <a:spAutoFit/>
          </a:bodyPr>
          <a:lstStyle/>
          <a:p>
            <a:pPr algn="ctr"/>
            <a:r>
              <a:rPr sz="5200" b="1" i="0">
                <a:solidFill>
                  <a:srgbClr val="000000"/>
                </a:solidFill>
                <a:latin typeface="맑은 고딕"/>
                <a:ea typeface="맑은 고딕"/>
                <a:cs typeface="맑은 고딕"/>
              </a:rPr>
              <a:t>MARU = 한국어의 구조를 체험하는 앱</a:t>
            </a:r>
          </a:p>
        </p:txBody>
      </p:sp>
      <p:sp>
        <p:nvSpPr>
          <p:cNvPr id="3" name="Rounded Rectangle 2"/>
          <p:cNvSpPr/>
          <p:nvPr/>
        </p:nvSpPr>
        <p:spPr>
          <a:xfrm>
            <a:off x="594360" y="1600200"/>
            <a:ext cx="4069080" cy="8321040"/>
          </a:xfrm>
          <a:prstGeom prst="roundRect">
            <a:avLst>
              <a:gd name="adj" fmla="val 7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783080"/>
            <a:ext cx="914400" cy="914400"/>
          </a:xfrm>
          <a:prstGeom prst="rect">
            <a:avLst/>
          </a:prstGeom>
          <a:noFill/>
        </p:spPr>
        <p:txBody>
          <a:bodyPr wrap="square" anchor="ctr" lIns="0" rIns="0" tIns="0" bIns="0">
            <a:spAutoFit/>
          </a:bodyPr>
          <a:lstStyle/>
          <a:p>
            <a:pPr algn="l"/>
            <a:r>
              <a:rPr sz="6000" b="1" i="0">
                <a:solidFill>
                  <a:srgbClr val="6B4EFF"/>
                </a:solidFill>
                <a:latin typeface="맑은 고딕"/>
                <a:ea typeface="맑은 고딕"/>
                <a:cs typeface="맑은 고딕"/>
              </a:rPr>
              <a:t>M</a:t>
            </a:r>
          </a:p>
        </p:txBody>
      </p:sp>
      <p:sp>
        <p:nvSpPr>
          <p:cNvPr id="5" name="TextBox 4"/>
          <p:cNvSpPr txBox="1"/>
          <p:nvPr/>
        </p:nvSpPr>
        <p:spPr>
          <a:xfrm>
            <a:off x="1737360" y="1783080"/>
            <a:ext cx="2788920" cy="914400"/>
          </a:xfrm>
          <a:prstGeom prst="rect">
            <a:avLst/>
          </a:prstGeom>
          <a:noFill/>
        </p:spPr>
        <p:txBody>
          <a:bodyPr wrap="square" anchor="ctr" lIns="0" rIns="0" tIns="0" bIns="0">
            <a:spAutoFit/>
          </a:bodyPr>
          <a:lstStyle/>
          <a:p>
            <a:pPr algn="l"/>
            <a:r>
              <a:rPr sz="2600" b="1" i="0">
                <a:solidFill>
                  <a:srgbClr val="2B1D5C"/>
                </a:solidFill>
                <a:latin typeface="맑은 고딕"/>
                <a:ea typeface="맑은 고딕"/>
                <a:cs typeface="맑은 고딕"/>
              </a:rPr>
              <a:t>Morpheme 레슨</a:t>
            </a:r>
          </a:p>
        </p:txBody>
      </p:sp>
      <p:sp>
        <p:nvSpPr>
          <p:cNvPr id="6" name="Rounded Rectangle 5"/>
          <p:cNvSpPr/>
          <p:nvPr/>
        </p:nvSpPr>
        <p:spPr>
          <a:xfrm>
            <a:off x="1591170" y="2798064"/>
            <a:ext cx="2075459" cy="4325112"/>
          </a:xfrm>
          <a:prstGeom prst="roundRect">
            <a:avLst>
              <a:gd name="adj" fmla="val 9000"/>
            </a:avLst>
          </a:prstGeom>
          <a:solidFill>
            <a:srgbClr val="2B1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esson.jpg"/>
          <p:cNvPicPr>
            <a:picLocks noChangeAspect="1"/>
          </p:cNvPicPr>
          <p:nvPr/>
        </p:nvPicPr>
        <p:blipFill>
          <a:blip r:embed="rId2"/>
          <a:stretch>
            <a:fillRect/>
          </a:stretch>
        </p:blipFill>
        <p:spPr>
          <a:xfrm>
            <a:off x="1673466" y="2880360"/>
            <a:ext cx="1910867" cy="4160520"/>
          </a:xfrm>
          <a:prstGeom prst="roundRect">
            <a:avLst>
              <a:gd name="adj" fmla="val 6000"/>
            </a:avLst>
          </a:prstGeom>
        </p:spPr>
      </p:pic>
      <p:sp>
        <p:nvSpPr>
          <p:cNvPr id="8" name="TextBox 7"/>
          <p:cNvSpPr txBox="1"/>
          <p:nvPr/>
        </p:nvSpPr>
        <p:spPr>
          <a:xfrm>
            <a:off x="868680" y="7315200"/>
            <a:ext cx="3520440" cy="1783080"/>
          </a:xfrm>
          <a:prstGeom prst="rect">
            <a:avLst/>
          </a:prstGeom>
          <a:noFill/>
        </p:spPr>
        <p:txBody>
          <a:bodyPr wrap="square" anchor="t" lIns="0" rIns="0" tIns="0" bIns="0">
            <a:spAutoFit/>
          </a:bodyPr>
          <a:lstStyle/>
          <a:p>
            <a:pPr algn="l">
              <a:spcAft>
                <a:spcPts val="600"/>
              </a:spcAft>
            </a:pPr>
            <a:r>
              <a:rPr sz="1700" b="1" i="0">
                <a:solidFill>
                  <a:srgbClr val="6B4EFF"/>
                </a:solidFill>
                <a:latin typeface="맑은 고딕"/>
                <a:ea typeface="맑은 고딕"/>
                <a:cs typeface="맑은 고딕"/>
              </a:rPr>
              <a:t>토끼</a:t>
            </a:r>
            <a:r>
              <a:rPr sz="1700" b="0" i="0">
                <a:solidFill>
                  <a:srgbClr val="1A1A1A"/>
                </a:solidFill>
                <a:latin typeface="맑은 고딕"/>
                <a:ea typeface="맑은 고딕"/>
                <a:cs typeface="맑은 고딕"/>
              </a:rPr>
              <a:t> 단계: 의미 덩어리로 문장 조립</a:t>
            </a:r>
          </a:p>
          <a:p>
            <a:pPr algn="l">
              <a:spcAft>
                <a:spcPts val="600"/>
              </a:spcAft>
            </a:pPr>
            <a:r>
              <a:rPr sz="1700" b="1" i="0">
                <a:solidFill>
                  <a:srgbClr val="1E9E7E"/>
                </a:solidFill>
                <a:latin typeface="맑은 고딕"/>
                <a:ea typeface="맑은 고딕"/>
                <a:cs typeface="맑은 고딕"/>
              </a:rPr>
              <a:t>거북이</a:t>
            </a:r>
            <a:r>
              <a:rPr sz="1700" b="0" i="0">
                <a:solidFill>
                  <a:srgbClr val="1A1A1A"/>
                </a:solidFill>
                <a:latin typeface="맑은 고딕"/>
                <a:ea typeface="맑은 고딕"/>
                <a:cs typeface="맑은 고딕"/>
              </a:rPr>
              <a:t> 단계: </a:t>
            </a:r>
            <a:r>
              <a:rPr sz="1700" b="1" i="0">
                <a:solidFill>
                  <a:srgbClr val="1A1A1A"/>
                </a:solidFill>
                <a:latin typeface="맑은 고딕"/>
                <a:ea typeface="맑은 고딕"/>
                <a:cs typeface="맑은 고딕"/>
              </a:rPr>
              <a:t>레슨 목표 문법만</a:t>
            </a:r>
            <a:r>
              <a:rPr sz="1700" b="0" i="0">
                <a:solidFill>
                  <a:srgbClr val="1A1A1A"/>
                </a:solidFill>
                <a:latin typeface="맑은 고딕"/>
                <a:ea typeface="맑은 고딕"/>
                <a:cs typeface="맑은 고딕"/>
              </a:rPr>
              <a:t> 형태소로 분해</a:t>
            </a:r>
          </a:p>
        </p:txBody>
      </p:sp>
      <p:sp>
        <p:nvSpPr>
          <p:cNvPr id="9" name="TextBox 8"/>
          <p:cNvSpPr txBox="1"/>
          <p:nvPr/>
        </p:nvSpPr>
        <p:spPr>
          <a:xfrm>
            <a:off x="868680" y="9189720"/>
            <a:ext cx="3520440" cy="457200"/>
          </a:xfrm>
          <a:prstGeom prst="rect">
            <a:avLst/>
          </a:prstGeom>
          <a:noFill/>
        </p:spPr>
        <p:txBody>
          <a:bodyPr wrap="square" anchor="t" lIns="0" rIns="0" tIns="0" bIns="0">
            <a:spAutoFit/>
          </a:bodyPr>
          <a:lstStyle/>
          <a:p>
            <a:pPr algn="l"/>
            <a:r>
              <a:rPr sz="1500" b="1" i="0">
                <a:solidFill>
                  <a:srgbClr val="6B4EFF"/>
                </a:solidFill>
                <a:latin typeface="맑은 고딕"/>
                <a:ea typeface="맑은 고딕"/>
                <a:cs typeface="맑은 고딕"/>
              </a:rPr>
              <a:t>한글 12레슨 + 문법 3레슨</a:t>
            </a:r>
          </a:p>
        </p:txBody>
      </p:sp>
      <p:sp>
        <p:nvSpPr>
          <p:cNvPr id="10" name="Rounded Rectangle 9"/>
          <p:cNvSpPr/>
          <p:nvPr/>
        </p:nvSpPr>
        <p:spPr>
          <a:xfrm>
            <a:off x="4983480" y="1600200"/>
            <a:ext cx="4069080" cy="8321040"/>
          </a:xfrm>
          <a:prstGeom prst="roundRect">
            <a:avLst>
              <a:gd name="adj" fmla="val 7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03520" y="1783080"/>
            <a:ext cx="914400" cy="914400"/>
          </a:xfrm>
          <a:prstGeom prst="rect">
            <a:avLst/>
          </a:prstGeom>
          <a:noFill/>
        </p:spPr>
        <p:txBody>
          <a:bodyPr wrap="square" anchor="ctr" lIns="0" rIns="0" tIns="0" bIns="0">
            <a:spAutoFit/>
          </a:bodyPr>
          <a:lstStyle/>
          <a:p>
            <a:pPr algn="l"/>
            <a:r>
              <a:rPr sz="6000" b="1" i="0">
                <a:solidFill>
                  <a:srgbClr val="1E9E7E"/>
                </a:solidFill>
                <a:latin typeface="맑은 고딕"/>
                <a:ea typeface="맑은 고딕"/>
                <a:cs typeface="맑은 고딕"/>
              </a:rPr>
              <a:t>A</a:t>
            </a:r>
          </a:p>
        </p:txBody>
      </p:sp>
      <p:sp>
        <p:nvSpPr>
          <p:cNvPr id="12" name="TextBox 11"/>
          <p:cNvSpPr txBox="1"/>
          <p:nvPr/>
        </p:nvSpPr>
        <p:spPr>
          <a:xfrm>
            <a:off x="6126480" y="1783080"/>
            <a:ext cx="2788920" cy="914400"/>
          </a:xfrm>
          <a:prstGeom prst="rect">
            <a:avLst/>
          </a:prstGeom>
          <a:noFill/>
        </p:spPr>
        <p:txBody>
          <a:bodyPr wrap="square" anchor="ctr" lIns="0" rIns="0" tIns="0" bIns="0">
            <a:spAutoFit/>
          </a:bodyPr>
          <a:lstStyle/>
          <a:p>
            <a:pPr algn="l"/>
            <a:r>
              <a:rPr sz="2600" b="1" i="0">
                <a:solidFill>
                  <a:srgbClr val="2B1D5C"/>
                </a:solidFill>
                <a:latin typeface="맑은 고딕"/>
                <a:ea typeface="맑은 고딕"/>
                <a:cs typeface="맑은 고딕"/>
              </a:rPr>
              <a:t>Adaptive 단어</a:t>
            </a:r>
          </a:p>
        </p:txBody>
      </p:sp>
      <p:sp>
        <p:nvSpPr>
          <p:cNvPr id="13" name="Rounded Rectangle 12"/>
          <p:cNvSpPr/>
          <p:nvPr/>
        </p:nvSpPr>
        <p:spPr>
          <a:xfrm>
            <a:off x="5978804" y="2798064"/>
            <a:ext cx="2078431" cy="4325112"/>
          </a:xfrm>
          <a:prstGeom prst="roundRect">
            <a:avLst>
              <a:gd name="adj" fmla="val 9000"/>
            </a:avLst>
          </a:prstGeom>
          <a:solidFill>
            <a:srgbClr val="2B1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vocab.jpg"/>
          <p:cNvPicPr>
            <a:picLocks noChangeAspect="1"/>
          </p:cNvPicPr>
          <p:nvPr/>
        </p:nvPicPr>
        <p:blipFill>
          <a:blip r:embed="rId3"/>
          <a:stretch>
            <a:fillRect/>
          </a:stretch>
        </p:blipFill>
        <p:spPr>
          <a:xfrm>
            <a:off x="6061100" y="2880360"/>
            <a:ext cx="1913839" cy="4160520"/>
          </a:xfrm>
          <a:prstGeom prst="roundRect">
            <a:avLst>
              <a:gd name="adj" fmla="val 6000"/>
            </a:avLst>
          </a:prstGeom>
        </p:spPr>
      </p:pic>
      <p:sp>
        <p:nvSpPr>
          <p:cNvPr id="15" name="TextBox 14"/>
          <p:cNvSpPr txBox="1"/>
          <p:nvPr/>
        </p:nvSpPr>
        <p:spPr>
          <a:xfrm>
            <a:off x="5257800" y="7315200"/>
            <a:ext cx="3520440" cy="1783080"/>
          </a:xfrm>
          <a:prstGeom prst="rect">
            <a:avLst/>
          </a:prstGeom>
          <a:noFill/>
        </p:spPr>
        <p:txBody>
          <a:bodyPr wrap="square" anchor="t" lIns="0" rIns="0" tIns="0" bIns="0">
            <a:spAutoFit/>
          </a:bodyPr>
          <a:lstStyle/>
          <a:p>
            <a:pPr algn="l">
              <a:spcAft>
                <a:spcPts val="600"/>
              </a:spcAft>
            </a:pPr>
            <a:r>
              <a:rPr sz="1700" b="1" i="0">
                <a:solidFill>
                  <a:srgbClr val="1A1A1A"/>
                </a:solidFill>
                <a:latin typeface="맑은 고딕"/>
                <a:ea typeface="맑은 고딕"/>
                <a:cs typeface="맑은 고딕"/>
              </a:rPr>
              <a:t>FSRS-4.5</a:t>
            </a:r>
            <a:r>
              <a:rPr sz="1700" b="0" i="0">
                <a:solidFill>
                  <a:srgbClr val="1A1A1A"/>
                </a:solidFill>
                <a:latin typeface="맑은 고딕"/>
                <a:ea typeface="맑은 고딕"/>
                <a:cs typeface="맑은 고딕"/>
              </a:rPr>
              <a:t> 표준 공식으로 단어별 다음 복습일 계산</a:t>
            </a:r>
          </a:p>
          <a:p>
            <a:pPr algn="l">
              <a:spcAft>
                <a:spcPts val="600"/>
              </a:spcAft>
            </a:pPr>
            <a:r>
              <a:rPr sz="1700" b="0" i="0">
                <a:solidFill>
                  <a:srgbClr val="1A1A1A"/>
                </a:solidFill>
                <a:latin typeface="맑은 고딕"/>
                <a:ea typeface="맑은 고딕"/>
                <a:cs typeface="맑은 고딕"/>
              </a:rPr>
              <a:t>오늘의 복습 = 기한이 된 단어만</a:t>
            </a:r>
          </a:p>
        </p:txBody>
      </p:sp>
      <p:sp>
        <p:nvSpPr>
          <p:cNvPr id="16" name="TextBox 15"/>
          <p:cNvSpPr txBox="1"/>
          <p:nvPr/>
        </p:nvSpPr>
        <p:spPr>
          <a:xfrm>
            <a:off x="5257800" y="9189720"/>
            <a:ext cx="3520440" cy="457200"/>
          </a:xfrm>
          <a:prstGeom prst="rect">
            <a:avLst/>
          </a:prstGeom>
          <a:noFill/>
        </p:spPr>
        <p:txBody>
          <a:bodyPr wrap="square" anchor="t" lIns="0" rIns="0" tIns="0" bIns="0">
            <a:spAutoFit/>
          </a:bodyPr>
          <a:lstStyle/>
          <a:p>
            <a:pPr algn="l"/>
            <a:r>
              <a:rPr sz="1500" b="1" i="0">
                <a:solidFill>
                  <a:srgbClr val="1E9E7E"/>
                </a:solidFill>
                <a:latin typeface="맑은 고딕"/>
                <a:ea typeface="맑은 고딕"/>
                <a:cs typeface="맑은 고딕"/>
              </a:rPr>
              <a:t>5,561단어 · 14개 주제 덱</a:t>
            </a:r>
          </a:p>
        </p:txBody>
      </p:sp>
      <p:sp>
        <p:nvSpPr>
          <p:cNvPr id="17" name="Rounded Rectangle 16"/>
          <p:cNvSpPr/>
          <p:nvPr/>
        </p:nvSpPr>
        <p:spPr>
          <a:xfrm>
            <a:off x="9372600" y="1600200"/>
            <a:ext cx="4069080" cy="8321040"/>
          </a:xfrm>
          <a:prstGeom prst="roundRect">
            <a:avLst>
              <a:gd name="adj" fmla="val 7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692640" y="1783080"/>
            <a:ext cx="914400" cy="914400"/>
          </a:xfrm>
          <a:prstGeom prst="rect">
            <a:avLst/>
          </a:prstGeom>
          <a:noFill/>
        </p:spPr>
        <p:txBody>
          <a:bodyPr wrap="square" anchor="ctr" lIns="0" rIns="0" tIns="0" bIns="0">
            <a:spAutoFit/>
          </a:bodyPr>
          <a:lstStyle/>
          <a:p>
            <a:pPr algn="l"/>
            <a:r>
              <a:rPr sz="6000" b="1" i="0">
                <a:solidFill>
                  <a:srgbClr val="E0457B"/>
                </a:solidFill>
                <a:latin typeface="맑은 고딕"/>
                <a:ea typeface="맑은 고딕"/>
                <a:cs typeface="맑은 고딕"/>
              </a:rPr>
              <a:t>R</a:t>
            </a:r>
          </a:p>
        </p:txBody>
      </p:sp>
      <p:sp>
        <p:nvSpPr>
          <p:cNvPr id="19" name="TextBox 18"/>
          <p:cNvSpPr txBox="1"/>
          <p:nvPr/>
        </p:nvSpPr>
        <p:spPr>
          <a:xfrm>
            <a:off x="10515600" y="1783080"/>
            <a:ext cx="2788920" cy="914400"/>
          </a:xfrm>
          <a:prstGeom prst="rect">
            <a:avLst/>
          </a:prstGeom>
          <a:noFill/>
        </p:spPr>
        <p:txBody>
          <a:bodyPr wrap="square" anchor="ctr" lIns="0" rIns="0" tIns="0" bIns="0">
            <a:spAutoFit/>
          </a:bodyPr>
          <a:lstStyle/>
          <a:p>
            <a:pPr algn="l"/>
            <a:r>
              <a:rPr sz="2600" b="1" i="0">
                <a:solidFill>
                  <a:srgbClr val="2B1D5C"/>
                </a:solidFill>
                <a:latin typeface="맑은 고딕"/>
                <a:ea typeface="맑은 고딕"/>
                <a:cs typeface="맑은 고딕"/>
              </a:rPr>
              <a:t>Roleplay 미션</a:t>
            </a:r>
          </a:p>
        </p:txBody>
      </p:sp>
      <p:sp>
        <p:nvSpPr>
          <p:cNvPr id="20" name="Rounded Rectangle 19"/>
          <p:cNvSpPr/>
          <p:nvPr/>
        </p:nvSpPr>
        <p:spPr>
          <a:xfrm>
            <a:off x="10367924" y="2798064"/>
            <a:ext cx="2078431" cy="4325112"/>
          </a:xfrm>
          <a:prstGeom prst="roundRect">
            <a:avLst>
              <a:gd name="adj" fmla="val 9000"/>
            </a:avLst>
          </a:prstGeom>
          <a:solidFill>
            <a:srgbClr val="2B1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mission.jpg"/>
          <p:cNvPicPr>
            <a:picLocks noChangeAspect="1"/>
          </p:cNvPicPr>
          <p:nvPr/>
        </p:nvPicPr>
        <p:blipFill>
          <a:blip r:embed="rId4"/>
          <a:stretch>
            <a:fillRect/>
          </a:stretch>
        </p:blipFill>
        <p:spPr>
          <a:xfrm>
            <a:off x="10450220" y="2880360"/>
            <a:ext cx="1913839" cy="4160520"/>
          </a:xfrm>
          <a:prstGeom prst="roundRect">
            <a:avLst>
              <a:gd name="adj" fmla="val 6000"/>
            </a:avLst>
          </a:prstGeom>
        </p:spPr>
      </p:pic>
      <p:sp>
        <p:nvSpPr>
          <p:cNvPr id="22" name="TextBox 21"/>
          <p:cNvSpPr txBox="1"/>
          <p:nvPr/>
        </p:nvSpPr>
        <p:spPr>
          <a:xfrm>
            <a:off x="9646920" y="7315200"/>
            <a:ext cx="3520440" cy="1783080"/>
          </a:xfrm>
          <a:prstGeom prst="rect">
            <a:avLst/>
          </a:prstGeom>
          <a:noFill/>
        </p:spPr>
        <p:txBody>
          <a:bodyPr wrap="square" anchor="t" lIns="0" rIns="0" tIns="0" bIns="0">
            <a:spAutoFit/>
          </a:bodyPr>
          <a:lstStyle/>
          <a:p>
            <a:pPr algn="l">
              <a:spcAft>
                <a:spcPts val="600"/>
              </a:spcAft>
            </a:pPr>
            <a:r>
              <a:rPr sz="1700" b="0" i="0">
                <a:solidFill>
                  <a:srgbClr val="1A1A1A"/>
                </a:solidFill>
                <a:latin typeface="맑은 고딕"/>
                <a:ea typeface="맑은 고딕"/>
                <a:cs typeface="맑은 고딕"/>
              </a:rPr>
              <a:t>토끼가 역할로 </a:t>
            </a:r>
            <a:r>
              <a:rPr sz="1700" b="1" i="0">
                <a:solidFill>
                  <a:srgbClr val="1A1A1A"/>
                </a:solidFill>
                <a:latin typeface="맑은 고딕"/>
                <a:ea typeface="맑은 고딕"/>
                <a:cs typeface="맑은 고딕"/>
              </a:rPr>
              <a:t>변신</a:t>
            </a:r>
            <a:r>
              <a:rPr sz="1700" b="0" i="0">
                <a:solidFill>
                  <a:srgbClr val="1A1A1A"/>
                </a:solidFill>
                <a:latin typeface="맑은 고딕"/>
                <a:ea typeface="맑은 고딕"/>
                <a:cs typeface="맑은 고딕"/>
              </a:rPr>
              <a:t>해 대화</a:t>
            </a:r>
          </a:p>
          <a:p>
            <a:pPr algn="l">
              <a:spcAft>
                <a:spcPts val="600"/>
              </a:spcAft>
            </a:pPr>
            <a:r>
              <a:rPr sz="1700" b="0" i="0">
                <a:solidFill>
                  <a:srgbClr val="1A1A1A"/>
                </a:solidFill>
                <a:latin typeface="맑은 고딕"/>
                <a:ea typeface="맑은 고딕"/>
                <a:cs typeface="맑은 고딕"/>
              </a:rPr>
              <a:t>거북이가 </a:t>
            </a:r>
            <a:r>
              <a:rPr sz="1700" b="1" i="0">
                <a:solidFill>
                  <a:srgbClr val="1A1A1A"/>
                </a:solidFill>
                <a:latin typeface="맑은 고딕"/>
                <a:ea typeface="맑은 고딕"/>
                <a:cs typeface="맑은 고딕"/>
              </a:rPr>
              <a:t>레드/옐로카드</a:t>
            </a:r>
            <a:r>
              <a:rPr sz="1700" b="0" i="0">
                <a:solidFill>
                  <a:srgbClr val="1A1A1A"/>
                </a:solidFill>
                <a:latin typeface="맑은 고딕"/>
                <a:ea typeface="맑은 고딕"/>
                <a:cs typeface="맑은 고딕"/>
              </a:rPr>
              <a:t>로 교정, AI 코치가 목표 달성 판정</a:t>
            </a:r>
          </a:p>
        </p:txBody>
      </p:sp>
      <p:sp>
        <p:nvSpPr>
          <p:cNvPr id="23" name="TextBox 22"/>
          <p:cNvSpPr txBox="1"/>
          <p:nvPr/>
        </p:nvSpPr>
        <p:spPr>
          <a:xfrm>
            <a:off x="9646920" y="9189720"/>
            <a:ext cx="3520440" cy="457200"/>
          </a:xfrm>
          <a:prstGeom prst="rect">
            <a:avLst/>
          </a:prstGeom>
          <a:noFill/>
        </p:spPr>
        <p:txBody>
          <a:bodyPr wrap="square" anchor="t" lIns="0" rIns="0" tIns="0" bIns="0">
            <a:spAutoFit/>
          </a:bodyPr>
          <a:lstStyle/>
          <a:p>
            <a:pPr algn="l"/>
            <a:r>
              <a:rPr sz="1500" b="1" i="0">
                <a:solidFill>
                  <a:srgbClr val="E0457B"/>
                </a:solidFill>
                <a:latin typeface="맑은 고딕"/>
                <a:ea typeface="맑은 고딕"/>
                <a:cs typeface="맑은 고딕"/>
              </a:rPr>
              <a:t>한 턴 약 1.5~2초</a:t>
            </a:r>
          </a:p>
        </p:txBody>
      </p:sp>
      <p:sp>
        <p:nvSpPr>
          <p:cNvPr id="24" name="Rounded Rectangle 23"/>
          <p:cNvSpPr/>
          <p:nvPr/>
        </p:nvSpPr>
        <p:spPr>
          <a:xfrm>
            <a:off x="13761719" y="1600200"/>
            <a:ext cx="4069080" cy="8321040"/>
          </a:xfrm>
          <a:prstGeom prst="roundRect">
            <a:avLst>
              <a:gd name="adj" fmla="val 7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4081759" y="1783080"/>
            <a:ext cx="914400" cy="914400"/>
          </a:xfrm>
          <a:prstGeom prst="rect">
            <a:avLst/>
          </a:prstGeom>
          <a:noFill/>
        </p:spPr>
        <p:txBody>
          <a:bodyPr wrap="square" anchor="ctr" lIns="0" rIns="0" tIns="0" bIns="0">
            <a:spAutoFit/>
          </a:bodyPr>
          <a:lstStyle/>
          <a:p>
            <a:pPr algn="l"/>
            <a:r>
              <a:rPr sz="6000" b="1" i="0">
                <a:solidFill>
                  <a:srgbClr val="D99A00"/>
                </a:solidFill>
                <a:latin typeface="맑은 고딕"/>
                <a:ea typeface="맑은 고딕"/>
                <a:cs typeface="맑은 고딕"/>
              </a:rPr>
              <a:t>U</a:t>
            </a:r>
          </a:p>
        </p:txBody>
      </p:sp>
      <p:sp>
        <p:nvSpPr>
          <p:cNvPr id="26" name="TextBox 25"/>
          <p:cNvSpPr txBox="1"/>
          <p:nvPr/>
        </p:nvSpPr>
        <p:spPr>
          <a:xfrm>
            <a:off x="14904719" y="1783080"/>
            <a:ext cx="2788920" cy="914400"/>
          </a:xfrm>
          <a:prstGeom prst="rect">
            <a:avLst/>
          </a:prstGeom>
          <a:noFill/>
        </p:spPr>
        <p:txBody>
          <a:bodyPr wrap="square" anchor="ctr" lIns="0" rIns="0" tIns="0" bIns="0">
            <a:spAutoFit/>
          </a:bodyPr>
          <a:lstStyle/>
          <a:p>
            <a:pPr algn="l"/>
            <a:r>
              <a:rPr sz="2600" b="1" i="0">
                <a:solidFill>
                  <a:srgbClr val="2B1D5C"/>
                </a:solidFill>
                <a:latin typeface="맑은 고딕"/>
                <a:ea typeface="맑은 고딕"/>
                <a:cs typeface="맑은 고딕"/>
              </a:rPr>
              <a:t>Upgrade 실험실</a:t>
            </a:r>
          </a:p>
        </p:txBody>
      </p:sp>
      <p:sp>
        <p:nvSpPr>
          <p:cNvPr id="27" name="Rounded Rectangle 26"/>
          <p:cNvSpPr/>
          <p:nvPr/>
        </p:nvSpPr>
        <p:spPr>
          <a:xfrm>
            <a:off x="14758530" y="2798064"/>
            <a:ext cx="2075459" cy="4325112"/>
          </a:xfrm>
          <a:prstGeom prst="roundRect">
            <a:avLst>
              <a:gd name="adj" fmla="val 9000"/>
            </a:avLst>
          </a:prstGeom>
          <a:solidFill>
            <a:srgbClr val="2B1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ab.jpg"/>
          <p:cNvPicPr>
            <a:picLocks noChangeAspect="1"/>
          </p:cNvPicPr>
          <p:nvPr/>
        </p:nvPicPr>
        <p:blipFill>
          <a:blip r:embed="rId5"/>
          <a:stretch>
            <a:fillRect/>
          </a:stretch>
        </p:blipFill>
        <p:spPr>
          <a:xfrm>
            <a:off x="14840826" y="2880360"/>
            <a:ext cx="1910867" cy="4160520"/>
          </a:xfrm>
          <a:prstGeom prst="roundRect">
            <a:avLst>
              <a:gd name="adj" fmla="val 6000"/>
            </a:avLst>
          </a:prstGeom>
        </p:spPr>
      </p:pic>
      <p:sp>
        <p:nvSpPr>
          <p:cNvPr id="29" name="TextBox 28"/>
          <p:cNvSpPr txBox="1"/>
          <p:nvPr/>
        </p:nvSpPr>
        <p:spPr>
          <a:xfrm>
            <a:off x="14036040" y="7315200"/>
            <a:ext cx="3520440" cy="1783080"/>
          </a:xfrm>
          <a:prstGeom prst="rect">
            <a:avLst/>
          </a:prstGeom>
          <a:noFill/>
        </p:spPr>
        <p:txBody>
          <a:bodyPr wrap="square" anchor="t" lIns="0" rIns="0" tIns="0" bIns="0">
            <a:spAutoFit/>
          </a:bodyPr>
          <a:lstStyle/>
          <a:p>
            <a:pPr algn="l">
              <a:spcAft>
                <a:spcPts val="600"/>
              </a:spcAft>
            </a:pPr>
            <a:r>
              <a:rPr sz="1700" b="1" i="0">
                <a:solidFill>
                  <a:srgbClr val="1A1A1A"/>
                </a:solidFill>
                <a:latin typeface="맑은 고딕"/>
                <a:ea typeface="맑은 고딕"/>
                <a:cs typeface="맑은 고딕"/>
              </a:rPr>
              <a:t>한글 자모 조합</a:t>
            </a:r>
            <a:r>
              <a:rPr sz="1700" b="0" i="0">
                <a:solidFill>
                  <a:srgbClr val="1A1A1A"/>
                </a:solidFill>
                <a:latin typeface="맑은 고딕"/>
                <a:ea typeface="맑은 고딕"/>
                <a:cs typeface="맑은 고딕"/>
              </a:rPr>
              <a:t> — 소리와 글자</a:t>
            </a:r>
          </a:p>
          <a:p>
            <a:pPr algn="l">
              <a:spcAft>
                <a:spcPts val="600"/>
              </a:spcAft>
            </a:pPr>
            <a:r>
              <a:rPr sz="1700" b="1" i="0">
                <a:solidFill>
                  <a:srgbClr val="1A1A1A"/>
                </a:solidFill>
                <a:latin typeface="맑은 고딕"/>
                <a:ea typeface="맑은 고딕"/>
                <a:cs typeface="맑은 고딕"/>
              </a:rPr>
              <a:t>AI 문법 변형</a:t>
            </a:r>
            <a:r>
              <a:rPr sz="1700" b="0" i="0">
                <a:solidFill>
                  <a:srgbClr val="1A1A1A"/>
                </a:solidFill>
                <a:latin typeface="맑은 고딕"/>
                <a:ea typeface="맑은 고딕"/>
                <a:cs typeface="맑은 고딕"/>
              </a:rPr>
              <a:t> — 시제·존댓말·부정</a:t>
            </a:r>
          </a:p>
        </p:txBody>
      </p:sp>
      <p:sp>
        <p:nvSpPr>
          <p:cNvPr id="30" name="TextBox 29"/>
          <p:cNvSpPr txBox="1"/>
          <p:nvPr/>
        </p:nvSpPr>
        <p:spPr>
          <a:xfrm>
            <a:off x="14036040" y="9189720"/>
            <a:ext cx="3520440" cy="457200"/>
          </a:xfrm>
          <a:prstGeom prst="rect">
            <a:avLst/>
          </a:prstGeom>
          <a:noFill/>
        </p:spPr>
        <p:txBody>
          <a:bodyPr wrap="square" anchor="t" lIns="0" rIns="0" tIns="0" bIns="0">
            <a:spAutoFit/>
          </a:bodyPr>
          <a:lstStyle/>
          <a:p>
            <a:pPr algn="l"/>
            <a:r>
              <a:rPr sz="1500" b="1" i="0">
                <a:solidFill>
                  <a:srgbClr val="D99A00"/>
                </a:solidFill>
                <a:latin typeface="맑은 고딕"/>
                <a:ea typeface="맑은 고딕"/>
                <a:cs typeface="맑은 고딕"/>
              </a:rPr>
              <a:t>같은 요청은 DB 캐시로 즉시 응답</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16459200" cy="914400"/>
          </a:xfrm>
          <a:prstGeom prst="rect">
            <a:avLst/>
          </a:prstGeom>
          <a:noFill/>
        </p:spPr>
        <p:txBody>
          <a:bodyPr wrap="square" anchor="t" lIns="0" rIns="0" tIns="0" bIns="0">
            <a:spAutoFit/>
          </a:bodyPr>
          <a:lstStyle/>
          <a:p>
            <a:pPr algn="ctr"/>
            <a:r>
              <a:rPr sz="5200" b="1" i="0">
                <a:solidFill>
                  <a:srgbClr val="000000"/>
                </a:solidFill>
                <a:latin typeface="맑은 고딕"/>
                <a:ea typeface="맑은 고딕"/>
                <a:cs typeface="맑은 고딕"/>
              </a:rPr>
              <a:t>다른 걸음, 같은 길</a:t>
            </a:r>
          </a:p>
        </p:txBody>
      </p:sp>
      <p:sp>
        <p:nvSpPr>
          <p:cNvPr id="3" name="TextBox 2"/>
          <p:cNvSpPr txBox="1"/>
          <p:nvPr/>
        </p:nvSpPr>
        <p:spPr>
          <a:xfrm>
            <a:off x="914400" y="1371600"/>
            <a:ext cx="16459200" cy="548640"/>
          </a:xfrm>
          <a:prstGeom prst="rect">
            <a:avLst/>
          </a:prstGeom>
          <a:noFill/>
        </p:spPr>
        <p:txBody>
          <a:bodyPr wrap="square" anchor="t" lIns="0" rIns="0" tIns="0" bIns="0">
            <a:spAutoFit/>
          </a:bodyPr>
          <a:lstStyle/>
          <a:p>
            <a:pPr algn="ctr"/>
            <a:r>
              <a:rPr sz="2600" b="0" i="0">
                <a:solidFill>
                  <a:srgbClr val="6E6A80"/>
                </a:solidFill>
                <a:latin typeface="맑은 고딕"/>
                <a:ea typeface="맑은 고딕"/>
                <a:cs typeface="맑은 고딕"/>
              </a:rPr>
              <a:t>전래동화에서 찾은 학습 설계 — 2학기에 캐릭터로 살아 움직이다</a:t>
            </a:r>
          </a:p>
        </p:txBody>
      </p:sp>
      <p:pic>
        <p:nvPicPr>
          <p:cNvPr id="4" name="Picture 3" descr="rabbit_cheer.png"/>
          <p:cNvPicPr>
            <a:picLocks noChangeAspect="1"/>
          </p:cNvPicPr>
          <p:nvPr/>
        </p:nvPicPr>
        <p:blipFill>
          <a:blip r:embed="rId2"/>
          <a:stretch>
            <a:fillRect/>
          </a:stretch>
        </p:blipFill>
        <p:spPr>
          <a:xfrm>
            <a:off x="365760" y="2743200"/>
            <a:ext cx="4909544" cy="5303520"/>
          </a:xfrm>
          <a:prstGeom prst="rect">
            <a:avLst/>
          </a:prstGeom>
        </p:spPr>
      </p:pic>
      <p:pic>
        <p:nvPicPr>
          <p:cNvPr id="5" name="Picture 4" descr="turtle_thinking.png"/>
          <p:cNvPicPr>
            <a:picLocks noChangeAspect="1"/>
          </p:cNvPicPr>
          <p:nvPr/>
        </p:nvPicPr>
        <p:blipFill>
          <a:blip r:embed="rId3"/>
          <a:stretch>
            <a:fillRect/>
          </a:stretch>
        </p:blipFill>
        <p:spPr>
          <a:xfrm>
            <a:off x="13213080" y="3108960"/>
            <a:ext cx="4775346" cy="4754880"/>
          </a:xfrm>
          <a:prstGeom prst="rect">
            <a:avLst/>
          </a:prstGeom>
        </p:spPr>
      </p:pic>
      <p:sp>
        <p:nvSpPr>
          <p:cNvPr id="6" name="Rounded Rectangle 5"/>
          <p:cNvSpPr/>
          <p:nvPr/>
        </p:nvSpPr>
        <p:spPr>
          <a:xfrm>
            <a:off x="5394960" y="2377440"/>
            <a:ext cx="7498079" cy="2103120"/>
          </a:xfrm>
          <a:prstGeom prst="roundRect">
            <a:avLst>
              <a:gd name="adj" fmla="val 12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760720" y="2606040"/>
            <a:ext cx="6858000" cy="1737360"/>
          </a:xfrm>
          <a:prstGeom prst="rect">
            <a:avLst/>
          </a:prstGeom>
          <a:noFill/>
        </p:spPr>
        <p:txBody>
          <a:bodyPr wrap="square" anchor="t" lIns="0" rIns="0" tIns="0" bIns="0">
            <a:spAutoFit/>
          </a:bodyPr>
          <a:lstStyle/>
          <a:p>
            <a:pPr algn="l">
              <a:spcAft>
                <a:spcPts val="1000"/>
              </a:spcAft>
            </a:pPr>
            <a:r>
              <a:rPr sz="3000" b="1" i="0">
                <a:solidFill>
                  <a:srgbClr val="6B4EFF"/>
                </a:solidFill>
                <a:latin typeface="맑은 고딕"/>
                <a:ea typeface="맑은 고딕"/>
                <a:cs typeface="맑은 고딕"/>
              </a:rPr>
              <a:t>토끼</a:t>
            </a:r>
            <a:r>
              <a:rPr sz="2600" b="1" i="0">
                <a:solidFill>
                  <a:srgbClr val="1A1A1A"/>
                </a:solidFill>
                <a:latin typeface="맑은 고딕"/>
                <a:ea typeface="맑은 고딕"/>
                <a:cs typeface="맑은 고딕"/>
              </a:rPr>
              <a:t>  빠른 체험 · 연기</a:t>
            </a:r>
          </a:p>
          <a:p>
            <a:pPr algn="l">
              <a:spcAft>
                <a:spcPts val="1000"/>
              </a:spcAft>
            </a:pPr>
            <a:r>
              <a:rPr sz="2200" b="0" i="0">
                <a:solidFill>
                  <a:srgbClr val="1A1A1A"/>
                </a:solidFill>
                <a:latin typeface="맑은 고딕"/>
                <a:ea typeface="맑은 고딕"/>
                <a:cs typeface="맑은 고딕"/>
              </a:rPr>
              <a:t>덩어리로 먼저 조립해 보고, 미션에서는 상대 역할로 변신</a:t>
            </a:r>
          </a:p>
        </p:txBody>
      </p:sp>
      <p:sp>
        <p:nvSpPr>
          <p:cNvPr id="8" name="Rounded Rectangle 7"/>
          <p:cNvSpPr/>
          <p:nvPr/>
        </p:nvSpPr>
        <p:spPr>
          <a:xfrm>
            <a:off x="5394960" y="4709160"/>
            <a:ext cx="7498079" cy="2103120"/>
          </a:xfrm>
          <a:prstGeom prst="roundRect">
            <a:avLst>
              <a:gd name="adj" fmla="val 12000"/>
            </a:avLst>
          </a:prstGeom>
          <a:solidFill>
            <a:srgbClr val="E3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760720" y="4937760"/>
            <a:ext cx="6858000" cy="1737360"/>
          </a:xfrm>
          <a:prstGeom prst="rect">
            <a:avLst/>
          </a:prstGeom>
          <a:noFill/>
        </p:spPr>
        <p:txBody>
          <a:bodyPr wrap="square" anchor="t" lIns="0" rIns="0" tIns="0" bIns="0">
            <a:spAutoFit/>
          </a:bodyPr>
          <a:lstStyle/>
          <a:p>
            <a:pPr algn="l">
              <a:spcAft>
                <a:spcPts val="1000"/>
              </a:spcAft>
            </a:pPr>
            <a:r>
              <a:rPr sz="3000" b="1" i="0">
                <a:solidFill>
                  <a:srgbClr val="1E9E7E"/>
                </a:solidFill>
                <a:latin typeface="맑은 고딕"/>
                <a:ea typeface="맑은 고딕"/>
                <a:cs typeface="맑은 고딕"/>
              </a:rPr>
              <a:t>거북이</a:t>
            </a:r>
            <a:r>
              <a:rPr sz="2600" b="1" i="0">
                <a:solidFill>
                  <a:srgbClr val="1A1A1A"/>
                </a:solidFill>
                <a:latin typeface="맑은 고딕"/>
                <a:ea typeface="맑은 고딕"/>
                <a:cs typeface="맑은 고딕"/>
              </a:rPr>
              <a:t>  느린 분석 · 코칭</a:t>
            </a:r>
          </a:p>
          <a:p>
            <a:pPr algn="l">
              <a:spcAft>
                <a:spcPts val="1000"/>
              </a:spcAft>
            </a:pPr>
            <a:r>
              <a:rPr sz="2200" b="0" i="0">
                <a:solidFill>
                  <a:srgbClr val="1A1A1A"/>
                </a:solidFill>
                <a:latin typeface="맑은 고딕"/>
                <a:ea typeface="맑은 고딕"/>
                <a:cs typeface="맑은 고딕"/>
              </a:rPr>
              <a:t>목표 문법을 쪼개 보여 주고, 틀리면 힌트와 레드/옐로카드</a:t>
            </a:r>
          </a:p>
        </p:txBody>
      </p:sp>
      <p:sp>
        <p:nvSpPr>
          <p:cNvPr id="10" name="TextBox 9"/>
          <p:cNvSpPr txBox="1"/>
          <p:nvPr/>
        </p:nvSpPr>
        <p:spPr>
          <a:xfrm>
            <a:off x="5120640" y="7132320"/>
            <a:ext cx="8046720" cy="1371600"/>
          </a:xfrm>
          <a:prstGeom prst="rect">
            <a:avLst/>
          </a:prstGeom>
          <a:noFill/>
        </p:spPr>
        <p:txBody>
          <a:bodyPr wrap="square" anchor="t" lIns="0" rIns="0" tIns="0" bIns="0">
            <a:spAutoFit/>
          </a:bodyPr>
          <a:lstStyle/>
          <a:p>
            <a:pPr algn="ctr">
              <a:spcAft>
                <a:spcPts val="400"/>
              </a:spcAft>
            </a:pPr>
            <a:r>
              <a:rPr sz="2600" b="1" i="0">
                <a:solidFill>
                  <a:srgbClr val="6B4EFF"/>
                </a:solidFill>
                <a:latin typeface="맑은 고딕"/>
                <a:ea typeface="맑은 고딕"/>
                <a:cs typeface="맑은 고딕"/>
              </a:rPr>
              <a:t>정답·오답·완료·대기·교정</a:t>
            </a:r>
            <a:r>
              <a:rPr sz="2600" b="0" i="0">
                <a:solidFill>
                  <a:srgbClr val="1A1A1A"/>
                </a:solidFill>
                <a:latin typeface="맑은 고딕"/>
                <a:ea typeface="맑은 고딕"/>
                <a:cs typeface="맑은 고딕"/>
              </a:rPr>
              <a:t>에 실시간 반응</a:t>
            </a:r>
          </a:p>
          <a:p>
            <a:pPr algn="ctr">
              <a:spcAft>
                <a:spcPts val="400"/>
              </a:spcAft>
            </a:pPr>
            <a:r>
              <a:rPr sz="2600" b="1" i="0">
                <a:solidFill>
                  <a:srgbClr val="1A1A1A"/>
                </a:solidFill>
                <a:latin typeface="맑은 고딕"/>
                <a:ea typeface="맑은 고딕"/>
                <a:cs typeface="맑은 고딕"/>
              </a:rPr>
              <a:t>4개 기능 21개 화면 지점 + 홈</a:t>
            </a:r>
          </a:p>
        </p:txBody>
      </p:sp>
      <p:sp>
        <p:nvSpPr>
          <p:cNvPr id="11" name="TextBox 10"/>
          <p:cNvSpPr txBox="1"/>
          <p:nvPr/>
        </p:nvSpPr>
        <p:spPr>
          <a:xfrm>
            <a:off x="2286000" y="8915400"/>
            <a:ext cx="13716000" cy="914400"/>
          </a:xfrm>
          <a:prstGeom prst="rect">
            <a:avLst/>
          </a:prstGeom>
          <a:noFill/>
        </p:spPr>
        <p:txBody>
          <a:bodyPr wrap="square" anchor="t" lIns="0" rIns="0" tIns="0" bIns="0">
            <a:spAutoFit/>
          </a:bodyPr>
          <a:lstStyle/>
          <a:p>
            <a:pPr algn="ctr"/>
            <a:r>
              <a:rPr sz="1900" b="0" i="0">
                <a:solidFill>
                  <a:srgbClr val="6E6A80"/>
                </a:solidFill>
                <a:latin typeface="맑은 고딕"/>
                <a:ea typeface="맑은 고딕"/>
                <a:cs typeface="맑은 고딕"/>
              </a:rPr>
              <a:t>표정은 AI 생성 이미지, 몸짓은 코드 모션(숨쉬기·깜빡임·점프·찌그러짐)으로 분리 → 그림을 바꿔도 기능 코드 수정 0줄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16459200" cy="914400"/>
          </a:xfrm>
          <a:prstGeom prst="rect">
            <a:avLst/>
          </a:prstGeom>
          <a:noFill/>
        </p:spPr>
        <p:txBody>
          <a:bodyPr wrap="square" anchor="t" lIns="0" rIns="0" tIns="0" bIns="0">
            <a:spAutoFit/>
          </a:bodyPr>
          <a:lstStyle/>
          <a:p>
            <a:pPr algn="ctr"/>
            <a:r>
              <a:rPr sz="5200" b="1" i="0">
                <a:solidFill>
                  <a:srgbClr val="000000"/>
                </a:solidFill>
                <a:latin typeface="맑은 고딕"/>
                <a:ea typeface="맑은 고딕"/>
                <a:cs typeface="맑은 고딕"/>
              </a:rPr>
              <a:t>시스템 구성도</a:t>
            </a:r>
          </a:p>
        </p:txBody>
      </p:sp>
      <p:sp>
        <p:nvSpPr>
          <p:cNvPr id="3" name="Rounded Rectangle 2"/>
          <p:cNvSpPr/>
          <p:nvPr/>
        </p:nvSpPr>
        <p:spPr>
          <a:xfrm>
            <a:off x="640080" y="1737360"/>
            <a:ext cx="4206240" cy="5394960"/>
          </a:xfrm>
          <a:prstGeom prst="roundRect">
            <a:avLst>
              <a:gd name="adj" fmla="val 8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1874519"/>
            <a:ext cx="3749039" cy="548640"/>
          </a:xfrm>
          <a:prstGeom prst="rect">
            <a:avLst/>
          </a:prstGeom>
          <a:noFill/>
        </p:spPr>
        <p:txBody>
          <a:bodyPr wrap="square" anchor="t" lIns="0" rIns="0" tIns="0" bIns="0">
            <a:spAutoFit/>
          </a:bodyPr>
          <a:lstStyle/>
          <a:p>
            <a:pPr algn="l"/>
            <a:r>
              <a:rPr sz="2800" b="1" i="0">
                <a:solidFill>
                  <a:srgbClr val="6B4EFF"/>
                </a:solidFill>
                <a:latin typeface="맑은 고딕"/>
                <a:ea typeface="맑은 고딕"/>
                <a:cs typeface="맑은 고딕"/>
              </a:rPr>
              <a:t>Flutter 앱</a:t>
            </a:r>
          </a:p>
        </p:txBody>
      </p:sp>
      <p:sp>
        <p:nvSpPr>
          <p:cNvPr id="5" name="TextBox 4"/>
          <p:cNvSpPr txBox="1"/>
          <p:nvPr/>
        </p:nvSpPr>
        <p:spPr>
          <a:xfrm>
            <a:off x="868680" y="2514600"/>
            <a:ext cx="3749039" cy="365760"/>
          </a:xfrm>
          <a:prstGeom prst="rect">
            <a:avLst/>
          </a:prstGeom>
          <a:noFill/>
        </p:spPr>
        <p:txBody>
          <a:bodyPr wrap="square" anchor="t" lIns="0" rIns="0" tIns="0" bIns="0">
            <a:spAutoFit/>
          </a:bodyPr>
          <a:lstStyle/>
          <a:p>
            <a:pPr algn="l"/>
            <a:r>
              <a:rPr sz="1600" b="0" i="0">
                <a:solidFill>
                  <a:srgbClr val="6E6A80"/>
                </a:solidFill>
                <a:latin typeface="맑은 고딕"/>
                <a:ea typeface="맑은 고딕"/>
                <a:cs typeface="맑은 고딕"/>
              </a:rPr>
              <a:t>iOS · Android 단일 코드</a:t>
            </a:r>
          </a:p>
        </p:txBody>
      </p:sp>
      <p:sp>
        <p:nvSpPr>
          <p:cNvPr id="6" name="Rounded Rectangle 5"/>
          <p:cNvSpPr/>
          <p:nvPr/>
        </p:nvSpPr>
        <p:spPr>
          <a:xfrm>
            <a:off x="914400" y="3154680"/>
            <a:ext cx="3657600" cy="685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154680"/>
            <a:ext cx="3657600" cy="685800"/>
          </a:xfrm>
          <a:prstGeom prst="rect">
            <a:avLst/>
          </a:prstGeom>
          <a:noFill/>
        </p:spPr>
        <p:txBody>
          <a:bodyPr wrap="square" anchor="ctr" lIns="0" rIns="0" tIns="0" bIns="0">
            <a:spAutoFit/>
          </a:bodyPr>
          <a:lstStyle/>
          <a:p>
            <a:pPr algn="ctr"/>
            <a:r>
              <a:rPr sz="1600" b="0" i="0">
                <a:solidFill>
                  <a:srgbClr val="2B1D5C"/>
                </a:solidFill>
                <a:latin typeface="맑은 고딕"/>
                <a:ea typeface="맑은 고딕"/>
                <a:cs typeface="맑은 고딕"/>
              </a:rPr>
              <a:t>레슨 · 단어 · 미션 · 실험실</a:t>
            </a:r>
          </a:p>
        </p:txBody>
      </p:sp>
      <p:sp>
        <p:nvSpPr>
          <p:cNvPr id="8" name="Rounded Rectangle 7"/>
          <p:cNvSpPr/>
          <p:nvPr/>
        </p:nvSpPr>
        <p:spPr>
          <a:xfrm>
            <a:off x="914400" y="4069080"/>
            <a:ext cx="3657600" cy="685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4069080"/>
            <a:ext cx="3657600" cy="685800"/>
          </a:xfrm>
          <a:prstGeom prst="rect">
            <a:avLst/>
          </a:prstGeom>
          <a:noFill/>
        </p:spPr>
        <p:txBody>
          <a:bodyPr wrap="square" anchor="ctr" lIns="0" rIns="0" tIns="0" bIns="0">
            <a:spAutoFit/>
          </a:bodyPr>
          <a:lstStyle/>
          <a:p>
            <a:pPr algn="ctr"/>
            <a:r>
              <a:rPr sz="1600" b="0" i="0">
                <a:solidFill>
                  <a:srgbClr val="2B1D5C"/>
                </a:solidFill>
                <a:latin typeface="맑은 고딕"/>
                <a:ea typeface="맑은 고딕"/>
                <a:cs typeface="맑은 고딕"/>
              </a:rPr>
              <a:t>토끼 · 거북이 캐릭터</a:t>
            </a:r>
          </a:p>
        </p:txBody>
      </p:sp>
      <p:sp>
        <p:nvSpPr>
          <p:cNvPr id="10" name="Rounded Rectangle 9"/>
          <p:cNvSpPr/>
          <p:nvPr/>
        </p:nvSpPr>
        <p:spPr>
          <a:xfrm>
            <a:off x="914400" y="4983480"/>
            <a:ext cx="3657600" cy="685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4983480"/>
            <a:ext cx="3657600" cy="685800"/>
          </a:xfrm>
          <a:prstGeom prst="rect">
            <a:avLst/>
          </a:prstGeom>
          <a:noFill/>
        </p:spPr>
        <p:txBody>
          <a:bodyPr wrap="square" anchor="ctr" lIns="0" rIns="0" tIns="0" bIns="0">
            <a:spAutoFit/>
          </a:bodyPr>
          <a:lstStyle/>
          <a:p>
            <a:pPr algn="ctr"/>
            <a:r>
              <a:rPr sz="1600" b="0" i="0">
                <a:solidFill>
                  <a:srgbClr val="2B1D5C"/>
                </a:solidFill>
                <a:latin typeface="맑은 고딕"/>
                <a:ea typeface="맑은 고딕"/>
                <a:cs typeface="맑은 고딕"/>
              </a:rPr>
              <a:t>Google · Apple 로그인</a:t>
            </a:r>
          </a:p>
        </p:txBody>
      </p:sp>
      <p:sp>
        <p:nvSpPr>
          <p:cNvPr id="12" name="Rounded Rectangle 11"/>
          <p:cNvSpPr/>
          <p:nvPr/>
        </p:nvSpPr>
        <p:spPr>
          <a:xfrm>
            <a:off x="914400" y="5897880"/>
            <a:ext cx="3657600" cy="6858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5897880"/>
            <a:ext cx="3657600" cy="685800"/>
          </a:xfrm>
          <a:prstGeom prst="rect">
            <a:avLst/>
          </a:prstGeom>
          <a:noFill/>
        </p:spPr>
        <p:txBody>
          <a:bodyPr wrap="square" anchor="ctr" lIns="0" rIns="0" tIns="0" bIns="0">
            <a:spAutoFit/>
          </a:bodyPr>
          <a:lstStyle/>
          <a:p>
            <a:pPr algn="ctr"/>
            <a:r>
              <a:rPr sz="1600" b="0" i="0">
                <a:solidFill>
                  <a:srgbClr val="2B1D5C"/>
                </a:solidFill>
                <a:latin typeface="맑은 고딕"/>
                <a:ea typeface="맑은 고딕"/>
                <a:cs typeface="맑은 고딕"/>
              </a:rPr>
              <a:t>TTS 재생 (just_audio)</a:t>
            </a:r>
          </a:p>
        </p:txBody>
      </p:sp>
      <p:sp>
        <p:nvSpPr>
          <p:cNvPr id="14" name="Rounded Rectangle 13"/>
          <p:cNvSpPr/>
          <p:nvPr/>
        </p:nvSpPr>
        <p:spPr>
          <a:xfrm>
            <a:off x="5989320" y="1737360"/>
            <a:ext cx="6035040" cy="5394960"/>
          </a:xfrm>
          <a:prstGeom prst="roundRect">
            <a:avLst>
              <a:gd name="adj" fmla="val 6000"/>
            </a:avLst>
          </a:prstGeom>
          <a:solidFill>
            <a:srgbClr val="2B1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63640" y="1874519"/>
            <a:ext cx="5486400" cy="548640"/>
          </a:xfrm>
          <a:prstGeom prst="rect">
            <a:avLst/>
          </a:prstGeom>
          <a:noFill/>
        </p:spPr>
        <p:txBody>
          <a:bodyPr wrap="square" anchor="t" lIns="0" rIns="0" tIns="0" bIns="0">
            <a:spAutoFit/>
          </a:bodyPr>
          <a:lstStyle/>
          <a:p>
            <a:pPr algn="l"/>
            <a:r>
              <a:rPr sz="2600" b="1" i="0">
                <a:solidFill>
                  <a:srgbClr val="FFFFFF"/>
                </a:solidFill>
                <a:latin typeface="맑은 고딕"/>
                <a:ea typeface="맑은 고딕"/>
                <a:cs typeface="맑은 고딕"/>
              </a:rPr>
              <a:t>Spring Boot 3.5 · Java 17</a:t>
            </a:r>
          </a:p>
        </p:txBody>
      </p:sp>
      <p:sp>
        <p:nvSpPr>
          <p:cNvPr id="16" name="TextBox 15"/>
          <p:cNvSpPr txBox="1"/>
          <p:nvPr/>
        </p:nvSpPr>
        <p:spPr>
          <a:xfrm>
            <a:off x="6263640" y="2514600"/>
            <a:ext cx="5486400" cy="365760"/>
          </a:xfrm>
          <a:prstGeom prst="rect">
            <a:avLst/>
          </a:prstGeom>
          <a:noFill/>
        </p:spPr>
        <p:txBody>
          <a:bodyPr wrap="square" anchor="t" lIns="0" rIns="0" tIns="0" bIns="0">
            <a:spAutoFit/>
          </a:bodyPr>
          <a:lstStyle/>
          <a:p>
            <a:pPr algn="l"/>
            <a:r>
              <a:rPr sz="1600" b="0" i="0">
                <a:solidFill>
                  <a:srgbClr val="C9C2F5"/>
                </a:solidFill>
                <a:latin typeface="맑은 고딕"/>
                <a:ea typeface="맑은 고딕"/>
                <a:cs typeface="맑은 고딕"/>
              </a:rPr>
              <a:t>Railway 운영 배포 — main push 시 자동 재배포</a:t>
            </a:r>
          </a:p>
        </p:txBody>
      </p:sp>
      <p:sp>
        <p:nvSpPr>
          <p:cNvPr id="17" name="Rounded Rectangle 16"/>
          <p:cNvSpPr/>
          <p:nvPr/>
        </p:nvSpPr>
        <p:spPr>
          <a:xfrm>
            <a:off x="6263640" y="3108960"/>
            <a:ext cx="5486400" cy="640080"/>
          </a:xfrm>
          <a:prstGeom prst="roundRect">
            <a:avLst>
              <a:gd name="adj" fmla="val 25000"/>
            </a:avLst>
          </a:prstGeom>
          <a:solidFill>
            <a:srgbClr val="3B2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46520" y="3108960"/>
            <a:ext cx="1737360" cy="640080"/>
          </a:xfrm>
          <a:prstGeom prst="rect">
            <a:avLst/>
          </a:prstGeom>
          <a:noFill/>
        </p:spPr>
        <p:txBody>
          <a:bodyPr wrap="square" anchor="ctr" lIns="0" rIns="0" tIns="0" bIns="0">
            <a:spAutoFit/>
          </a:bodyPr>
          <a:lstStyle/>
          <a:p>
            <a:pPr algn="l"/>
            <a:r>
              <a:rPr sz="1700" b="1" i="0">
                <a:solidFill>
                  <a:srgbClr val="FFC83D"/>
                </a:solidFill>
                <a:latin typeface="맑은 고딕"/>
                <a:ea typeface="맑은 고딕"/>
                <a:cs typeface="맑은 고딕"/>
              </a:rPr>
              <a:t>인증</a:t>
            </a:r>
          </a:p>
        </p:txBody>
      </p:sp>
      <p:sp>
        <p:nvSpPr>
          <p:cNvPr id="19" name="TextBox 18"/>
          <p:cNvSpPr txBox="1"/>
          <p:nvPr/>
        </p:nvSpPr>
        <p:spPr>
          <a:xfrm>
            <a:off x="8183879" y="3108960"/>
            <a:ext cx="3474720" cy="640080"/>
          </a:xfrm>
          <a:prstGeom prst="rect">
            <a:avLst/>
          </a:prstGeom>
          <a:noFill/>
        </p:spPr>
        <p:txBody>
          <a:bodyPr wrap="square" anchor="ctr" lIns="0" rIns="0" tIns="0" bIns="0">
            <a:spAutoFit/>
          </a:bodyPr>
          <a:lstStyle/>
          <a:p>
            <a:pPr algn="l"/>
            <a:r>
              <a:rPr sz="1600" b="0" i="0">
                <a:solidFill>
                  <a:srgbClr val="FFFFFF"/>
                </a:solidFill>
                <a:latin typeface="맑은 고딕"/>
                <a:ea typeface="맑은 고딕"/>
                <a:cs typeface="맑은 고딕"/>
              </a:rPr>
              <a:t>Google·Apple 토큰 검증 → JWT</a:t>
            </a:r>
          </a:p>
        </p:txBody>
      </p:sp>
      <p:sp>
        <p:nvSpPr>
          <p:cNvPr id="20" name="Rounded Rectangle 19"/>
          <p:cNvSpPr/>
          <p:nvPr/>
        </p:nvSpPr>
        <p:spPr>
          <a:xfrm>
            <a:off x="6263640" y="3877056"/>
            <a:ext cx="5486400" cy="640080"/>
          </a:xfrm>
          <a:prstGeom prst="roundRect">
            <a:avLst>
              <a:gd name="adj" fmla="val 25000"/>
            </a:avLst>
          </a:prstGeom>
          <a:solidFill>
            <a:srgbClr val="3B2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46520" y="3877056"/>
            <a:ext cx="1737360" cy="640080"/>
          </a:xfrm>
          <a:prstGeom prst="rect">
            <a:avLst/>
          </a:prstGeom>
          <a:noFill/>
        </p:spPr>
        <p:txBody>
          <a:bodyPr wrap="square" anchor="ctr" lIns="0" rIns="0" tIns="0" bIns="0">
            <a:spAutoFit/>
          </a:bodyPr>
          <a:lstStyle/>
          <a:p>
            <a:pPr algn="l"/>
            <a:r>
              <a:rPr sz="1700" b="1" i="0">
                <a:solidFill>
                  <a:srgbClr val="FFC83D"/>
                </a:solidFill>
                <a:latin typeface="맑은 고딕"/>
                <a:ea typeface="맑은 고딕"/>
                <a:cs typeface="맑은 고딕"/>
              </a:rPr>
              <a:t>레슨·진도</a:t>
            </a:r>
          </a:p>
        </p:txBody>
      </p:sp>
      <p:sp>
        <p:nvSpPr>
          <p:cNvPr id="22" name="TextBox 21"/>
          <p:cNvSpPr txBox="1"/>
          <p:nvPr/>
        </p:nvSpPr>
        <p:spPr>
          <a:xfrm>
            <a:off x="8183879" y="3877056"/>
            <a:ext cx="3474720" cy="640080"/>
          </a:xfrm>
          <a:prstGeom prst="rect">
            <a:avLst/>
          </a:prstGeom>
          <a:noFill/>
        </p:spPr>
        <p:txBody>
          <a:bodyPr wrap="square" anchor="ctr" lIns="0" rIns="0" tIns="0" bIns="0">
            <a:spAutoFit/>
          </a:bodyPr>
          <a:lstStyle/>
          <a:p>
            <a:pPr algn="l"/>
            <a:r>
              <a:rPr sz="1600" b="0" i="0">
                <a:solidFill>
                  <a:srgbClr val="FFFFFF"/>
                </a:solidFill>
                <a:latin typeface="맑은 고딕"/>
                <a:ea typeface="맑은 고딕"/>
                <a:cs typeface="맑은 고딕"/>
              </a:rPr>
              <a:t>점수·별·이어하기</a:t>
            </a:r>
          </a:p>
        </p:txBody>
      </p:sp>
      <p:sp>
        <p:nvSpPr>
          <p:cNvPr id="23" name="Rounded Rectangle 22"/>
          <p:cNvSpPr/>
          <p:nvPr/>
        </p:nvSpPr>
        <p:spPr>
          <a:xfrm>
            <a:off x="6263640" y="4645152"/>
            <a:ext cx="5486400" cy="640080"/>
          </a:xfrm>
          <a:prstGeom prst="roundRect">
            <a:avLst>
              <a:gd name="adj" fmla="val 25000"/>
            </a:avLst>
          </a:prstGeom>
          <a:solidFill>
            <a:srgbClr val="3B2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4645152"/>
            <a:ext cx="1737360" cy="640080"/>
          </a:xfrm>
          <a:prstGeom prst="rect">
            <a:avLst/>
          </a:prstGeom>
          <a:noFill/>
        </p:spPr>
        <p:txBody>
          <a:bodyPr wrap="square" anchor="ctr" lIns="0" rIns="0" tIns="0" bIns="0">
            <a:spAutoFit/>
          </a:bodyPr>
          <a:lstStyle/>
          <a:p>
            <a:pPr algn="l"/>
            <a:r>
              <a:rPr sz="1700" b="1" i="0">
                <a:solidFill>
                  <a:srgbClr val="FFC83D"/>
                </a:solidFill>
                <a:latin typeface="맑은 고딕"/>
                <a:ea typeface="맑은 고딕"/>
                <a:cs typeface="맑은 고딕"/>
              </a:rPr>
              <a:t>FSRS-4.5</a:t>
            </a:r>
          </a:p>
        </p:txBody>
      </p:sp>
      <p:sp>
        <p:nvSpPr>
          <p:cNvPr id="25" name="TextBox 24"/>
          <p:cNvSpPr txBox="1"/>
          <p:nvPr/>
        </p:nvSpPr>
        <p:spPr>
          <a:xfrm>
            <a:off x="8183879" y="4645152"/>
            <a:ext cx="3474720" cy="640080"/>
          </a:xfrm>
          <a:prstGeom prst="rect">
            <a:avLst/>
          </a:prstGeom>
          <a:noFill/>
        </p:spPr>
        <p:txBody>
          <a:bodyPr wrap="square" anchor="ctr" lIns="0" rIns="0" tIns="0" bIns="0">
            <a:spAutoFit/>
          </a:bodyPr>
          <a:lstStyle/>
          <a:p>
            <a:pPr algn="l"/>
            <a:r>
              <a:rPr sz="1600" b="0" i="0">
                <a:solidFill>
                  <a:srgbClr val="FFFFFF"/>
                </a:solidFill>
                <a:latin typeface="맑은 고딕"/>
                <a:ea typeface="맑은 고딕"/>
                <a:cs typeface="맑은 고딕"/>
              </a:rPr>
              <a:t>다음 복습일 계산</a:t>
            </a:r>
          </a:p>
        </p:txBody>
      </p:sp>
      <p:sp>
        <p:nvSpPr>
          <p:cNvPr id="26" name="Rounded Rectangle 25"/>
          <p:cNvSpPr/>
          <p:nvPr/>
        </p:nvSpPr>
        <p:spPr>
          <a:xfrm>
            <a:off x="6263640" y="5413248"/>
            <a:ext cx="5486400" cy="640080"/>
          </a:xfrm>
          <a:prstGeom prst="roundRect">
            <a:avLst>
              <a:gd name="adj" fmla="val 25000"/>
            </a:avLst>
          </a:prstGeom>
          <a:solidFill>
            <a:srgbClr val="3B2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46520" y="5413248"/>
            <a:ext cx="1737360" cy="640080"/>
          </a:xfrm>
          <a:prstGeom prst="rect">
            <a:avLst/>
          </a:prstGeom>
          <a:noFill/>
        </p:spPr>
        <p:txBody>
          <a:bodyPr wrap="square" anchor="ctr" lIns="0" rIns="0" tIns="0" bIns="0">
            <a:spAutoFit/>
          </a:bodyPr>
          <a:lstStyle/>
          <a:p>
            <a:pPr algn="l"/>
            <a:r>
              <a:rPr sz="1700" b="1" i="0">
                <a:solidFill>
                  <a:srgbClr val="FFC83D"/>
                </a:solidFill>
                <a:latin typeface="맑은 고딕"/>
                <a:ea typeface="맑은 고딕"/>
                <a:cs typeface="맑은 고딕"/>
              </a:rPr>
              <a:t>미션</a:t>
            </a:r>
          </a:p>
        </p:txBody>
      </p:sp>
      <p:sp>
        <p:nvSpPr>
          <p:cNvPr id="28" name="TextBox 27"/>
          <p:cNvSpPr txBox="1"/>
          <p:nvPr/>
        </p:nvSpPr>
        <p:spPr>
          <a:xfrm>
            <a:off x="8183879" y="5413248"/>
            <a:ext cx="3474720" cy="640080"/>
          </a:xfrm>
          <a:prstGeom prst="rect">
            <a:avLst/>
          </a:prstGeom>
          <a:noFill/>
        </p:spPr>
        <p:txBody>
          <a:bodyPr wrap="square" anchor="ctr" lIns="0" rIns="0" tIns="0" bIns="0">
            <a:spAutoFit/>
          </a:bodyPr>
          <a:lstStyle/>
          <a:p>
            <a:pPr algn="l"/>
            <a:r>
              <a:rPr sz="1600" b="0" i="0">
                <a:solidFill>
                  <a:srgbClr val="FFFFFF"/>
                </a:solidFill>
                <a:latin typeface="맑은 고딕"/>
                <a:ea typeface="맑은 고딕"/>
                <a:cs typeface="맑은 고딕"/>
              </a:rPr>
              <a:t>3-Zone 판정 · 병렬 호출</a:t>
            </a:r>
          </a:p>
        </p:txBody>
      </p:sp>
      <p:sp>
        <p:nvSpPr>
          <p:cNvPr id="29" name="Rounded Rectangle 28"/>
          <p:cNvSpPr/>
          <p:nvPr/>
        </p:nvSpPr>
        <p:spPr>
          <a:xfrm>
            <a:off x="6263640" y="6181344"/>
            <a:ext cx="5486400" cy="640080"/>
          </a:xfrm>
          <a:prstGeom prst="roundRect">
            <a:avLst>
              <a:gd name="adj" fmla="val 25000"/>
            </a:avLst>
          </a:prstGeom>
          <a:solidFill>
            <a:srgbClr val="3B2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46520" y="6181344"/>
            <a:ext cx="1737360" cy="640080"/>
          </a:xfrm>
          <a:prstGeom prst="rect">
            <a:avLst/>
          </a:prstGeom>
          <a:noFill/>
        </p:spPr>
        <p:txBody>
          <a:bodyPr wrap="square" anchor="ctr" lIns="0" rIns="0" tIns="0" bIns="0">
            <a:spAutoFit/>
          </a:bodyPr>
          <a:lstStyle/>
          <a:p>
            <a:pPr algn="l"/>
            <a:r>
              <a:rPr sz="1700" b="1" i="0">
                <a:solidFill>
                  <a:srgbClr val="FFC83D"/>
                </a:solidFill>
                <a:latin typeface="맑은 고딕"/>
                <a:ea typeface="맑은 고딕"/>
                <a:cs typeface="맑은 고딕"/>
              </a:rPr>
              <a:t>캐시</a:t>
            </a:r>
          </a:p>
        </p:txBody>
      </p:sp>
      <p:sp>
        <p:nvSpPr>
          <p:cNvPr id="31" name="TextBox 30"/>
          <p:cNvSpPr txBox="1"/>
          <p:nvPr/>
        </p:nvSpPr>
        <p:spPr>
          <a:xfrm>
            <a:off x="8183879" y="6181344"/>
            <a:ext cx="3474720" cy="640080"/>
          </a:xfrm>
          <a:prstGeom prst="rect">
            <a:avLst/>
          </a:prstGeom>
          <a:noFill/>
        </p:spPr>
        <p:txBody>
          <a:bodyPr wrap="square" anchor="ctr" lIns="0" rIns="0" tIns="0" bIns="0">
            <a:spAutoFit/>
          </a:bodyPr>
          <a:lstStyle/>
          <a:p>
            <a:pPr algn="l"/>
            <a:r>
              <a:rPr sz="1600" b="0" i="0">
                <a:solidFill>
                  <a:srgbClr val="FFFFFF"/>
                </a:solidFill>
                <a:latin typeface="맑은 고딕"/>
                <a:ea typeface="맑은 고딕"/>
                <a:cs typeface="맑은 고딕"/>
              </a:rPr>
              <a:t>AI 응답 · TTS 음성</a:t>
            </a:r>
          </a:p>
        </p:txBody>
      </p:sp>
      <p:sp>
        <p:nvSpPr>
          <p:cNvPr id="32" name="Rounded Rectangle 31"/>
          <p:cNvSpPr/>
          <p:nvPr/>
        </p:nvSpPr>
        <p:spPr>
          <a:xfrm>
            <a:off x="13167360" y="4343400"/>
            <a:ext cx="4480560" cy="2788920"/>
          </a:xfrm>
          <a:prstGeom prst="roundRect">
            <a:avLst>
              <a:gd name="adj" fmla="val 10000"/>
            </a:avLst>
          </a:prstGeom>
          <a:solidFill>
            <a:srgbClr val="E3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395960" y="4480560"/>
            <a:ext cx="4023360" cy="548640"/>
          </a:xfrm>
          <a:prstGeom prst="rect">
            <a:avLst/>
          </a:prstGeom>
          <a:noFill/>
        </p:spPr>
        <p:txBody>
          <a:bodyPr wrap="square" anchor="t" lIns="0" rIns="0" tIns="0" bIns="0">
            <a:spAutoFit/>
          </a:bodyPr>
          <a:lstStyle/>
          <a:p>
            <a:pPr algn="l"/>
            <a:r>
              <a:rPr sz="2600" b="1" i="0">
                <a:solidFill>
                  <a:srgbClr val="1E9E7E"/>
                </a:solidFill>
                <a:latin typeface="맑은 고딕"/>
                <a:ea typeface="맑은 고딕"/>
                <a:cs typeface="맑은 고딕"/>
              </a:rPr>
              <a:t>PostgreSQL</a:t>
            </a:r>
          </a:p>
        </p:txBody>
      </p:sp>
      <p:sp>
        <p:nvSpPr>
          <p:cNvPr id="34" name="TextBox 33"/>
          <p:cNvSpPr txBox="1"/>
          <p:nvPr/>
        </p:nvSpPr>
        <p:spPr>
          <a:xfrm>
            <a:off x="13395960" y="5120640"/>
            <a:ext cx="4023360" cy="1828800"/>
          </a:xfrm>
          <a:prstGeom prst="rect">
            <a:avLst/>
          </a:prstGeom>
          <a:noFill/>
        </p:spPr>
        <p:txBody>
          <a:bodyPr wrap="square" anchor="t" lIns="0" rIns="0" tIns="0" bIns="0">
            <a:spAutoFit/>
          </a:bodyPr>
          <a:lstStyle/>
          <a:p>
            <a:pPr algn="l">
              <a:spcAft>
                <a:spcPts val="600"/>
              </a:spcAft>
            </a:pPr>
            <a:r>
              <a:rPr sz="1700" b="0" i="0">
                <a:solidFill>
                  <a:srgbClr val="1A1A1A"/>
                </a:solidFill>
                <a:latin typeface="맑은 고딕"/>
                <a:ea typeface="맑은 고딕"/>
                <a:cs typeface="맑은 고딕"/>
              </a:rPr>
              <a:t>레슨 데이터 (JSONB)</a:t>
            </a:r>
          </a:p>
          <a:p>
            <a:pPr algn="l">
              <a:spcAft>
                <a:spcPts val="600"/>
              </a:spcAft>
            </a:pPr>
            <a:r>
              <a:rPr sz="1700" b="0" i="0">
                <a:solidFill>
                  <a:srgbClr val="1A1A1A"/>
                </a:solidFill>
                <a:latin typeface="맑은 고딕"/>
                <a:ea typeface="맑은 고딕"/>
                <a:cs typeface="맑은 고딕"/>
              </a:rPr>
              <a:t>단어 5,561 · FSRS 기록</a:t>
            </a:r>
          </a:p>
          <a:p>
            <a:pPr algn="l">
              <a:spcAft>
                <a:spcPts val="600"/>
              </a:spcAft>
            </a:pPr>
            <a:r>
              <a:rPr sz="1700" b="0" i="0">
                <a:solidFill>
                  <a:srgbClr val="1A1A1A"/>
                </a:solidFill>
                <a:latin typeface="맑은 고딕"/>
                <a:ea typeface="맑은 고딕"/>
                <a:cs typeface="맑은 고딕"/>
              </a:rPr>
              <a:t>AI · TTS 캐시</a:t>
            </a:r>
          </a:p>
        </p:txBody>
      </p:sp>
      <p:sp>
        <p:nvSpPr>
          <p:cNvPr id="35" name="Rounded Rectangle 34"/>
          <p:cNvSpPr/>
          <p:nvPr/>
        </p:nvSpPr>
        <p:spPr>
          <a:xfrm>
            <a:off x="13167360" y="1737360"/>
            <a:ext cx="4480560" cy="2377440"/>
          </a:xfrm>
          <a:prstGeom prst="roundRect">
            <a:avLst>
              <a:gd name="adj" fmla="val 1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3395960" y="1828800"/>
            <a:ext cx="4023360" cy="548640"/>
          </a:xfrm>
          <a:prstGeom prst="rect">
            <a:avLst/>
          </a:prstGeom>
          <a:noFill/>
        </p:spPr>
        <p:txBody>
          <a:bodyPr wrap="square" anchor="t" lIns="0" rIns="0" tIns="0" bIns="0">
            <a:spAutoFit/>
          </a:bodyPr>
          <a:lstStyle/>
          <a:p>
            <a:pPr algn="l"/>
            <a:r>
              <a:rPr sz="2600" b="1" i="0">
                <a:solidFill>
                  <a:srgbClr val="B07A00"/>
                </a:solidFill>
                <a:latin typeface="맑은 고딕"/>
                <a:ea typeface="맑은 고딕"/>
                <a:cs typeface="맑은 고딕"/>
              </a:rPr>
              <a:t>외부 AI</a:t>
            </a:r>
          </a:p>
        </p:txBody>
      </p:sp>
      <p:sp>
        <p:nvSpPr>
          <p:cNvPr id="37" name="TextBox 36"/>
          <p:cNvSpPr txBox="1"/>
          <p:nvPr/>
        </p:nvSpPr>
        <p:spPr>
          <a:xfrm>
            <a:off x="13395960" y="2468880"/>
            <a:ext cx="4023360" cy="1645920"/>
          </a:xfrm>
          <a:prstGeom prst="rect">
            <a:avLst/>
          </a:prstGeom>
          <a:noFill/>
        </p:spPr>
        <p:txBody>
          <a:bodyPr wrap="square" anchor="t" lIns="0" rIns="0" tIns="0" bIns="0">
            <a:spAutoFit/>
          </a:bodyPr>
          <a:lstStyle/>
          <a:p>
            <a:pPr algn="l">
              <a:spcAft>
                <a:spcPts val="300"/>
              </a:spcAft>
            </a:pPr>
            <a:r>
              <a:rPr sz="1600" b="1" i="0">
                <a:solidFill>
                  <a:srgbClr val="1A1A1A"/>
                </a:solidFill>
                <a:latin typeface="맑은 고딕"/>
                <a:ea typeface="맑은 고딕"/>
                <a:cs typeface="맑은 고딕"/>
              </a:rPr>
              <a:t>OpenAI GPT-4o</a:t>
            </a:r>
            <a:r>
              <a:rPr sz="1600" b="0" i="0">
                <a:solidFill>
                  <a:srgbClr val="1A1A1A"/>
                </a:solidFill>
                <a:latin typeface="맑은 고딕"/>
                <a:ea typeface="맑은 고딕"/>
                <a:cs typeface="맑은 고딕"/>
              </a:rPr>
              <a:t> 미션 대화·채점</a:t>
            </a:r>
          </a:p>
          <a:p>
            <a:pPr algn="l">
              <a:spcAft>
                <a:spcPts val="300"/>
              </a:spcAft>
            </a:pPr>
            <a:r>
              <a:rPr sz="1600" b="1" i="0">
                <a:solidFill>
                  <a:srgbClr val="1A1A1A"/>
                </a:solidFill>
                <a:latin typeface="맑은 고딕"/>
                <a:ea typeface="맑은 고딕"/>
                <a:cs typeface="맑은 고딕"/>
              </a:rPr>
              <a:t>gpt-4o-mini-tts</a:t>
            </a:r>
            <a:r>
              <a:rPr sz="1600" b="0" i="0">
                <a:solidFill>
                  <a:srgbClr val="1A1A1A"/>
                </a:solidFill>
                <a:latin typeface="맑은 고딕"/>
                <a:ea typeface="맑은 고딕"/>
                <a:cs typeface="맑은 고딕"/>
              </a:rPr>
              <a:t> 발음</a:t>
            </a:r>
          </a:p>
          <a:p>
            <a:pPr algn="l">
              <a:spcAft>
                <a:spcPts val="300"/>
              </a:spcAft>
            </a:pPr>
            <a:r>
              <a:rPr sz="1600" b="1" i="0">
                <a:solidFill>
                  <a:srgbClr val="1A1A1A"/>
                </a:solidFill>
                <a:latin typeface="맑은 고딕"/>
                <a:ea typeface="맑은 고딕"/>
                <a:cs typeface="맑은 고딕"/>
              </a:rPr>
              <a:t>Gemini 2.5 Flash</a:t>
            </a:r>
            <a:r>
              <a:rPr sz="1600" b="0" i="0">
                <a:solidFill>
                  <a:srgbClr val="1A1A1A"/>
                </a:solidFill>
                <a:latin typeface="맑은 고딕"/>
                <a:ea typeface="맑은 고딕"/>
                <a:cs typeface="맑은 고딕"/>
              </a:rPr>
              <a:t> 문법 변형</a:t>
            </a:r>
          </a:p>
        </p:txBody>
      </p:sp>
      <p:cxnSp>
        <p:nvCxnSpPr>
          <p:cNvPr id="38" name="Connector 37"/>
          <p:cNvCxnSpPr/>
          <p:nvPr/>
        </p:nvCxnSpPr>
        <p:spPr>
          <a:xfrm>
            <a:off x="4846320" y="4434840"/>
            <a:ext cx="1143000" cy="0"/>
          </a:xfrm>
          <a:prstGeom prst="line">
            <a:avLst/>
          </a:prstGeom>
          <a:ln w="28575">
            <a:solidFill>
              <a:srgbClr val="2B1D5C"/>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709160" y="3657600"/>
            <a:ext cx="1417320" cy="731520"/>
          </a:xfrm>
          <a:prstGeom prst="rect">
            <a:avLst/>
          </a:prstGeom>
          <a:noFill/>
        </p:spPr>
        <p:txBody>
          <a:bodyPr wrap="square" anchor="t" lIns="0" rIns="0" tIns="0" bIns="0">
            <a:spAutoFit/>
          </a:bodyPr>
          <a:lstStyle/>
          <a:p>
            <a:pPr algn="ctr"/>
            <a:r>
              <a:rPr sz="1400" b="1" i="0">
                <a:solidFill>
                  <a:srgbClr val="2B1D5C"/>
                </a:solidFill>
                <a:latin typeface="맑은 고딕"/>
                <a:ea typeface="맑은 고딕"/>
                <a:cs typeface="맑은 고딕"/>
              </a:rPr>
              <a:t>HTTPS</a:t>
            </a:r>
          </a:p>
          <a:p>
            <a:pPr algn="ctr"/>
            <a:r>
              <a:rPr sz="1400" b="1" i="0">
                <a:solidFill>
                  <a:srgbClr val="2B1D5C"/>
                </a:solidFill>
                <a:latin typeface="맑은 고딕"/>
                <a:ea typeface="맑은 고딕"/>
                <a:cs typeface="맑은 고딕"/>
              </a:rPr>
              <a:t>JWT</a:t>
            </a:r>
          </a:p>
        </p:txBody>
      </p:sp>
      <p:cxnSp>
        <p:nvCxnSpPr>
          <p:cNvPr id="40" name="Connector 39"/>
          <p:cNvCxnSpPr/>
          <p:nvPr/>
        </p:nvCxnSpPr>
        <p:spPr>
          <a:xfrm>
            <a:off x="12024360" y="2926080"/>
            <a:ext cx="1143000" cy="0"/>
          </a:xfrm>
          <a:prstGeom prst="line">
            <a:avLst/>
          </a:prstGeom>
          <a:ln w="28575">
            <a:solidFill>
              <a:srgbClr val="2B1D5C"/>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024360" y="5715000"/>
            <a:ext cx="1143000" cy="0"/>
          </a:xfrm>
          <a:prstGeom prst="line">
            <a:avLst/>
          </a:prstGeom>
          <a:ln w="28575">
            <a:solidFill>
              <a:srgbClr val="2B1D5C"/>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40080" y="7726679"/>
            <a:ext cx="17007840" cy="2011680"/>
          </a:xfrm>
          <a:prstGeom prst="roundRect">
            <a:avLst>
              <a:gd name="adj" fmla="val 8000"/>
            </a:avLst>
          </a:prstGeom>
          <a:noFill/>
          <a:ln w="25400">
            <a:solidFill>
              <a:srgbClr val="6B4E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4400" y="7863840"/>
            <a:ext cx="5486400" cy="457200"/>
          </a:xfrm>
          <a:prstGeom prst="rect">
            <a:avLst/>
          </a:prstGeom>
          <a:noFill/>
        </p:spPr>
        <p:txBody>
          <a:bodyPr wrap="square" anchor="t" lIns="0" rIns="0" tIns="0" bIns="0">
            <a:spAutoFit/>
          </a:bodyPr>
          <a:lstStyle/>
          <a:p>
            <a:pPr algn="l"/>
            <a:r>
              <a:rPr sz="2000" b="1" i="0">
                <a:solidFill>
                  <a:srgbClr val="6B4EFF"/>
                </a:solidFill>
                <a:latin typeface="맑은 고딕"/>
                <a:ea typeface="맑은 고딕"/>
                <a:cs typeface="맑은 고딕"/>
              </a:rPr>
              <a:t>오프라인 콘텐츠 파이프라인</a:t>
            </a:r>
          </a:p>
        </p:txBody>
      </p:sp>
      <p:sp>
        <p:nvSpPr>
          <p:cNvPr id="44" name="Rounded Rectangle 43"/>
          <p:cNvSpPr/>
          <p:nvPr/>
        </p:nvSpPr>
        <p:spPr>
          <a:xfrm>
            <a:off x="914400" y="8458200"/>
            <a:ext cx="2743200" cy="1005840"/>
          </a:xfrm>
          <a:prstGeom prst="roundRect">
            <a:avLst>
              <a:gd name="adj" fmla="val 50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4400" y="8458200"/>
            <a:ext cx="2743200" cy="1005840"/>
          </a:xfrm>
          <a:prstGeom prst="rect">
            <a:avLst/>
          </a:prstGeom>
          <a:noFill/>
        </p:spPr>
        <p:txBody>
          <a:bodyPr wrap="square" anchor="ctr" lIns="0" rIns="0" tIns="0" bIns="0">
            <a:spAutoFit/>
          </a:bodyPr>
          <a:lstStyle/>
          <a:p>
            <a:pPr algn="ctr"/>
            <a:r>
              <a:rPr sz="1600" b="1" i="0">
                <a:solidFill>
                  <a:srgbClr val="2B1D5C"/>
                </a:solidFill>
                <a:latin typeface="맑은 고딕"/>
                <a:ea typeface="맑은 고딕"/>
                <a:cs typeface="맑은 고딕"/>
              </a:rPr>
              <a:t>CSV
문장 + 목표 품사</a:t>
            </a:r>
          </a:p>
        </p:txBody>
      </p:sp>
      <p:cxnSp>
        <p:nvCxnSpPr>
          <p:cNvPr id="46" name="Connector 45"/>
          <p:cNvCxnSpPr/>
          <p:nvPr/>
        </p:nvCxnSpPr>
        <p:spPr>
          <a:xfrm>
            <a:off x="3712463" y="8961120"/>
            <a:ext cx="457201" cy="0"/>
          </a:xfrm>
          <a:prstGeom prst="line">
            <a:avLst/>
          </a:prstGeom>
          <a:ln w="28575">
            <a:solidFill>
              <a:srgbClr val="6B4EFF"/>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4224528" y="8458200"/>
            <a:ext cx="2743200" cy="1005840"/>
          </a:xfrm>
          <a:prstGeom prst="roundRect">
            <a:avLst>
              <a:gd name="adj" fmla="val 50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224528" y="8458200"/>
            <a:ext cx="2743200" cy="1005840"/>
          </a:xfrm>
          <a:prstGeom prst="rect">
            <a:avLst/>
          </a:prstGeom>
          <a:noFill/>
        </p:spPr>
        <p:txBody>
          <a:bodyPr wrap="square" anchor="ctr" lIns="0" rIns="0" tIns="0" bIns="0">
            <a:spAutoFit/>
          </a:bodyPr>
          <a:lstStyle/>
          <a:p>
            <a:pPr algn="ctr"/>
            <a:r>
              <a:rPr sz="1600" b="1" i="0">
                <a:solidFill>
                  <a:srgbClr val="2B1D5C"/>
                </a:solidFill>
                <a:latin typeface="맑은 고딕"/>
                <a:ea typeface="맑은 고딕"/>
                <a:cs typeface="맑은 고딕"/>
              </a:rPr>
              <a:t>Kiwi
형태소 분석</a:t>
            </a:r>
          </a:p>
        </p:txBody>
      </p:sp>
      <p:cxnSp>
        <p:nvCxnSpPr>
          <p:cNvPr id="49" name="Connector 48"/>
          <p:cNvCxnSpPr/>
          <p:nvPr/>
        </p:nvCxnSpPr>
        <p:spPr>
          <a:xfrm>
            <a:off x="7022592" y="8961120"/>
            <a:ext cx="457200" cy="0"/>
          </a:xfrm>
          <a:prstGeom prst="line">
            <a:avLst/>
          </a:prstGeom>
          <a:ln w="28575">
            <a:solidFill>
              <a:srgbClr val="6B4EFF"/>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7534656" y="8458200"/>
            <a:ext cx="2743200" cy="1005840"/>
          </a:xfrm>
          <a:prstGeom prst="roundRect">
            <a:avLst>
              <a:gd name="adj" fmla="val 50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534656" y="8458200"/>
            <a:ext cx="2743200" cy="1005840"/>
          </a:xfrm>
          <a:prstGeom prst="rect">
            <a:avLst/>
          </a:prstGeom>
          <a:noFill/>
        </p:spPr>
        <p:txBody>
          <a:bodyPr wrap="square" anchor="ctr" lIns="0" rIns="0" tIns="0" bIns="0">
            <a:spAutoFit/>
          </a:bodyPr>
          <a:lstStyle/>
          <a:p>
            <a:pPr algn="ctr"/>
            <a:r>
              <a:rPr sz="1600" b="1" i="0">
                <a:solidFill>
                  <a:srgbClr val="2B1D5C"/>
                </a:solidFill>
                <a:latin typeface="맑은 고딕"/>
                <a:ea typeface="맑은 고딕"/>
                <a:cs typeface="맑은 고딕"/>
              </a:rPr>
              <a:t>조립 문제 ·
탭 분석 JSON</a:t>
            </a:r>
          </a:p>
        </p:txBody>
      </p:sp>
      <p:cxnSp>
        <p:nvCxnSpPr>
          <p:cNvPr id="52" name="Connector 51"/>
          <p:cNvCxnSpPr/>
          <p:nvPr/>
        </p:nvCxnSpPr>
        <p:spPr>
          <a:xfrm>
            <a:off x="10332720" y="8961120"/>
            <a:ext cx="457200" cy="0"/>
          </a:xfrm>
          <a:prstGeom prst="line">
            <a:avLst/>
          </a:prstGeom>
          <a:ln w="28575">
            <a:solidFill>
              <a:srgbClr val="6B4EFF"/>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10844784" y="8458200"/>
            <a:ext cx="2743200" cy="1005840"/>
          </a:xfrm>
          <a:prstGeom prst="roundRect">
            <a:avLst>
              <a:gd name="adj" fmla="val 50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0844784" y="8458200"/>
            <a:ext cx="2743200" cy="1005840"/>
          </a:xfrm>
          <a:prstGeom prst="rect">
            <a:avLst/>
          </a:prstGeom>
          <a:noFill/>
        </p:spPr>
        <p:txBody>
          <a:bodyPr wrap="square" anchor="ctr" lIns="0" rIns="0" tIns="0" bIns="0">
            <a:spAutoFit/>
          </a:bodyPr>
          <a:lstStyle/>
          <a:p>
            <a:pPr algn="ctr"/>
            <a:r>
              <a:rPr sz="1600" b="1" i="0">
                <a:solidFill>
                  <a:srgbClr val="2B1D5C"/>
                </a:solidFill>
                <a:latin typeface="맑은 고딕"/>
                <a:ea typeface="맑은 고딕"/>
                <a:cs typeface="맑은 고딕"/>
              </a:rPr>
              <a:t>멱등 SQL 패치</a:t>
            </a:r>
          </a:p>
        </p:txBody>
      </p:sp>
      <p:cxnSp>
        <p:nvCxnSpPr>
          <p:cNvPr id="55" name="Connector 54"/>
          <p:cNvCxnSpPr/>
          <p:nvPr/>
        </p:nvCxnSpPr>
        <p:spPr>
          <a:xfrm>
            <a:off x="13642848" y="8961120"/>
            <a:ext cx="457200" cy="0"/>
          </a:xfrm>
          <a:prstGeom prst="line">
            <a:avLst/>
          </a:prstGeom>
          <a:ln w="28575">
            <a:solidFill>
              <a:srgbClr val="6B4EFF"/>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14154912" y="8458200"/>
            <a:ext cx="2743200" cy="1005840"/>
          </a:xfrm>
          <a:prstGeom prst="roundRect">
            <a:avLst>
              <a:gd name="adj" fmla="val 50000"/>
            </a:avLst>
          </a:prstGeom>
          <a:solidFill>
            <a:srgbClr val="1E9E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4154912" y="8458200"/>
            <a:ext cx="2743200" cy="1005840"/>
          </a:xfrm>
          <a:prstGeom prst="rect">
            <a:avLst/>
          </a:prstGeom>
          <a:noFill/>
        </p:spPr>
        <p:txBody>
          <a:bodyPr wrap="square" anchor="ctr" lIns="0" rIns="0" tIns="0" bIns="0">
            <a:spAutoFit/>
          </a:bodyPr>
          <a:lstStyle/>
          <a:p>
            <a:pPr algn="ctr"/>
            <a:r>
              <a:rPr sz="1600" b="1" i="0">
                <a:solidFill>
                  <a:srgbClr val="FFFFFF"/>
                </a:solidFill>
                <a:latin typeface="맑은 고딕"/>
                <a:ea typeface="맑은 고딕"/>
                <a:cs typeface="맑은 고딕"/>
              </a:rPr>
              <a:t>DB 반영</a:t>
            </a:r>
          </a:p>
        </p:txBody>
      </p:sp>
      <p:cxnSp>
        <p:nvCxnSpPr>
          <p:cNvPr id="58" name="Connector 57"/>
          <p:cNvCxnSpPr/>
          <p:nvPr/>
        </p:nvCxnSpPr>
        <p:spPr>
          <a:xfrm flipV="1">
            <a:off x="15407640" y="7178040"/>
            <a:ext cx="0" cy="1234440"/>
          </a:xfrm>
          <a:prstGeom prst="line">
            <a:avLst/>
          </a:prstGeom>
          <a:ln w="38100">
            <a:solidFill>
              <a:srgbClr val="1E9E7E"/>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486400" y="7863840"/>
            <a:ext cx="9418320" cy="457200"/>
          </a:xfrm>
          <a:prstGeom prst="rect">
            <a:avLst/>
          </a:prstGeom>
          <a:noFill/>
        </p:spPr>
        <p:txBody>
          <a:bodyPr wrap="square" anchor="t" lIns="0" rIns="0" tIns="0" bIns="0">
            <a:spAutoFit/>
          </a:bodyPr>
          <a:lstStyle/>
          <a:p>
            <a:pPr algn="r"/>
            <a:r>
              <a:rPr sz="1500" b="0" i="0">
                <a:solidFill>
                  <a:srgbClr val="6E6A80"/>
                </a:solidFill>
                <a:latin typeface="맑은 고딕"/>
                <a:ea typeface="맑은 고딕"/>
                <a:cs typeface="맑은 고딕"/>
              </a:rPr>
              <a:t>단어: 국립국어원 학습용 어휘 → Gemini 번역·예문 → DB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16459200" cy="914400"/>
          </a:xfrm>
          <a:prstGeom prst="rect">
            <a:avLst/>
          </a:prstGeom>
          <a:noFill/>
        </p:spPr>
        <p:txBody>
          <a:bodyPr wrap="square" anchor="t" lIns="0" rIns="0" tIns="0" bIns="0">
            <a:spAutoFit/>
          </a:bodyPr>
          <a:lstStyle/>
          <a:p>
            <a:pPr algn="ctr"/>
            <a:r>
              <a:rPr sz="5200" b="1" i="0">
                <a:solidFill>
                  <a:srgbClr val="000000"/>
                </a:solidFill>
                <a:latin typeface="맑은 고딕"/>
                <a:ea typeface="맑은 고딕"/>
                <a:cs typeface="맑은 고딕"/>
              </a:rPr>
              <a:t>2학기 — 설계에서 실제 동작으로</a:t>
            </a:r>
          </a:p>
        </p:txBody>
      </p:sp>
      <p:sp>
        <p:nvSpPr>
          <p:cNvPr id="3" name="Oval 2"/>
          <p:cNvSpPr/>
          <p:nvPr/>
        </p:nvSpPr>
        <p:spPr>
          <a:xfrm>
            <a:off x="731520" y="1892807"/>
            <a:ext cx="777240" cy="777240"/>
          </a:xfrm>
          <a:prstGeom prst="ellipse">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92807"/>
            <a:ext cx="777240" cy="777240"/>
          </a:xfrm>
          <a:prstGeom prst="rect">
            <a:avLst/>
          </a:prstGeom>
          <a:noFill/>
        </p:spPr>
        <p:txBody>
          <a:bodyPr wrap="square" anchor="ctr" lIns="0" rIns="0" tIns="0" bIns="0">
            <a:spAutoFit/>
          </a:bodyPr>
          <a:lstStyle/>
          <a:p>
            <a:pPr algn="ctr"/>
            <a:r>
              <a:rPr sz="2400" b="1" i="0">
                <a:solidFill>
                  <a:srgbClr val="FFFFFF"/>
                </a:solidFill>
                <a:latin typeface="맑은 고딕"/>
                <a:ea typeface="맑은 고딕"/>
                <a:cs typeface="맑은 고딕"/>
              </a:rPr>
              <a:t>1</a:t>
            </a:r>
          </a:p>
        </p:txBody>
      </p:sp>
      <p:sp>
        <p:nvSpPr>
          <p:cNvPr id="5" name="TextBox 4"/>
          <p:cNvSpPr txBox="1"/>
          <p:nvPr/>
        </p:nvSpPr>
        <p:spPr>
          <a:xfrm>
            <a:off x="1783080" y="1783080"/>
            <a:ext cx="7498079" cy="1097280"/>
          </a:xfrm>
          <a:prstGeom prst="rect">
            <a:avLst/>
          </a:prstGeom>
          <a:noFill/>
        </p:spPr>
        <p:txBody>
          <a:bodyPr wrap="square" anchor="t" lIns="0" rIns="0" tIns="0" bIns="0">
            <a:spAutoFit/>
          </a:bodyPr>
          <a:lstStyle/>
          <a:p>
            <a:pPr algn="l">
              <a:spcAft>
                <a:spcPts val="200"/>
              </a:spcAft>
            </a:pPr>
            <a:r>
              <a:rPr sz="2400" b="1" i="0">
                <a:solidFill>
                  <a:srgbClr val="2B1D5C"/>
                </a:solidFill>
                <a:latin typeface="맑은 고딕"/>
                <a:ea typeface="맑은 고딕"/>
                <a:cs typeface="맑은 고딕"/>
              </a:rPr>
              <a:t>토끼·거북이 캐릭터</a:t>
            </a:r>
          </a:p>
          <a:p>
            <a:pPr algn="l">
              <a:spcAft>
                <a:spcPts val="200"/>
              </a:spcAft>
            </a:pPr>
            <a:r>
              <a:rPr sz="1900" b="0" i="0">
                <a:solidFill>
                  <a:srgbClr val="6E6A80"/>
                </a:solidFill>
                <a:latin typeface="맑은 고딕"/>
                <a:ea typeface="맑은 고딕"/>
                <a:cs typeface="맑은 고딕"/>
              </a:rPr>
              <a:t>21개 화면 지점 + 홈에서 반응</a:t>
            </a:r>
          </a:p>
        </p:txBody>
      </p:sp>
      <p:sp>
        <p:nvSpPr>
          <p:cNvPr id="6" name="Oval 5"/>
          <p:cNvSpPr/>
          <p:nvPr/>
        </p:nvSpPr>
        <p:spPr>
          <a:xfrm>
            <a:off x="731520" y="3191256"/>
            <a:ext cx="777240" cy="777240"/>
          </a:xfrm>
          <a:prstGeom prst="ellipse">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3191256"/>
            <a:ext cx="777240" cy="777240"/>
          </a:xfrm>
          <a:prstGeom prst="rect">
            <a:avLst/>
          </a:prstGeom>
          <a:noFill/>
        </p:spPr>
        <p:txBody>
          <a:bodyPr wrap="square" anchor="ctr" lIns="0" rIns="0" tIns="0" bIns="0">
            <a:spAutoFit/>
          </a:bodyPr>
          <a:lstStyle/>
          <a:p>
            <a:pPr algn="ctr"/>
            <a:r>
              <a:rPr sz="2400" b="1" i="0">
                <a:solidFill>
                  <a:srgbClr val="FFFFFF"/>
                </a:solidFill>
                <a:latin typeface="맑은 고딕"/>
                <a:ea typeface="맑은 고딕"/>
                <a:cs typeface="맑은 고딕"/>
              </a:rPr>
              <a:t>2</a:t>
            </a:r>
          </a:p>
        </p:txBody>
      </p:sp>
      <p:sp>
        <p:nvSpPr>
          <p:cNvPr id="8" name="TextBox 7"/>
          <p:cNvSpPr txBox="1"/>
          <p:nvPr/>
        </p:nvSpPr>
        <p:spPr>
          <a:xfrm>
            <a:off x="1783080" y="3081528"/>
            <a:ext cx="7498079" cy="1097280"/>
          </a:xfrm>
          <a:prstGeom prst="rect">
            <a:avLst/>
          </a:prstGeom>
          <a:noFill/>
        </p:spPr>
        <p:txBody>
          <a:bodyPr wrap="square" anchor="t" lIns="0" rIns="0" tIns="0" bIns="0">
            <a:spAutoFit/>
          </a:bodyPr>
          <a:lstStyle/>
          <a:p>
            <a:pPr algn="l">
              <a:spcAft>
                <a:spcPts val="200"/>
              </a:spcAft>
            </a:pPr>
            <a:r>
              <a:rPr sz="2400" b="1" i="0">
                <a:solidFill>
                  <a:srgbClr val="2B1D5C"/>
                </a:solidFill>
                <a:latin typeface="맑은 고딕"/>
                <a:ea typeface="맑은 고딕"/>
                <a:cs typeface="맑은 고딕"/>
              </a:rPr>
              <a:t>FSRS-4.5 표준 공식</a:t>
            </a:r>
          </a:p>
          <a:p>
            <a:pPr algn="l">
              <a:spcAft>
                <a:spcPts val="200"/>
              </a:spcAft>
            </a:pPr>
            <a:r>
              <a:rPr sz="1900" b="0" i="0">
                <a:solidFill>
                  <a:srgbClr val="6E6A80"/>
                </a:solidFill>
                <a:latin typeface="맑은 고딕"/>
                <a:ea typeface="맑은 고딕"/>
                <a:cs typeface="맑은 고딕"/>
              </a:rPr>
              <a:t>평가 버튼에 다음 간격 미리보기</a:t>
            </a:r>
          </a:p>
        </p:txBody>
      </p:sp>
      <p:sp>
        <p:nvSpPr>
          <p:cNvPr id="9" name="Oval 8"/>
          <p:cNvSpPr/>
          <p:nvPr/>
        </p:nvSpPr>
        <p:spPr>
          <a:xfrm>
            <a:off x="731520" y="4489704"/>
            <a:ext cx="777240" cy="777240"/>
          </a:xfrm>
          <a:prstGeom prst="ellipse">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4489704"/>
            <a:ext cx="777240" cy="777240"/>
          </a:xfrm>
          <a:prstGeom prst="rect">
            <a:avLst/>
          </a:prstGeom>
          <a:noFill/>
        </p:spPr>
        <p:txBody>
          <a:bodyPr wrap="square" anchor="ctr" lIns="0" rIns="0" tIns="0" bIns="0">
            <a:spAutoFit/>
          </a:bodyPr>
          <a:lstStyle/>
          <a:p>
            <a:pPr algn="ctr"/>
            <a:r>
              <a:rPr sz="2400" b="1" i="0">
                <a:solidFill>
                  <a:srgbClr val="FFFFFF"/>
                </a:solidFill>
                <a:latin typeface="맑은 고딕"/>
                <a:ea typeface="맑은 고딕"/>
                <a:cs typeface="맑은 고딕"/>
              </a:rPr>
              <a:t>3</a:t>
            </a:r>
          </a:p>
        </p:txBody>
      </p:sp>
      <p:sp>
        <p:nvSpPr>
          <p:cNvPr id="11" name="TextBox 10"/>
          <p:cNvSpPr txBox="1"/>
          <p:nvPr/>
        </p:nvSpPr>
        <p:spPr>
          <a:xfrm>
            <a:off x="1783080" y="4379976"/>
            <a:ext cx="7498079" cy="1097280"/>
          </a:xfrm>
          <a:prstGeom prst="rect">
            <a:avLst/>
          </a:prstGeom>
          <a:noFill/>
        </p:spPr>
        <p:txBody>
          <a:bodyPr wrap="square" anchor="t" lIns="0" rIns="0" tIns="0" bIns="0">
            <a:spAutoFit/>
          </a:bodyPr>
          <a:lstStyle/>
          <a:p>
            <a:pPr algn="l">
              <a:spcAft>
                <a:spcPts val="200"/>
              </a:spcAft>
            </a:pPr>
            <a:r>
              <a:rPr sz="2400" b="1" i="0">
                <a:solidFill>
                  <a:srgbClr val="2B1D5C"/>
                </a:solidFill>
                <a:latin typeface="맑은 고딕"/>
                <a:ea typeface="맑은 고딕"/>
                <a:cs typeface="맑은 고딕"/>
              </a:rPr>
              <a:t>조립 문제 파이프라인 재작성</a:t>
            </a:r>
          </a:p>
          <a:p>
            <a:pPr algn="l">
              <a:spcAft>
                <a:spcPts val="200"/>
              </a:spcAft>
            </a:pPr>
            <a:r>
              <a:rPr sz="1900" b="0" i="0">
                <a:solidFill>
                  <a:srgbClr val="6E6A80"/>
                </a:solidFill>
                <a:latin typeface="맑은 고딕"/>
                <a:ea typeface="맑은 고딕"/>
                <a:cs typeface="맑은 고딕"/>
              </a:rPr>
              <a:t>레슨 목표 문법만 분해</a:t>
            </a:r>
          </a:p>
        </p:txBody>
      </p:sp>
      <p:sp>
        <p:nvSpPr>
          <p:cNvPr id="12" name="Oval 11"/>
          <p:cNvSpPr/>
          <p:nvPr/>
        </p:nvSpPr>
        <p:spPr>
          <a:xfrm>
            <a:off x="731520" y="5788152"/>
            <a:ext cx="777240" cy="777240"/>
          </a:xfrm>
          <a:prstGeom prst="ellipse">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5788152"/>
            <a:ext cx="777240" cy="777240"/>
          </a:xfrm>
          <a:prstGeom prst="rect">
            <a:avLst/>
          </a:prstGeom>
          <a:noFill/>
        </p:spPr>
        <p:txBody>
          <a:bodyPr wrap="square" anchor="ctr" lIns="0" rIns="0" tIns="0" bIns="0">
            <a:spAutoFit/>
          </a:bodyPr>
          <a:lstStyle/>
          <a:p>
            <a:pPr algn="ctr"/>
            <a:r>
              <a:rPr sz="2400" b="1" i="0">
                <a:solidFill>
                  <a:srgbClr val="FFFFFF"/>
                </a:solidFill>
                <a:latin typeface="맑은 고딕"/>
                <a:ea typeface="맑은 고딕"/>
                <a:cs typeface="맑은 고딕"/>
              </a:rPr>
              <a:t>4</a:t>
            </a:r>
          </a:p>
        </p:txBody>
      </p:sp>
      <p:sp>
        <p:nvSpPr>
          <p:cNvPr id="14" name="TextBox 13"/>
          <p:cNvSpPr txBox="1"/>
          <p:nvPr/>
        </p:nvSpPr>
        <p:spPr>
          <a:xfrm>
            <a:off x="1783080" y="5678424"/>
            <a:ext cx="7498079" cy="1097280"/>
          </a:xfrm>
          <a:prstGeom prst="rect">
            <a:avLst/>
          </a:prstGeom>
          <a:noFill/>
        </p:spPr>
        <p:txBody>
          <a:bodyPr wrap="square" anchor="t" lIns="0" rIns="0" tIns="0" bIns="0">
            <a:spAutoFit/>
          </a:bodyPr>
          <a:lstStyle/>
          <a:p>
            <a:pPr algn="l">
              <a:spcAft>
                <a:spcPts val="200"/>
              </a:spcAft>
            </a:pPr>
            <a:r>
              <a:rPr sz="2400" b="1" i="0">
                <a:solidFill>
                  <a:srgbClr val="2B1D5C"/>
                </a:solidFill>
                <a:latin typeface="맑은 고딕"/>
                <a:ea typeface="맑은 고딕"/>
                <a:cs typeface="맑은 고딕"/>
              </a:rPr>
              <a:t>미션 실제 판정</a:t>
            </a:r>
          </a:p>
          <a:p>
            <a:pPr algn="l">
              <a:spcAft>
                <a:spcPts val="200"/>
              </a:spcAft>
            </a:pPr>
            <a:r>
              <a:rPr sz="1900" b="0" i="0">
                <a:solidFill>
                  <a:srgbClr val="6E6A80"/>
                </a:solidFill>
                <a:latin typeface="맑은 고딕"/>
                <a:ea typeface="맑은 고딕"/>
                <a:cs typeface="맑은 고딕"/>
              </a:rPr>
              <a:t>미달이면 재도전 권유 · 레드/옐로카드</a:t>
            </a:r>
          </a:p>
        </p:txBody>
      </p:sp>
      <p:sp>
        <p:nvSpPr>
          <p:cNvPr id="15" name="Oval 14"/>
          <p:cNvSpPr/>
          <p:nvPr/>
        </p:nvSpPr>
        <p:spPr>
          <a:xfrm>
            <a:off x="731520" y="7086600"/>
            <a:ext cx="777240" cy="777240"/>
          </a:xfrm>
          <a:prstGeom prst="ellipse">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7086600"/>
            <a:ext cx="777240" cy="777240"/>
          </a:xfrm>
          <a:prstGeom prst="rect">
            <a:avLst/>
          </a:prstGeom>
          <a:noFill/>
        </p:spPr>
        <p:txBody>
          <a:bodyPr wrap="square" anchor="ctr" lIns="0" rIns="0" tIns="0" bIns="0">
            <a:spAutoFit/>
          </a:bodyPr>
          <a:lstStyle/>
          <a:p>
            <a:pPr algn="ctr"/>
            <a:r>
              <a:rPr sz="2400" b="1" i="0">
                <a:solidFill>
                  <a:srgbClr val="FFFFFF"/>
                </a:solidFill>
                <a:latin typeface="맑은 고딕"/>
                <a:ea typeface="맑은 고딕"/>
                <a:cs typeface="맑은 고딕"/>
              </a:rPr>
              <a:t>5</a:t>
            </a:r>
          </a:p>
        </p:txBody>
      </p:sp>
      <p:sp>
        <p:nvSpPr>
          <p:cNvPr id="17" name="TextBox 16"/>
          <p:cNvSpPr txBox="1"/>
          <p:nvPr/>
        </p:nvSpPr>
        <p:spPr>
          <a:xfrm>
            <a:off x="1783080" y="6976872"/>
            <a:ext cx="7498079" cy="1097280"/>
          </a:xfrm>
          <a:prstGeom prst="rect">
            <a:avLst/>
          </a:prstGeom>
          <a:noFill/>
        </p:spPr>
        <p:txBody>
          <a:bodyPr wrap="square" anchor="t" lIns="0" rIns="0" tIns="0" bIns="0">
            <a:spAutoFit/>
          </a:bodyPr>
          <a:lstStyle/>
          <a:p>
            <a:pPr algn="l">
              <a:spcAft>
                <a:spcPts val="200"/>
              </a:spcAft>
            </a:pPr>
            <a:r>
              <a:rPr sz="2400" b="1" i="0">
                <a:solidFill>
                  <a:srgbClr val="2B1D5C"/>
                </a:solidFill>
                <a:latin typeface="맑은 고딕"/>
                <a:ea typeface="맑은 고딕"/>
                <a:cs typeface="맑은 고딕"/>
              </a:rPr>
              <a:t>서버 TTS</a:t>
            </a:r>
          </a:p>
          <a:p>
            <a:pPr algn="l">
              <a:spcAft>
                <a:spcPts val="200"/>
              </a:spcAft>
            </a:pPr>
            <a:r>
              <a:rPr sz="1900" b="0" i="0">
                <a:solidFill>
                  <a:srgbClr val="6E6A80"/>
                </a:solidFill>
                <a:latin typeface="맑은 고딕"/>
                <a:ea typeface="맑은 고딕"/>
                <a:cs typeface="맑은 고딕"/>
              </a:rPr>
              <a:t>발음 음성 생성 + DB 캐시</a:t>
            </a:r>
          </a:p>
        </p:txBody>
      </p:sp>
      <p:sp>
        <p:nvSpPr>
          <p:cNvPr id="18" name="Oval 17"/>
          <p:cNvSpPr/>
          <p:nvPr/>
        </p:nvSpPr>
        <p:spPr>
          <a:xfrm>
            <a:off x="731520" y="8385047"/>
            <a:ext cx="777240" cy="777240"/>
          </a:xfrm>
          <a:prstGeom prst="ellipse">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1520" y="8385047"/>
            <a:ext cx="777240" cy="777240"/>
          </a:xfrm>
          <a:prstGeom prst="rect">
            <a:avLst/>
          </a:prstGeom>
          <a:noFill/>
        </p:spPr>
        <p:txBody>
          <a:bodyPr wrap="square" anchor="ctr" lIns="0" rIns="0" tIns="0" bIns="0">
            <a:spAutoFit/>
          </a:bodyPr>
          <a:lstStyle/>
          <a:p>
            <a:pPr algn="ctr"/>
            <a:r>
              <a:rPr sz="2400" b="1" i="0">
                <a:solidFill>
                  <a:srgbClr val="FFFFFF"/>
                </a:solidFill>
                <a:latin typeface="맑은 고딕"/>
                <a:ea typeface="맑은 고딕"/>
                <a:cs typeface="맑은 고딕"/>
              </a:rPr>
              <a:t>6</a:t>
            </a:r>
          </a:p>
        </p:txBody>
      </p:sp>
      <p:sp>
        <p:nvSpPr>
          <p:cNvPr id="20" name="TextBox 19"/>
          <p:cNvSpPr txBox="1"/>
          <p:nvPr/>
        </p:nvSpPr>
        <p:spPr>
          <a:xfrm>
            <a:off x="1783080" y="8275319"/>
            <a:ext cx="7498079" cy="1097280"/>
          </a:xfrm>
          <a:prstGeom prst="rect">
            <a:avLst/>
          </a:prstGeom>
          <a:noFill/>
        </p:spPr>
        <p:txBody>
          <a:bodyPr wrap="square" anchor="t" lIns="0" rIns="0" tIns="0" bIns="0">
            <a:spAutoFit/>
          </a:bodyPr>
          <a:lstStyle/>
          <a:p>
            <a:pPr algn="l">
              <a:spcAft>
                <a:spcPts val="200"/>
              </a:spcAft>
            </a:pPr>
            <a:r>
              <a:rPr sz="2400" b="1" i="0">
                <a:solidFill>
                  <a:srgbClr val="2B1D5C"/>
                </a:solidFill>
                <a:latin typeface="맑은 고딕"/>
                <a:ea typeface="맑은 고딕"/>
                <a:cs typeface="맑은 고딕"/>
              </a:rPr>
              <a:t>Railway 배포 · 사용자 피드백 반영</a:t>
            </a:r>
          </a:p>
          <a:p>
            <a:pPr algn="l">
              <a:spcAft>
                <a:spcPts val="200"/>
              </a:spcAft>
            </a:pPr>
            <a:r>
              <a:rPr sz="1900" b="0" i="0">
                <a:solidFill>
                  <a:srgbClr val="6E6A80"/>
                </a:solidFill>
                <a:latin typeface="맑은 고딕"/>
                <a:ea typeface="맑은 고딕"/>
                <a:cs typeface="맑은 고딕"/>
              </a:rPr>
              <a:t>실제 iPhone 에서 운영 서버로 동작</a:t>
            </a:r>
          </a:p>
        </p:txBody>
      </p:sp>
      <p:sp>
        <p:nvSpPr>
          <p:cNvPr id="21" name="Rounded Rectangle 20"/>
          <p:cNvSpPr/>
          <p:nvPr/>
        </p:nvSpPr>
        <p:spPr>
          <a:xfrm>
            <a:off x="9692640" y="1783080"/>
            <a:ext cx="3794760" cy="3703320"/>
          </a:xfrm>
          <a:prstGeom prst="roundRect">
            <a:avLst>
              <a:gd name="adj" fmla="val 8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75519" y="2103120"/>
            <a:ext cx="3429000" cy="1188720"/>
          </a:xfrm>
          <a:prstGeom prst="rect">
            <a:avLst/>
          </a:prstGeom>
          <a:noFill/>
        </p:spPr>
        <p:txBody>
          <a:bodyPr wrap="square" anchor="ctr" lIns="0" rIns="0" tIns="0" bIns="0">
            <a:spAutoFit/>
          </a:bodyPr>
          <a:lstStyle/>
          <a:p>
            <a:pPr algn="ctr"/>
            <a:r>
              <a:rPr sz="5000" b="1" i="0">
                <a:solidFill>
                  <a:srgbClr val="6B4EFF"/>
                </a:solidFill>
                <a:latin typeface="맑은 고딕"/>
                <a:ea typeface="맑은 고딕"/>
                <a:cs typeface="맑은 고딕"/>
              </a:rPr>
              <a:t>1.5~2초</a:t>
            </a:r>
          </a:p>
        </p:txBody>
      </p:sp>
      <p:sp>
        <p:nvSpPr>
          <p:cNvPr id="23" name="TextBox 22"/>
          <p:cNvSpPr txBox="1"/>
          <p:nvPr/>
        </p:nvSpPr>
        <p:spPr>
          <a:xfrm>
            <a:off x="9875519" y="3383280"/>
            <a:ext cx="3429000" cy="548640"/>
          </a:xfrm>
          <a:prstGeom prst="rect">
            <a:avLst/>
          </a:prstGeom>
          <a:noFill/>
        </p:spPr>
        <p:txBody>
          <a:bodyPr wrap="square" anchor="t" lIns="0" rIns="0" tIns="0" bIns="0">
            <a:spAutoFit/>
          </a:bodyPr>
          <a:lstStyle/>
          <a:p>
            <a:pPr algn="ctr"/>
            <a:r>
              <a:rPr sz="2200" b="1" i="0">
                <a:solidFill>
                  <a:srgbClr val="2B1D5C"/>
                </a:solidFill>
                <a:latin typeface="맑은 고딕"/>
                <a:ea typeface="맑은 고딕"/>
                <a:cs typeface="맑은 고딕"/>
              </a:rPr>
              <a:t>미션 한 턴</a:t>
            </a:r>
          </a:p>
        </p:txBody>
      </p:sp>
      <p:sp>
        <p:nvSpPr>
          <p:cNvPr id="24" name="TextBox 23"/>
          <p:cNvSpPr txBox="1"/>
          <p:nvPr/>
        </p:nvSpPr>
        <p:spPr>
          <a:xfrm>
            <a:off x="9875519" y="4069080"/>
            <a:ext cx="3429000" cy="1188720"/>
          </a:xfrm>
          <a:prstGeom prst="rect">
            <a:avLst/>
          </a:prstGeom>
          <a:noFill/>
        </p:spPr>
        <p:txBody>
          <a:bodyPr wrap="square" anchor="t" lIns="0" rIns="0" tIns="0" bIns="0">
            <a:spAutoFit/>
          </a:bodyPr>
          <a:lstStyle/>
          <a:p>
            <a:pPr algn="ctr"/>
            <a:r>
              <a:rPr sz="1600" b="0" i="0">
                <a:solidFill>
                  <a:srgbClr val="6E6A80"/>
                </a:solidFill>
                <a:latin typeface="맑은 고딕"/>
                <a:ea typeface="맑은 고딕"/>
                <a:cs typeface="맑은 고딕"/>
              </a:rPr>
              <a:t>토끼·거북이 병렬 호출</a:t>
            </a:r>
          </a:p>
          <a:p>
            <a:pPr algn="ctr"/>
            <a:r>
              <a:rPr sz="1600" b="0" i="0">
                <a:solidFill>
                  <a:srgbClr val="6E6A80"/>
                </a:solidFill>
                <a:latin typeface="맑은 고딕"/>
                <a:ea typeface="맑은 고딕"/>
                <a:cs typeface="맑은 고딕"/>
              </a:rPr>
              <a:t>순차 대비 30~50% 단축</a:t>
            </a:r>
          </a:p>
        </p:txBody>
      </p:sp>
      <p:sp>
        <p:nvSpPr>
          <p:cNvPr id="25" name="Rounded Rectangle 24"/>
          <p:cNvSpPr/>
          <p:nvPr/>
        </p:nvSpPr>
        <p:spPr>
          <a:xfrm>
            <a:off x="13761720" y="1783080"/>
            <a:ext cx="3794760" cy="3703320"/>
          </a:xfrm>
          <a:prstGeom prst="roundRect">
            <a:avLst>
              <a:gd name="adj" fmla="val 8000"/>
            </a:avLst>
          </a:prstGeom>
          <a:solidFill>
            <a:srgbClr val="E3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3944600" y="2103120"/>
            <a:ext cx="3429000" cy="1188720"/>
          </a:xfrm>
          <a:prstGeom prst="rect">
            <a:avLst/>
          </a:prstGeom>
          <a:noFill/>
        </p:spPr>
        <p:txBody>
          <a:bodyPr wrap="square" anchor="ctr" lIns="0" rIns="0" tIns="0" bIns="0">
            <a:spAutoFit/>
          </a:bodyPr>
          <a:lstStyle/>
          <a:p>
            <a:pPr algn="ctr"/>
            <a:r>
              <a:rPr sz="5000" b="1" i="0">
                <a:solidFill>
                  <a:srgbClr val="1E9E7E"/>
                </a:solidFill>
                <a:latin typeface="맑은 고딕"/>
                <a:ea typeface="맑은 고딕"/>
                <a:cs typeface="맑은 고딕"/>
              </a:rPr>
              <a:t>1~2ms</a:t>
            </a:r>
          </a:p>
        </p:txBody>
      </p:sp>
      <p:sp>
        <p:nvSpPr>
          <p:cNvPr id="27" name="TextBox 26"/>
          <p:cNvSpPr txBox="1"/>
          <p:nvPr/>
        </p:nvSpPr>
        <p:spPr>
          <a:xfrm>
            <a:off x="13944600" y="3383280"/>
            <a:ext cx="3429000" cy="548640"/>
          </a:xfrm>
          <a:prstGeom prst="rect">
            <a:avLst/>
          </a:prstGeom>
          <a:noFill/>
        </p:spPr>
        <p:txBody>
          <a:bodyPr wrap="square" anchor="t" lIns="0" rIns="0" tIns="0" bIns="0">
            <a:spAutoFit/>
          </a:bodyPr>
          <a:lstStyle/>
          <a:p>
            <a:pPr algn="ctr"/>
            <a:r>
              <a:rPr sz="2200" b="1" i="0">
                <a:solidFill>
                  <a:srgbClr val="2B1D5C"/>
                </a:solidFill>
                <a:latin typeface="맑은 고딕"/>
                <a:ea typeface="맑은 고딕"/>
                <a:cs typeface="맑은 고딕"/>
              </a:rPr>
              <a:t>AI 캐시 HIT</a:t>
            </a:r>
          </a:p>
        </p:txBody>
      </p:sp>
      <p:sp>
        <p:nvSpPr>
          <p:cNvPr id="28" name="TextBox 27"/>
          <p:cNvSpPr txBox="1"/>
          <p:nvPr/>
        </p:nvSpPr>
        <p:spPr>
          <a:xfrm>
            <a:off x="13944600" y="4069080"/>
            <a:ext cx="3429000" cy="1188720"/>
          </a:xfrm>
          <a:prstGeom prst="rect">
            <a:avLst/>
          </a:prstGeom>
          <a:noFill/>
        </p:spPr>
        <p:txBody>
          <a:bodyPr wrap="square" anchor="t" lIns="0" rIns="0" tIns="0" bIns="0">
            <a:spAutoFit/>
          </a:bodyPr>
          <a:lstStyle/>
          <a:p>
            <a:pPr algn="ctr"/>
            <a:r>
              <a:rPr sz="1600" b="0" i="0">
                <a:solidFill>
                  <a:srgbClr val="6E6A80"/>
                </a:solidFill>
                <a:latin typeface="맑은 고딕"/>
                <a:ea typeface="맑은 고딕"/>
                <a:cs typeface="맑은 고딕"/>
              </a:rPr>
              <a:t>같은 요청은 DB 캐시</a:t>
            </a:r>
          </a:p>
          <a:p>
            <a:pPr algn="ctr"/>
            <a:r>
              <a:rPr sz="1600" b="0" i="0">
                <a:solidFill>
                  <a:srgbClr val="6E6A80"/>
                </a:solidFill>
                <a:latin typeface="맑은 고딕"/>
                <a:ea typeface="맑은 고딕"/>
                <a:cs typeface="맑은 고딕"/>
              </a:rPr>
              <a:t>MISS(Gemini) 3~5초</a:t>
            </a:r>
          </a:p>
        </p:txBody>
      </p:sp>
      <p:sp>
        <p:nvSpPr>
          <p:cNvPr id="29" name="Rounded Rectangle 28"/>
          <p:cNvSpPr/>
          <p:nvPr/>
        </p:nvSpPr>
        <p:spPr>
          <a:xfrm>
            <a:off x="9692640" y="5760720"/>
            <a:ext cx="3794760" cy="3703320"/>
          </a:xfrm>
          <a:prstGeom prst="roundRect">
            <a:avLst>
              <a:gd name="adj" fmla="val 8000"/>
            </a:avLst>
          </a:prstGeom>
          <a:solidFill>
            <a:srgbClr val="FF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875519" y="6080759"/>
            <a:ext cx="3429000" cy="1188720"/>
          </a:xfrm>
          <a:prstGeom prst="rect">
            <a:avLst/>
          </a:prstGeom>
          <a:noFill/>
        </p:spPr>
        <p:txBody>
          <a:bodyPr wrap="square" anchor="ctr" lIns="0" rIns="0" tIns="0" bIns="0">
            <a:spAutoFit/>
          </a:bodyPr>
          <a:lstStyle/>
          <a:p>
            <a:pPr algn="ctr"/>
            <a:r>
              <a:rPr sz="5000" b="1" i="0">
                <a:solidFill>
                  <a:srgbClr val="E0457B"/>
                </a:solidFill>
                <a:latin typeface="맑은 고딕"/>
                <a:ea typeface="맑은 고딕"/>
                <a:cs typeface="맑은 고딕"/>
              </a:rPr>
              <a:t>123 · 67</a:t>
            </a:r>
          </a:p>
        </p:txBody>
      </p:sp>
      <p:sp>
        <p:nvSpPr>
          <p:cNvPr id="31" name="TextBox 30"/>
          <p:cNvSpPr txBox="1"/>
          <p:nvPr/>
        </p:nvSpPr>
        <p:spPr>
          <a:xfrm>
            <a:off x="9875519" y="7360920"/>
            <a:ext cx="3429000" cy="548640"/>
          </a:xfrm>
          <a:prstGeom prst="rect">
            <a:avLst/>
          </a:prstGeom>
          <a:noFill/>
        </p:spPr>
        <p:txBody>
          <a:bodyPr wrap="square" anchor="t" lIns="0" rIns="0" tIns="0" bIns="0">
            <a:spAutoFit/>
          </a:bodyPr>
          <a:lstStyle/>
          <a:p>
            <a:pPr algn="ctr"/>
            <a:r>
              <a:rPr sz="2200" b="1" i="0">
                <a:solidFill>
                  <a:srgbClr val="2B1D5C"/>
                </a:solidFill>
                <a:latin typeface="맑은 고딕"/>
                <a:ea typeface="맑은 고딕"/>
                <a:cs typeface="맑은 고딕"/>
              </a:rPr>
              <a:t>자동 테스트</a:t>
            </a:r>
          </a:p>
        </p:txBody>
      </p:sp>
      <p:sp>
        <p:nvSpPr>
          <p:cNvPr id="32" name="TextBox 31"/>
          <p:cNvSpPr txBox="1"/>
          <p:nvPr/>
        </p:nvSpPr>
        <p:spPr>
          <a:xfrm>
            <a:off x="9875519" y="8046720"/>
            <a:ext cx="3429000" cy="1188720"/>
          </a:xfrm>
          <a:prstGeom prst="rect">
            <a:avLst/>
          </a:prstGeom>
          <a:noFill/>
        </p:spPr>
        <p:txBody>
          <a:bodyPr wrap="square" anchor="t" lIns="0" rIns="0" tIns="0" bIns="0">
            <a:spAutoFit/>
          </a:bodyPr>
          <a:lstStyle/>
          <a:p>
            <a:pPr algn="ctr"/>
            <a:r>
              <a:rPr sz="1600" b="0" i="0">
                <a:solidFill>
                  <a:srgbClr val="6E6A80"/>
                </a:solidFill>
                <a:latin typeface="맑은 고딕"/>
                <a:ea typeface="맑은 고딕"/>
                <a:cs typeface="맑은 고딕"/>
              </a:rPr>
              <a:t>서버 123개 · 앱 67개</a:t>
            </a:r>
          </a:p>
          <a:p>
            <a:pPr algn="ctr"/>
            <a:r>
              <a:rPr sz="1600" b="0" i="0">
                <a:solidFill>
                  <a:srgbClr val="6E6A80"/>
                </a:solidFill>
                <a:latin typeface="맑은 고딕"/>
                <a:ea typeface="맑은 고딕"/>
                <a:cs typeface="맑은 고딕"/>
              </a:rPr>
              <a:t>전부 통과</a:t>
            </a:r>
          </a:p>
        </p:txBody>
      </p:sp>
      <p:sp>
        <p:nvSpPr>
          <p:cNvPr id="33" name="Rounded Rectangle 32"/>
          <p:cNvSpPr/>
          <p:nvPr/>
        </p:nvSpPr>
        <p:spPr>
          <a:xfrm>
            <a:off x="13761720" y="5760720"/>
            <a:ext cx="3794760" cy="3703320"/>
          </a:xfrm>
          <a:prstGeom prst="roundRect">
            <a:avLst>
              <a:gd name="adj" fmla="val 8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3944600" y="6080759"/>
            <a:ext cx="3429000" cy="1188720"/>
          </a:xfrm>
          <a:prstGeom prst="rect">
            <a:avLst/>
          </a:prstGeom>
          <a:noFill/>
        </p:spPr>
        <p:txBody>
          <a:bodyPr wrap="square" anchor="ctr" lIns="0" rIns="0" tIns="0" bIns="0">
            <a:spAutoFit/>
          </a:bodyPr>
          <a:lstStyle/>
          <a:p>
            <a:pPr algn="ctr"/>
            <a:r>
              <a:rPr sz="5000" b="1" i="0">
                <a:solidFill>
                  <a:srgbClr val="B07A00"/>
                </a:solidFill>
                <a:latin typeface="맑은 고딕"/>
                <a:ea typeface="맑은 고딕"/>
                <a:cs typeface="맑은 고딕"/>
              </a:rPr>
              <a:t>Railway</a:t>
            </a:r>
          </a:p>
        </p:txBody>
      </p:sp>
      <p:sp>
        <p:nvSpPr>
          <p:cNvPr id="35" name="TextBox 34"/>
          <p:cNvSpPr txBox="1"/>
          <p:nvPr/>
        </p:nvSpPr>
        <p:spPr>
          <a:xfrm>
            <a:off x="13944600" y="7360920"/>
            <a:ext cx="3429000" cy="548640"/>
          </a:xfrm>
          <a:prstGeom prst="rect">
            <a:avLst/>
          </a:prstGeom>
          <a:noFill/>
        </p:spPr>
        <p:txBody>
          <a:bodyPr wrap="square" anchor="t" lIns="0" rIns="0" tIns="0" bIns="0">
            <a:spAutoFit/>
          </a:bodyPr>
          <a:lstStyle/>
          <a:p>
            <a:pPr algn="ctr"/>
            <a:r>
              <a:rPr sz="2200" b="1" i="0">
                <a:solidFill>
                  <a:srgbClr val="2B1D5C"/>
                </a:solidFill>
                <a:latin typeface="맑은 고딕"/>
                <a:ea typeface="맑은 고딕"/>
                <a:cs typeface="맑은 고딕"/>
              </a:rPr>
              <a:t>운영 배포</a:t>
            </a:r>
          </a:p>
        </p:txBody>
      </p:sp>
      <p:sp>
        <p:nvSpPr>
          <p:cNvPr id="36" name="TextBox 35"/>
          <p:cNvSpPr txBox="1"/>
          <p:nvPr/>
        </p:nvSpPr>
        <p:spPr>
          <a:xfrm>
            <a:off x="13944600" y="8046720"/>
            <a:ext cx="3429000" cy="1188720"/>
          </a:xfrm>
          <a:prstGeom prst="rect">
            <a:avLst/>
          </a:prstGeom>
          <a:noFill/>
        </p:spPr>
        <p:txBody>
          <a:bodyPr wrap="square" anchor="t" lIns="0" rIns="0" tIns="0" bIns="0">
            <a:spAutoFit/>
          </a:bodyPr>
          <a:lstStyle/>
          <a:p>
            <a:pPr algn="ctr"/>
            <a:r>
              <a:rPr sz="1600" b="0" i="0">
                <a:solidFill>
                  <a:srgbClr val="6E6A80"/>
                </a:solidFill>
                <a:latin typeface="맑은 고딕"/>
                <a:ea typeface="맑은 고딕"/>
                <a:cs typeface="맑은 고딕"/>
              </a:rPr>
              <a:t>iPhone 실기기에서</a:t>
            </a:r>
          </a:p>
          <a:p>
            <a:pPr algn="ctr"/>
            <a:r>
              <a:rPr sz="1600" b="0" i="0">
                <a:solidFill>
                  <a:srgbClr val="6E6A80"/>
                </a:solidFill>
                <a:latin typeface="맑은 고딕"/>
                <a:ea typeface="맑은 고딕"/>
                <a:cs typeface="맑은 고딕"/>
              </a:rPr>
              <a:t>운영 서버로 동작</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rabbit_magic.png"/>
          <p:cNvPicPr>
            <a:picLocks noChangeAspect="1"/>
          </p:cNvPicPr>
          <p:nvPr/>
        </p:nvPicPr>
        <p:blipFill>
          <a:blip r:embed="rId2"/>
          <a:stretch>
            <a:fillRect/>
          </a:stretch>
        </p:blipFill>
        <p:spPr>
          <a:xfrm>
            <a:off x="914400" y="2651760"/>
            <a:ext cx="5207639" cy="5669280"/>
          </a:xfrm>
          <a:prstGeom prst="rect">
            <a:avLst/>
          </a:prstGeom>
        </p:spPr>
      </p:pic>
      <p:pic>
        <p:nvPicPr>
          <p:cNvPr id="4" name="Picture 3" descr="turtle_happy.png"/>
          <p:cNvPicPr>
            <a:picLocks noChangeAspect="1"/>
          </p:cNvPicPr>
          <p:nvPr/>
        </p:nvPicPr>
        <p:blipFill>
          <a:blip r:embed="rId3"/>
          <a:stretch>
            <a:fillRect/>
          </a:stretch>
        </p:blipFill>
        <p:spPr>
          <a:xfrm>
            <a:off x="13258800" y="3108960"/>
            <a:ext cx="4806086" cy="5120640"/>
          </a:xfrm>
          <a:prstGeom prst="rect">
            <a:avLst/>
          </a:prstGeom>
        </p:spPr>
      </p:pic>
      <p:sp>
        <p:nvSpPr>
          <p:cNvPr id="5" name="TextBox 4"/>
          <p:cNvSpPr txBox="1"/>
          <p:nvPr/>
        </p:nvSpPr>
        <p:spPr>
          <a:xfrm>
            <a:off x="4572000" y="2651760"/>
            <a:ext cx="9144000" cy="2011680"/>
          </a:xfrm>
          <a:prstGeom prst="rect">
            <a:avLst/>
          </a:prstGeom>
          <a:noFill/>
        </p:spPr>
        <p:txBody>
          <a:bodyPr wrap="square" anchor="ctr" lIns="0" rIns="0" tIns="0" bIns="0">
            <a:spAutoFit/>
          </a:bodyPr>
          <a:lstStyle/>
          <a:p>
            <a:pPr algn="ctr"/>
            <a:r>
              <a:rPr sz="15000" b="1" i="0">
                <a:solidFill>
                  <a:srgbClr val="FFFFFF"/>
                </a:solidFill>
                <a:latin typeface="맑은 고딕"/>
                <a:ea typeface="맑은 고딕"/>
                <a:cs typeface="맑은 고딕"/>
              </a:rPr>
              <a:t>DEMO</a:t>
            </a:r>
          </a:p>
        </p:txBody>
      </p:sp>
      <p:sp>
        <p:nvSpPr>
          <p:cNvPr id="6" name="TextBox 5"/>
          <p:cNvSpPr txBox="1"/>
          <p:nvPr/>
        </p:nvSpPr>
        <p:spPr>
          <a:xfrm>
            <a:off x="4572000" y="4846320"/>
            <a:ext cx="9144000" cy="731520"/>
          </a:xfrm>
          <a:prstGeom prst="rect">
            <a:avLst/>
          </a:prstGeom>
          <a:noFill/>
        </p:spPr>
        <p:txBody>
          <a:bodyPr wrap="square" anchor="t" lIns="0" rIns="0" tIns="0" bIns="0">
            <a:spAutoFit/>
          </a:bodyPr>
          <a:lstStyle/>
          <a:p>
            <a:pPr algn="ctr"/>
            <a:r>
              <a:rPr sz="3200" b="1" i="0">
                <a:solidFill>
                  <a:srgbClr val="FFFFFF"/>
                </a:solidFill>
                <a:latin typeface="맑은 고딕"/>
                <a:ea typeface="맑은 고딕"/>
                <a:cs typeface="맑은 고딕"/>
              </a:rPr>
              <a:t>시연 — iPhone 실기기 · 운영 서버 연결</a:t>
            </a:r>
          </a:p>
        </p:txBody>
      </p:sp>
      <p:sp>
        <p:nvSpPr>
          <p:cNvPr id="7" name="Rounded Rectangle 6"/>
          <p:cNvSpPr/>
          <p:nvPr/>
        </p:nvSpPr>
        <p:spPr>
          <a:xfrm>
            <a:off x="5120640" y="6309360"/>
            <a:ext cx="1737360" cy="7315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120640" y="6309360"/>
            <a:ext cx="1737360" cy="731520"/>
          </a:xfrm>
          <a:prstGeom prst="rect">
            <a:avLst/>
          </a:prstGeom>
          <a:noFill/>
        </p:spPr>
        <p:txBody>
          <a:bodyPr wrap="square" anchor="ctr" lIns="0" rIns="0" tIns="0" bIns="0">
            <a:spAutoFit/>
          </a:bodyPr>
          <a:lstStyle/>
          <a:p>
            <a:pPr algn="ctr"/>
            <a:r>
              <a:rPr sz="2200" b="1" i="0">
                <a:solidFill>
                  <a:srgbClr val="6B4EFF"/>
                </a:solidFill>
                <a:latin typeface="맑은 고딕"/>
                <a:ea typeface="맑은 고딕"/>
                <a:cs typeface="맑은 고딕"/>
              </a:rPr>
              <a:t>레슨</a:t>
            </a:r>
          </a:p>
        </p:txBody>
      </p:sp>
      <p:cxnSp>
        <p:nvCxnSpPr>
          <p:cNvPr id="9" name="Connector 8"/>
          <p:cNvCxnSpPr/>
          <p:nvPr/>
        </p:nvCxnSpPr>
        <p:spPr>
          <a:xfrm>
            <a:off x="6885431" y="6675120"/>
            <a:ext cx="310896" cy="0"/>
          </a:xfrm>
          <a:prstGeom prst="line">
            <a:avLst/>
          </a:prstGeom>
          <a:ln w="28575">
            <a:solidFill>
              <a:srgbClr val="FFFFFF"/>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223759" y="6309360"/>
            <a:ext cx="1737360" cy="7315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23759" y="6309360"/>
            <a:ext cx="1737360" cy="731520"/>
          </a:xfrm>
          <a:prstGeom prst="rect">
            <a:avLst/>
          </a:prstGeom>
          <a:noFill/>
        </p:spPr>
        <p:txBody>
          <a:bodyPr wrap="square" anchor="ctr" lIns="0" rIns="0" tIns="0" bIns="0">
            <a:spAutoFit/>
          </a:bodyPr>
          <a:lstStyle/>
          <a:p>
            <a:pPr algn="ctr"/>
            <a:r>
              <a:rPr sz="2200" b="1" i="0">
                <a:solidFill>
                  <a:srgbClr val="6B4EFF"/>
                </a:solidFill>
                <a:latin typeface="맑은 고딕"/>
                <a:ea typeface="맑은 고딕"/>
                <a:cs typeface="맑은 고딕"/>
              </a:rPr>
              <a:t>단어</a:t>
            </a:r>
          </a:p>
        </p:txBody>
      </p:sp>
      <p:cxnSp>
        <p:nvCxnSpPr>
          <p:cNvPr id="12" name="Connector 11"/>
          <p:cNvCxnSpPr/>
          <p:nvPr/>
        </p:nvCxnSpPr>
        <p:spPr>
          <a:xfrm>
            <a:off x="8988552" y="6675120"/>
            <a:ext cx="310896" cy="0"/>
          </a:xfrm>
          <a:prstGeom prst="line">
            <a:avLst/>
          </a:prstGeom>
          <a:ln w="28575">
            <a:solidFill>
              <a:srgbClr val="FFFFFF"/>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326880" y="6309360"/>
            <a:ext cx="1737360" cy="7315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0" y="6309360"/>
            <a:ext cx="1737360" cy="731520"/>
          </a:xfrm>
          <a:prstGeom prst="rect">
            <a:avLst/>
          </a:prstGeom>
          <a:noFill/>
        </p:spPr>
        <p:txBody>
          <a:bodyPr wrap="square" anchor="ctr" lIns="0" rIns="0" tIns="0" bIns="0">
            <a:spAutoFit/>
          </a:bodyPr>
          <a:lstStyle/>
          <a:p>
            <a:pPr algn="ctr"/>
            <a:r>
              <a:rPr sz="2200" b="1" i="0">
                <a:solidFill>
                  <a:srgbClr val="6B4EFF"/>
                </a:solidFill>
                <a:latin typeface="맑은 고딕"/>
                <a:ea typeface="맑은 고딕"/>
                <a:cs typeface="맑은 고딕"/>
              </a:rPr>
              <a:t>미션</a:t>
            </a:r>
          </a:p>
        </p:txBody>
      </p:sp>
      <p:cxnSp>
        <p:nvCxnSpPr>
          <p:cNvPr id="15" name="Connector 14"/>
          <p:cNvCxnSpPr/>
          <p:nvPr/>
        </p:nvCxnSpPr>
        <p:spPr>
          <a:xfrm>
            <a:off x="11091672" y="6675120"/>
            <a:ext cx="310895" cy="0"/>
          </a:xfrm>
          <a:prstGeom prst="line">
            <a:avLst/>
          </a:prstGeom>
          <a:ln w="28575">
            <a:solidFill>
              <a:srgbClr val="FFFFFF"/>
            </a:solidFill>
            <a:headEnd type="none"/>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1430000" y="6309360"/>
            <a:ext cx="1737360" cy="7315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430000" y="6309360"/>
            <a:ext cx="1737360" cy="731520"/>
          </a:xfrm>
          <a:prstGeom prst="rect">
            <a:avLst/>
          </a:prstGeom>
          <a:noFill/>
        </p:spPr>
        <p:txBody>
          <a:bodyPr wrap="square" anchor="ctr" lIns="0" rIns="0" tIns="0" bIns="0">
            <a:spAutoFit/>
          </a:bodyPr>
          <a:lstStyle/>
          <a:p>
            <a:pPr algn="ctr"/>
            <a:r>
              <a:rPr sz="2200" b="1" i="0">
                <a:solidFill>
                  <a:srgbClr val="6B4EFF"/>
                </a:solidFill>
                <a:latin typeface="맑은 고딕"/>
                <a:ea typeface="맑은 고딕"/>
                <a:cs typeface="맑은 고딕"/>
              </a:rPr>
              <a:t>실험실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11480"/>
            <a:ext cx="16459200" cy="914400"/>
          </a:xfrm>
          <a:prstGeom prst="rect">
            <a:avLst/>
          </a:prstGeom>
          <a:noFill/>
        </p:spPr>
        <p:txBody>
          <a:bodyPr wrap="square" anchor="t" lIns="0" rIns="0" tIns="0" bIns="0">
            <a:spAutoFit/>
          </a:bodyPr>
          <a:lstStyle/>
          <a:p>
            <a:pPr algn="ctr"/>
            <a:r>
              <a:rPr sz="5200" b="1" i="0">
                <a:solidFill>
                  <a:srgbClr val="000000"/>
                </a:solidFill>
                <a:latin typeface="맑은 고딕"/>
                <a:ea typeface="맑은 고딕"/>
                <a:cs typeface="맑은 고딕"/>
              </a:rPr>
              <a:t>기대효과</a:t>
            </a:r>
          </a:p>
        </p:txBody>
      </p:sp>
      <p:sp>
        <p:nvSpPr>
          <p:cNvPr id="3" name="Rounded Rectangle 2"/>
          <p:cNvSpPr/>
          <p:nvPr/>
        </p:nvSpPr>
        <p:spPr>
          <a:xfrm>
            <a:off x="731520" y="1737360"/>
            <a:ext cx="5394960" cy="6583680"/>
          </a:xfrm>
          <a:prstGeom prst="roundRect">
            <a:avLst>
              <a:gd name="adj" fmla="val 7000"/>
            </a:avLst>
          </a:prstGeom>
          <a:solidFill>
            <a:srgbClr val="F0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rabbit_happy.png"/>
          <p:cNvPicPr>
            <a:picLocks noChangeAspect="1"/>
          </p:cNvPicPr>
          <p:nvPr/>
        </p:nvPicPr>
        <p:blipFill>
          <a:blip r:embed="rId2"/>
          <a:stretch>
            <a:fillRect/>
          </a:stretch>
        </p:blipFill>
        <p:spPr>
          <a:xfrm>
            <a:off x="1051560" y="1965960"/>
            <a:ext cx="1301061" cy="1371600"/>
          </a:xfrm>
          <a:prstGeom prst="rect">
            <a:avLst/>
          </a:prstGeom>
        </p:spPr>
      </p:pic>
      <p:sp>
        <p:nvSpPr>
          <p:cNvPr id="5" name="TextBox 4"/>
          <p:cNvSpPr txBox="1"/>
          <p:nvPr/>
        </p:nvSpPr>
        <p:spPr>
          <a:xfrm>
            <a:off x="2560320" y="1965960"/>
            <a:ext cx="3291840" cy="1371600"/>
          </a:xfrm>
          <a:prstGeom prst="rect">
            <a:avLst/>
          </a:prstGeom>
          <a:noFill/>
        </p:spPr>
        <p:txBody>
          <a:bodyPr wrap="square" anchor="ctr" lIns="0" rIns="0" tIns="0" bIns="0">
            <a:spAutoFit/>
          </a:bodyPr>
          <a:lstStyle/>
          <a:p>
            <a:pPr algn="l"/>
            <a:r>
              <a:rPr sz="3400" b="1" i="0">
                <a:solidFill>
                  <a:srgbClr val="6B4EFF"/>
                </a:solidFill>
                <a:latin typeface="맑은 고딕"/>
                <a:ea typeface="맑은 고딕"/>
                <a:cs typeface="맑은 고딕"/>
              </a:rPr>
              <a:t>학습자</a:t>
            </a:r>
          </a:p>
        </p:txBody>
      </p:sp>
      <p:sp>
        <p:nvSpPr>
          <p:cNvPr id="6" name="Oval 5"/>
          <p:cNvSpPr/>
          <p:nvPr/>
        </p:nvSpPr>
        <p:spPr>
          <a:xfrm>
            <a:off x="1097280" y="3877055"/>
            <a:ext cx="274320" cy="274320"/>
          </a:xfrm>
          <a:prstGeom prst="ellipse">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54480" y="3749039"/>
            <a:ext cx="4343400" cy="1325880"/>
          </a:xfrm>
          <a:prstGeom prst="rect">
            <a:avLst/>
          </a:prstGeom>
          <a:noFill/>
        </p:spPr>
        <p:txBody>
          <a:bodyPr wrap="square" anchor="t" lIns="0" rIns="0" tIns="0" bIns="0">
            <a:spAutoFit/>
          </a:bodyPr>
          <a:lstStyle/>
          <a:p>
            <a:pPr algn="l"/>
            <a:r>
              <a:rPr sz="2200" b="0" i="0">
                <a:solidFill>
                  <a:srgbClr val="1A1A1A"/>
                </a:solidFill>
                <a:latin typeface="맑은 고딕"/>
                <a:ea typeface="맑은 고딕"/>
                <a:cs typeface="맑은 고딕"/>
              </a:rPr>
              <a:t>외우는 대신 직접 조립하며 한국어의 구조를 체험</a:t>
            </a:r>
          </a:p>
        </p:txBody>
      </p:sp>
      <p:sp>
        <p:nvSpPr>
          <p:cNvPr id="8" name="Oval 7"/>
          <p:cNvSpPr/>
          <p:nvPr/>
        </p:nvSpPr>
        <p:spPr>
          <a:xfrm>
            <a:off x="1097280" y="5340095"/>
            <a:ext cx="274320" cy="274320"/>
          </a:xfrm>
          <a:prstGeom prst="ellipse">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554480" y="5212079"/>
            <a:ext cx="4343400" cy="1325880"/>
          </a:xfrm>
          <a:prstGeom prst="rect">
            <a:avLst/>
          </a:prstGeom>
          <a:noFill/>
        </p:spPr>
        <p:txBody>
          <a:bodyPr wrap="square" anchor="t" lIns="0" rIns="0" tIns="0" bIns="0">
            <a:spAutoFit/>
          </a:bodyPr>
          <a:lstStyle/>
          <a:p>
            <a:pPr algn="l"/>
            <a:r>
              <a:rPr sz="2200" b="0" i="0">
                <a:solidFill>
                  <a:srgbClr val="1A1A1A"/>
                </a:solidFill>
                <a:latin typeface="맑은 고딕"/>
                <a:ea typeface="맑은 고딕"/>
                <a:cs typeface="맑은 고딕"/>
              </a:rPr>
              <a:t>잊기 직전에 복습 — 기억 알고리즘(FSRS-4.5)</a:t>
            </a:r>
          </a:p>
        </p:txBody>
      </p:sp>
      <p:sp>
        <p:nvSpPr>
          <p:cNvPr id="10" name="Oval 9"/>
          <p:cNvSpPr/>
          <p:nvPr/>
        </p:nvSpPr>
        <p:spPr>
          <a:xfrm>
            <a:off x="1097280" y="6803136"/>
            <a:ext cx="274320" cy="274320"/>
          </a:xfrm>
          <a:prstGeom prst="ellipse">
            <a:avLst/>
          </a:prstGeom>
          <a:solidFill>
            <a:srgbClr val="6B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54480" y="6675120"/>
            <a:ext cx="4343400" cy="1325880"/>
          </a:xfrm>
          <a:prstGeom prst="rect">
            <a:avLst/>
          </a:prstGeom>
          <a:noFill/>
        </p:spPr>
        <p:txBody>
          <a:bodyPr wrap="square" anchor="t" lIns="0" rIns="0" tIns="0" bIns="0">
            <a:spAutoFit/>
          </a:bodyPr>
          <a:lstStyle/>
          <a:p>
            <a:pPr algn="l"/>
            <a:r>
              <a:rPr sz="2200" b="0" i="0">
                <a:solidFill>
                  <a:srgbClr val="1A1A1A"/>
                </a:solidFill>
                <a:latin typeface="맑은 고딕"/>
                <a:ea typeface="맑은 고딕"/>
                <a:cs typeface="맑은 고딕"/>
              </a:rPr>
              <a:t>목적·끝·피드백이 있는 대화 연습</a:t>
            </a:r>
          </a:p>
        </p:txBody>
      </p:sp>
      <p:sp>
        <p:nvSpPr>
          <p:cNvPr id="12" name="Rounded Rectangle 11"/>
          <p:cNvSpPr/>
          <p:nvPr/>
        </p:nvSpPr>
        <p:spPr>
          <a:xfrm>
            <a:off x="6446520" y="1737360"/>
            <a:ext cx="5394960" cy="6583680"/>
          </a:xfrm>
          <a:prstGeom prst="roundRect">
            <a:avLst>
              <a:gd name="adj" fmla="val 7000"/>
            </a:avLst>
          </a:prstGeom>
          <a:solidFill>
            <a:srgbClr val="E3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turtle_thinking.png"/>
          <p:cNvPicPr>
            <a:picLocks noChangeAspect="1"/>
          </p:cNvPicPr>
          <p:nvPr/>
        </p:nvPicPr>
        <p:blipFill>
          <a:blip r:embed="rId3"/>
          <a:stretch>
            <a:fillRect/>
          </a:stretch>
        </p:blipFill>
        <p:spPr>
          <a:xfrm>
            <a:off x="6766559" y="1965960"/>
            <a:ext cx="1377504" cy="1371600"/>
          </a:xfrm>
          <a:prstGeom prst="rect">
            <a:avLst/>
          </a:prstGeom>
        </p:spPr>
      </p:pic>
      <p:sp>
        <p:nvSpPr>
          <p:cNvPr id="14" name="TextBox 13"/>
          <p:cNvSpPr txBox="1"/>
          <p:nvPr/>
        </p:nvSpPr>
        <p:spPr>
          <a:xfrm>
            <a:off x="8275320" y="1965960"/>
            <a:ext cx="3291840" cy="1371600"/>
          </a:xfrm>
          <a:prstGeom prst="rect">
            <a:avLst/>
          </a:prstGeom>
          <a:noFill/>
        </p:spPr>
        <p:txBody>
          <a:bodyPr wrap="square" anchor="ctr" lIns="0" rIns="0" tIns="0" bIns="0">
            <a:spAutoFit/>
          </a:bodyPr>
          <a:lstStyle/>
          <a:p>
            <a:pPr algn="l"/>
            <a:r>
              <a:rPr sz="3400" b="1" i="0">
                <a:solidFill>
                  <a:srgbClr val="1E9E7E"/>
                </a:solidFill>
                <a:latin typeface="맑은 고딕"/>
                <a:ea typeface="맑은 고딕"/>
                <a:cs typeface="맑은 고딕"/>
              </a:rPr>
              <a:t>콘텐츠</a:t>
            </a:r>
          </a:p>
        </p:txBody>
      </p:sp>
      <p:sp>
        <p:nvSpPr>
          <p:cNvPr id="15" name="Oval 14"/>
          <p:cNvSpPr/>
          <p:nvPr/>
        </p:nvSpPr>
        <p:spPr>
          <a:xfrm>
            <a:off x="6812280" y="3877055"/>
            <a:ext cx="274320" cy="274320"/>
          </a:xfrm>
          <a:prstGeom prst="ellipse">
            <a:avLst/>
          </a:prstGeom>
          <a:solidFill>
            <a:srgbClr val="1E9E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269480" y="3749039"/>
            <a:ext cx="4343400" cy="1325880"/>
          </a:xfrm>
          <a:prstGeom prst="rect">
            <a:avLst/>
          </a:prstGeom>
          <a:noFill/>
        </p:spPr>
        <p:txBody>
          <a:bodyPr wrap="square" anchor="t" lIns="0" rIns="0" tIns="0" bIns="0">
            <a:spAutoFit/>
          </a:bodyPr>
          <a:lstStyle/>
          <a:p>
            <a:pPr algn="l"/>
            <a:r>
              <a:rPr sz="2200" b="0" i="0">
                <a:solidFill>
                  <a:srgbClr val="1A1A1A"/>
                </a:solidFill>
                <a:latin typeface="맑은 고딕"/>
                <a:ea typeface="맑은 고딕"/>
                <a:cs typeface="맑은 고딕"/>
              </a:rPr>
              <a:t>CSV 한 줄(문장 + 목표 품사)로 새 문법 레슨</a:t>
            </a:r>
          </a:p>
        </p:txBody>
      </p:sp>
      <p:sp>
        <p:nvSpPr>
          <p:cNvPr id="17" name="Oval 16"/>
          <p:cNvSpPr/>
          <p:nvPr/>
        </p:nvSpPr>
        <p:spPr>
          <a:xfrm>
            <a:off x="6812280" y="5340095"/>
            <a:ext cx="274320" cy="274320"/>
          </a:xfrm>
          <a:prstGeom prst="ellipse">
            <a:avLst/>
          </a:prstGeom>
          <a:solidFill>
            <a:srgbClr val="1E9E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69480" y="5212079"/>
            <a:ext cx="4343400" cy="1325880"/>
          </a:xfrm>
          <a:prstGeom prst="rect">
            <a:avLst/>
          </a:prstGeom>
          <a:noFill/>
        </p:spPr>
        <p:txBody>
          <a:bodyPr wrap="square" anchor="t" lIns="0" rIns="0" tIns="0" bIns="0">
            <a:spAutoFit/>
          </a:bodyPr>
          <a:lstStyle/>
          <a:p>
            <a:pPr algn="l"/>
            <a:r>
              <a:rPr sz="2200" b="0" i="0">
                <a:solidFill>
                  <a:srgbClr val="1A1A1A"/>
                </a:solidFill>
                <a:latin typeface="맑은 고딕"/>
                <a:ea typeface="맑은 고딕"/>
                <a:cs typeface="맑은 고딕"/>
              </a:rPr>
              <a:t>어휘 파이프라인으로 단어 데이터 확장</a:t>
            </a:r>
          </a:p>
        </p:txBody>
      </p:sp>
      <p:sp>
        <p:nvSpPr>
          <p:cNvPr id="19" name="Oval 18"/>
          <p:cNvSpPr/>
          <p:nvPr/>
        </p:nvSpPr>
        <p:spPr>
          <a:xfrm>
            <a:off x="6812280" y="6803136"/>
            <a:ext cx="274320" cy="274320"/>
          </a:xfrm>
          <a:prstGeom prst="ellipse">
            <a:avLst/>
          </a:prstGeom>
          <a:solidFill>
            <a:srgbClr val="1E9E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269480" y="6675120"/>
            <a:ext cx="4343400" cy="1325880"/>
          </a:xfrm>
          <a:prstGeom prst="rect">
            <a:avLst/>
          </a:prstGeom>
          <a:noFill/>
        </p:spPr>
        <p:txBody>
          <a:bodyPr wrap="square" anchor="t" lIns="0" rIns="0" tIns="0" bIns="0">
            <a:spAutoFit/>
          </a:bodyPr>
          <a:lstStyle/>
          <a:p>
            <a:pPr algn="l"/>
            <a:r>
              <a:rPr sz="2200" b="0" i="0">
                <a:solidFill>
                  <a:srgbClr val="1A1A1A"/>
                </a:solidFill>
                <a:latin typeface="맑은 고딕"/>
                <a:ea typeface="맑은 고딕"/>
                <a:cs typeface="맑은 고딕"/>
              </a:rPr>
              <a:t>멱등 SQL 패치로 운영 DB 에 안전하게 반영</a:t>
            </a:r>
          </a:p>
        </p:txBody>
      </p:sp>
      <p:sp>
        <p:nvSpPr>
          <p:cNvPr id="21" name="Rounded Rectangle 20"/>
          <p:cNvSpPr/>
          <p:nvPr/>
        </p:nvSpPr>
        <p:spPr>
          <a:xfrm>
            <a:off x="12161520" y="1737360"/>
            <a:ext cx="5394960" cy="6583680"/>
          </a:xfrm>
          <a:prstGeom prst="roundRect">
            <a:avLst>
              <a:gd name="adj" fmla="val 7000"/>
            </a:avLst>
          </a:prstGeom>
          <a:solidFill>
            <a:srgbClr val="FF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urtle_cheer.png"/>
          <p:cNvPicPr>
            <a:picLocks noChangeAspect="1"/>
          </p:cNvPicPr>
          <p:nvPr/>
        </p:nvPicPr>
        <p:blipFill>
          <a:blip r:embed="rId4"/>
          <a:stretch>
            <a:fillRect/>
          </a:stretch>
        </p:blipFill>
        <p:spPr>
          <a:xfrm>
            <a:off x="12481560" y="1965960"/>
            <a:ext cx="1472577" cy="1371600"/>
          </a:xfrm>
          <a:prstGeom prst="rect">
            <a:avLst/>
          </a:prstGeom>
        </p:spPr>
      </p:pic>
      <p:sp>
        <p:nvSpPr>
          <p:cNvPr id="23" name="TextBox 22"/>
          <p:cNvSpPr txBox="1"/>
          <p:nvPr/>
        </p:nvSpPr>
        <p:spPr>
          <a:xfrm>
            <a:off x="13990320" y="1965960"/>
            <a:ext cx="3291840" cy="1371600"/>
          </a:xfrm>
          <a:prstGeom prst="rect">
            <a:avLst/>
          </a:prstGeom>
          <a:noFill/>
        </p:spPr>
        <p:txBody>
          <a:bodyPr wrap="square" anchor="ctr" lIns="0" rIns="0" tIns="0" bIns="0">
            <a:spAutoFit/>
          </a:bodyPr>
          <a:lstStyle/>
          <a:p>
            <a:pPr algn="l"/>
            <a:r>
              <a:rPr sz="3400" b="1" i="0">
                <a:solidFill>
                  <a:srgbClr val="E0457B"/>
                </a:solidFill>
                <a:latin typeface="맑은 고딕"/>
                <a:ea typeface="맑은 고딕"/>
                <a:cs typeface="맑은 고딕"/>
              </a:rPr>
              <a:t>기술</a:t>
            </a:r>
          </a:p>
        </p:txBody>
      </p:sp>
      <p:sp>
        <p:nvSpPr>
          <p:cNvPr id="24" name="Oval 23"/>
          <p:cNvSpPr/>
          <p:nvPr/>
        </p:nvSpPr>
        <p:spPr>
          <a:xfrm>
            <a:off x="12527280" y="3877055"/>
            <a:ext cx="274320" cy="274320"/>
          </a:xfrm>
          <a:prstGeom prst="ellipse">
            <a:avLst/>
          </a:prstGeom>
          <a:solidFill>
            <a:srgbClr val="E04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84480" y="3749039"/>
            <a:ext cx="4343400" cy="1325880"/>
          </a:xfrm>
          <a:prstGeom prst="rect">
            <a:avLst/>
          </a:prstGeom>
          <a:noFill/>
        </p:spPr>
        <p:txBody>
          <a:bodyPr wrap="square" anchor="t" lIns="0" rIns="0" tIns="0" bIns="0">
            <a:spAutoFit/>
          </a:bodyPr>
          <a:lstStyle/>
          <a:p>
            <a:pPr algn="l"/>
            <a:r>
              <a:rPr sz="2200" b="0" i="0">
                <a:solidFill>
                  <a:srgbClr val="1A1A1A"/>
                </a:solidFill>
                <a:latin typeface="맑은 고딕"/>
                <a:ea typeface="맑은 고딕"/>
                <a:cs typeface="맑은 고딕"/>
              </a:rPr>
              <a:t>AI 캐시·병렬 호출로 응답 속도와 비용 관리</a:t>
            </a:r>
          </a:p>
        </p:txBody>
      </p:sp>
      <p:sp>
        <p:nvSpPr>
          <p:cNvPr id="26" name="Oval 25"/>
          <p:cNvSpPr/>
          <p:nvPr/>
        </p:nvSpPr>
        <p:spPr>
          <a:xfrm>
            <a:off x="12527280" y="5340095"/>
            <a:ext cx="274320" cy="274320"/>
          </a:xfrm>
          <a:prstGeom prst="ellipse">
            <a:avLst/>
          </a:prstGeom>
          <a:solidFill>
            <a:srgbClr val="E04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2984480" y="5212079"/>
            <a:ext cx="4343400" cy="1325880"/>
          </a:xfrm>
          <a:prstGeom prst="rect">
            <a:avLst/>
          </a:prstGeom>
          <a:noFill/>
        </p:spPr>
        <p:txBody>
          <a:bodyPr wrap="square" anchor="t" lIns="0" rIns="0" tIns="0" bIns="0">
            <a:spAutoFit/>
          </a:bodyPr>
          <a:lstStyle/>
          <a:p>
            <a:pPr algn="l"/>
            <a:r>
              <a:rPr sz="2200" b="0" i="0">
                <a:solidFill>
                  <a:srgbClr val="1A1A1A"/>
                </a:solidFill>
                <a:latin typeface="맑은 고딕"/>
                <a:ea typeface="맑은 고딕"/>
                <a:cs typeface="맑은 고딕"/>
              </a:rPr>
              <a:t>캐릭터 그림·모션 분리 → 교체가 쉬운 구조</a:t>
            </a:r>
          </a:p>
        </p:txBody>
      </p:sp>
      <p:sp>
        <p:nvSpPr>
          <p:cNvPr id="28" name="Oval 27"/>
          <p:cNvSpPr/>
          <p:nvPr/>
        </p:nvSpPr>
        <p:spPr>
          <a:xfrm>
            <a:off x="12527280" y="6803136"/>
            <a:ext cx="274320" cy="274320"/>
          </a:xfrm>
          <a:prstGeom prst="ellipse">
            <a:avLst/>
          </a:prstGeom>
          <a:solidFill>
            <a:srgbClr val="E04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984480" y="6675120"/>
            <a:ext cx="4343400" cy="1325880"/>
          </a:xfrm>
          <a:prstGeom prst="rect">
            <a:avLst/>
          </a:prstGeom>
          <a:noFill/>
        </p:spPr>
        <p:txBody>
          <a:bodyPr wrap="square" anchor="t" lIns="0" rIns="0" tIns="0" bIns="0">
            <a:spAutoFit/>
          </a:bodyPr>
          <a:lstStyle/>
          <a:p>
            <a:pPr algn="l"/>
            <a:r>
              <a:rPr sz="2200" b="0" i="0">
                <a:solidFill>
                  <a:srgbClr val="1A1A1A"/>
                </a:solidFill>
                <a:latin typeface="맑은 고딕"/>
                <a:ea typeface="맑은 고딕"/>
                <a:cs typeface="맑은 고딕"/>
              </a:rPr>
              <a:t>자동 테스트로 기능 회귀 방지</a:t>
            </a:r>
          </a:p>
        </p:txBody>
      </p:sp>
      <p:sp>
        <p:nvSpPr>
          <p:cNvPr id="30" name="Rounded Rectangle 29"/>
          <p:cNvSpPr/>
          <p:nvPr/>
        </p:nvSpPr>
        <p:spPr>
          <a:xfrm>
            <a:off x="4114800" y="8732520"/>
            <a:ext cx="10058400" cy="868680"/>
          </a:xfrm>
          <a:prstGeom prst="roundRect">
            <a:avLst>
              <a:gd name="adj" fmla="val 50000"/>
            </a:avLst>
          </a:prstGeom>
          <a:solidFill>
            <a:srgbClr val="2B1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114800" y="8732520"/>
            <a:ext cx="10058400" cy="868680"/>
          </a:xfrm>
          <a:prstGeom prst="rect">
            <a:avLst/>
          </a:prstGeom>
          <a:noFill/>
        </p:spPr>
        <p:txBody>
          <a:bodyPr wrap="square" anchor="ctr" lIns="0" rIns="0" tIns="0" bIns="0">
            <a:spAutoFit/>
          </a:bodyPr>
          <a:lstStyle/>
          <a:p>
            <a:pPr algn="ctr"/>
            <a:r>
              <a:rPr sz="2200" b="1" i="0">
                <a:solidFill>
                  <a:srgbClr val="FFFFFF"/>
                </a:solidFill>
                <a:latin typeface="맑은 고딕"/>
                <a:ea typeface="맑은 고딕"/>
                <a:cs typeface="맑은 고딕"/>
              </a:rPr>
              <a:t>다음 단계: 웹 체험판 → 2026. 11. 6 졸업전시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475</Words>
  <Application>Microsoft Macintosh PowerPoint</Application>
  <PresentationFormat>사용자 지정</PresentationFormat>
  <Paragraphs>94</Paragraphs>
  <Slides>26</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26</vt:i4>
      </vt:variant>
    </vt:vector>
  </HeadingPairs>
  <TitlesOfParts>
    <vt:vector size="31" baseType="lpstr">
      <vt:lpstr>ITC Avant Garde Gothic</vt:lpstr>
      <vt:lpstr>Arial</vt:lpstr>
      <vt:lpstr>ITC Avant Garde Gothic Bold</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마루 경진대회</dc:title>
  <dc:description>프레젠테이션 - K-콘텐츠 확산</dc:description>
  <cp:lastModifiedBy>도윤 하</cp:lastModifiedBy>
  <cp:revision>26</cp:revision>
  <dcterms:created xsi:type="dcterms:W3CDTF">2006-08-16T00:00:00Z</dcterms:created>
  <dcterms:modified xsi:type="dcterms:W3CDTF">2026-06-10T07:46:34Z</dcterms:modified>
  <dc:identifier>DAHLs48huhk</dc:identifier>
</cp:coreProperties>
</file>