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1" r:id="rId3"/>
    <p:sldId id="257" r:id="rId4"/>
    <p:sldId id="262" r:id="rId5"/>
    <p:sldId id="258" r:id="rId6"/>
    <p:sldId id="259" r:id="rId7"/>
    <p:sldId id="264" r:id="rId15"/>
    <p:sldId id="260" r:id="rId8"/>
  </p:sldIdLst>
  <p:sldSz cx="36107688" cy="27000200"/>
  <p:notesSz cx="6797675" cy="9926638"/>
  <p:defaultTextStyle>
    <a:defPPr>
      <a:defRPr lang="ko-KR"/>
    </a:defPPr>
    <a:lvl1pPr marL="0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1pPr>
    <a:lvl2pPr marL="1173430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2pPr>
    <a:lvl3pPr marL="2346867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3pPr>
    <a:lvl4pPr marL="3520297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4pPr>
    <a:lvl5pPr marL="4693731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5pPr>
    <a:lvl6pPr marL="5867158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6pPr>
    <a:lvl7pPr marL="7040591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7pPr>
    <a:lvl8pPr marL="8214024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8pPr>
    <a:lvl9pPr marL="9387454" algn="l" defTabSz="2346867" rtl="0" eaLnBrk="1" latinLnBrk="1" hangingPunct="1">
      <a:defRPr sz="4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505" userDrawn="1">
          <p15:clr>
            <a:srgbClr val="A4A3A4"/>
          </p15:clr>
        </p15:guide>
        <p15:guide id="2" pos="11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7" d="100"/>
          <a:sy n="27" d="100"/>
        </p:scale>
        <p:origin x="1836" y="180"/>
      </p:cViewPr>
      <p:guideLst>
        <p:guide orient="horz" pos="8505"/>
        <p:guide pos="113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5" d="100"/>
          <a:sy n="65" d="100"/>
        </p:scale>
        <p:origin x="3366" y="66"/>
      </p:cViewPr>
      <p:guideLst>
        <p:guide orient="horz" pos="3127"/>
        <p:guide pos="2142"/>
      </p:guideLst>
    </p:cSldViewPr>
  </p:notesViewPr>
  <p:gridSpacing cx="180000" cy="18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 = 1일</c:v>
                </c:pt>
              </c:strCache>
            </c:strRef>
          </c:tx>
          <c:spPr>
            <a:ln w="110329">
              <a:solidFill>
                <a:srgbClr val="FF8FB1"/>
              </a:solidFill>
            </a:ln>
          </c:spPr>
          <c:marker>
            <c:symbol val="none"/>
          </c:marker>
          <c:xVal>
            <c:numRef>
              <c:f>Sheet1!$A$2:$A$62</c:f>
              <c:numCache>
                <c:formatCode>General</c:formatCode>
                <c:ptCount val="61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  <c:pt idx="20">
                  <c:v>10.0</c:v>
                </c:pt>
                <c:pt idx="21">
                  <c:v>10.5</c:v>
                </c:pt>
                <c:pt idx="22">
                  <c:v>11.0</c:v>
                </c:pt>
                <c:pt idx="23">
                  <c:v>11.5</c:v>
                </c:pt>
                <c:pt idx="24">
                  <c:v>12.0</c:v>
                </c:pt>
                <c:pt idx="25">
                  <c:v>12.5</c:v>
                </c:pt>
                <c:pt idx="26">
                  <c:v>13.0</c:v>
                </c:pt>
                <c:pt idx="27">
                  <c:v>13.5</c:v>
                </c:pt>
                <c:pt idx="28">
                  <c:v>14.0</c:v>
                </c:pt>
                <c:pt idx="29">
                  <c:v>14.5</c:v>
                </c:pt>
                <c:pt idx="30">
                  <c:v>15.0</c:v>
                </c:pt>
                <c:pt idx="31">
                  <c:v>15.5</c:v>
                </c:pt>
                <c:pt idx="32">
                  <c:v>16.0</c:v>
                </c:pt>
                <c:pt idx="33">
                  <c:v>16.5</c:v>
                </c:pt>
                <c:pt idx="34">
                  <c:v>17.0</c:v>
                </c:pt>
                <c:pt idx="35">
                  <c:v>17.5</c:v>
                </c:pt>
                <c:pt idx="36">
                  <c:v>18.0</c:v>
                </c:pt>
                <c:pt idx="37">
                  <c:v>18.5</c:v>
                </c:pt>
                <c:pt idx="38">
                  <c:v>19.0</c:v>
                </c:pt>
                <c:pt idx="39">
                  <c:v>19.5</c:v>
                </c:pt>
                <c:pt idx="40">
                  <c:v>20.0</c:v>
                </c:pt>
                <c:pt idx="41">
                  <c:v>20.5</c:v>
                </c:pt>
                <c:pt idx="42">
                  <c:v>21.0</c:v>
                </c:pt>
                <c:pt idx="43">
                  <c:v>21.5</c:v>
                </c:pt>
                <c:pt idx="44">
                  <c:v>22.0</c:v>
                </c:pt>
                <c:pt idx="45">
                  <c:v>22.5</c:v>
                </c:pt>
                <c:pt idx="46">
                  <c:v>23.0</c:v>
                </c:pt>
                <c:pt idx="47">
                  <c:v>23.5</c:v>
                </c:pt>
                <c:pt idx="48">
                  <c:v>24.0</c:v>
                </c:pt>
                <c:pt idx="49">
                  <c:v>24.5</c:v>
                </c:pt>
                <c:pt idx="50">
                  <c:v>25.0</c:v>
                </c:pt>
                <c:pt idx="51">
                  <c:v>25.5</c:v>
                </c:pt>
                <c:pt idx="52">
                  <c:v>26.0</c:v>
                </c:pt>
                <c:pt idx="53">
                  <c:v>26.5</c:v>
                </c:pt>
                <c:pt idx="54">
                  <c:v>27.0</c:v>
                </c:pt>
                <c:pt idx="55">
                  <c:v>27.5</c:v>
                </c:pt>
                <c:pt idx="56">
                  <c:v>28.0</c:v>
                </c:pt>
                <c:pt idx="57">
                  <c:v>28.5</c:v>
                </c:pt>
                <c:pt idx="58">
                  <c:v>29.0</c:v>
                </c:pt>
                <c:pt idx="59">
                  <c:v>29.5</c:v>
                </c:pt>
                <c:pt idx="60">
                  <c:v>30.0</c:v>
                </c:pt>
              </c:numCache>
            </c:numRef>
          </c:xVal>
          <c:yVal>
            <c:numRef>
              <c:f>Sheet1!$B$2:$B$62</c:f>
              <c:numCache>
                <c:formatCode>General</c:formatCode>
                <c:ptCount val="61"/>
                <c:pt idx="0">
                  <c:v>1.0</c:v>
                </c:pt>
                <c:pt idx="1">
                  <c:v>0.946058996209746</c:v>
                </c:pt>
                <c:pt idx="2">
                  <c:v>0.9</c:v>
                </c:pt>
                <c:pt idx="3">
                  <c:v>0.8600732686214938</c:v>
                </c:pt>
                <c:pt idx="4">
                  <c:v>0.8250286473253902</c:v>
                </c:pt>
                <c:pt idx="5">
                  <c:v>0.7939459645042156</c:v>
                </c:pt>
                <c:pt idx="6">
                  <c:v>0.7661308776828737</c:v>
                </c:pt>
                <c:pt idx="7">
                  <c:v>0.7410482726333564</c:v>
                </c:pt>
                <c:pt idx="8">
                  <c:v>0.71827819602086</c:v>
                </c:pt>
                <c:pt idx="9">
                  <c:v>0.6974858324629157</c:v>
                </c:pt>
                <c:pt idx="10">
                  <c:v>0.6784005252999682</c:v>
                </c:pt>
                <c:pt idx="11">
                  <c:v>0.6608007883929171</c:v>
                </c:pt>
                <c:pt idx="12">
                  <c:v>0.6445033866354896</c:v>
                </c:pt>
                <c:pt idx="13">
                  <c:v>0.629355241147559</c:v>
                </c:pt>
                <c:pt idx="14">
                  <c:v>0.6152273343221969</c:v>
                </c:pt>
                <c:pt idx="15">
                  <c:v>0.6020100558815861</c:v>
                </c:pt>
                <c:pt idx="16">
                  <c:v>0.5896096038723766</c:v>
                </c:pt>
                <c:pt idx="17">
                  <c:v>0.577945169161142</c:v>
                </c:pt>
                <c:pt idx="18">
                  <c:v>0.5669467095138409</c:v>
                </c:pt>
                <c:pt idx="19">
                  <c:v>0.5565531726927957</c:v>
                </c:pt>
                <c:pt idx="20">
                  <c:v>0.5467110653077083</c:v>
                </c:pt>
                <c:pt idx="21">
                  <c:v>0.537373290623879</c:v>
                </c:pt>
                <c:pt idx="22">
                  <c:v>0.5284981975632331</c:v>
                </c:pt>
                <c:pt idx="23">
                  <c:v>0.5200487969912889</c:v>
                </c:pt>
                <c:pt idx="24">
                  <c:v>0.5119921115897169</c:v>
                </c:pt>
                <c:pt idx="25">
                  <c:v>0.5042986332124733</c:v>
                </c:pt>
                <c:pt idx="26">
                  <c:v>0.49694186733680945</c:v>
                </c:pt>
                <c:pt idx="27">
                  <c:v>0.48989794855663565</c:v>
                </c:pt>
                <c:pt idx="28">
                  <c:v>0.48314531438551706</c:v>
                </c:pt>
                <c:pt idx="29">
                  <c:v>0.4766644271991385</c:v>
                </c:pt>
                <c:pt idx="30">
                  <c:v>0.470437536140385</c:v>
                </c:pt>
                <c:pt idx="31">
                  <c:v>0.4644484723719971</c:v>
                </c:pt>
                <c:pt idx="32">
                  <c:v>0.458682472293863</c:v>
                </c:pt>
                <c:pt idx="33">
                  <c:v>0.45312602432033167</c:v>
                </c:pt>
                <c:pt idx="34">
                  <c:v>0.4477667355944951</c:v>
                </c:pt>
                <c:pt idx="35">
                  <c:v>0.44259321564441306</c:v>
                </c:pt>
                <c:pt idx="36">
                  <c:v>0.4375949744936837</c:v>
                </c:pt>
                <c:pt idx="37">
                  <c:v>0.4327623331509105</c:v>
                </c:pt>
                <c:pt idx="38">
                  <c:v>0.4280863447390447</c:v>
                </c:pt>
                <c:pt idx="39">
                  <c:v>0.4235587248015105</c:v>
                </c:pt>
                <c:pt idx="40">
                  <c:v>0.4191717895493601</c:v>
                </c:pt>
                <c:pt idx="41">
                  <c:v>0.4149184010018167</c:v>
                </c:pt>
                <c:pt idx="42">
                  <c:v>0.4107919181288746</c:v>
                </c:pt>
                <c:pt idx="43">
                  <c:v>0.4067861532350118</c:v>
                </c:pt>
                <c:pt idx="44">
                  <c:v>0.4028953329322607</c:v>
                </c:pt>
                <c:pt idx="45">
                  <c:v>0.3991140631426436</c:v>
                </c:pt>
                <c:pt idx="46">
                  <c:v>0.3954372976473721</c:v>
                </c:pt>
                <c:pt idx="47">
                  <c:v>0.3918603097656973</c:v>
                </c:pt>
                <c:pt idx="48">
                  <c:v>0.38837866680189276</c:v>
                </c:pt>
                <c:pt idx="49">
                  <c:v>0.3849882069461981</c:v>
                </c:pt>
                <c:pt idx="50">
                  <c:v>0.38168501835598695</c:v>
                </c:pt>
                <c:pt idx="51">
                  <c:v>0.378465420178062</c:v>
                </c:pt>
                <c:pt idx="52">
                  <c:v>0.3753259453027346</c:v>
                </c:pt>
                <c:pt idx="53">
                  <c:v>0.37226332466596834</c:v>
                </c:pt>
                <c:pt idx="54">
                  <c:v>0.3692744729379982</c:v>
                </c:pt>
                <c:pt idx="55">
                  <c:v>0.3663564754559875</c:v>
                </c:pt>
                <c:pt idx="56">
                  <c:v>0.36350657627490873</c:v>
                </c:pt>
                <c:pt idx="57">
                  <c:v>0.36072216722529105</c:v>
                </c:pt>
                <c:pt idx="58">
                  <c:v>0.3580007778790785</c:v>
                </c:pt>
                <c:pt idx="59">
                  <c:v>0.3553400663358549</c:v>
                </c:pt>
                <c:pt idx="60">
                  <c:v>0.35273781075132926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Sheet1!$B$64</c:f>
              <c:strCache>
                <c:ptCount val="1"/>
                <c:pt idx="0">
                  <c:v>S = 4일</c:v>
                </c:pt>
              </c:strCache>
            </c:strRef>
          </c:tx>
          <c:spPr>
            <a:ln w="110329">
              <a:solidFill>
                <a:srgbClr val="FFC83D"/>
              </a:solidFill>
            </a:ln>
          </c:spPr>
          <c:marker>
            <c:symbol val="none"/>
          </c:marker>
          <c:xVal>
            <c:numRef>
              <c:f>Sheet1!$A$65:$A$125</c:f>
              <c:numCache>
                <c:formatCode>General</c:formatCode>
                <c:ptCount val="61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  <c:pt idx="20">
                  <c:v>10.0</c:v>
                </c:pt>
                <c:pt idx="21">
                  <c:v>10.5</c:v>
                </c:pt>
                <c:pt idx="22">
                  <c:v>11.0</c:v>
                </c:pt>
                <c:pt idx="23">
                  <c:v>11.5</c:v>
                </c:pt>
                <c:pt idx="24">
                  <c:v>12.0</c:v>
                </c:pt>
                <c:pt idx="25">
                  <c:v>12.5</c:v>
                </c:pt>
                <c:pt idx="26">
                  <c:v>13.0</c:v>
                </c:pt>
                <c:pt idx="27">
                  <c:v>13.5</c:v>
                </c:pt>
                <c:pt idx="28">
                  <c:v>14.0</c:v>
                </c:pt>
                <c:pt idx="29">
                  <c:v>14.5</c:v>
                </c:pt>
                <c:pt idx="30">
                  <c:v>15.0</c:v>
                </c:pt>
                <c:pt idx="31">
                  <c:v>15.5</c:v>
                </c:pt>
                <c:pt idx="32">
                  <c:v>16.0</c:v>
                </c:pt>
                <c:pt idx="33">
                  <c:v>16.5</c:v>
                </c:pt>
                <c:pt idx="34">
                  <c:v>17.0</c:v>
                </c:pt>
                <c:pt idx="35">
                  <c:v>17.5</c:v>
                </c:pt>
                <c:pt idx="36">
                  <c:v>18.0</c:v>
                </c:pt>
                <c:pt idx="37">
                  <c:v>18.5</c:v>
                </c:pt>
                <c:pt idx="38">
                  <c:v>19.0</c:v>
                </c:pt>
                <c:pt idx="39">
                  <c:v>19.5</c:v>
                </c:pt>
                <c:pt idx="40">
                  <c:v>20.0</c:v>
                </c:pt>
                <c:pt idx="41">
                  <c:v>20.5</c:v>
                </c:pt>
                <c:pt idx="42">
                  <c:v>21.0</c:v>
                </c:pt>
                <c:pt idx="43">
                  <c:v>21.5</c:v>
                </c:pt>
                <c:pt idx="44">
                  <c:v>22.0</c:v>
                </c:pt>
                <c:pt idx="45">
                  <c:v>22.5</c:v>
                </c:pt>
                <c:pt idx="46">
                  <c:v>23.0</c:v>
                </c:pt>
                <c:pt idx="47">
                  <c:v>23.5</c:v>
                </c:pt>
                <c:pt idx="48">
                  <c:v>24.0</c:v>
                </c:pt>
                <c:pt idx="49">
                  <c:v>24.5</c:v>
                </c:pt>
                <c:pt idx="50">
                  <c:v>25.0</c:v>
                </c:pt>
                <c:pt idx="51">
                  <c:v>25.5</c:v>
                </c:pt>
                <c:pt idx="52">
                  <c:v>26.0</c:v>
                </c:pt>
                <c:pt idx="53">
                  <c:v>26.5</c:v>
                </c:pt>
                <c:pt idx="54">
                  <c:v>27.0</c:v>
                </c:pt>
                <c:pt idx="55">
                  <c:v>27.5</c:v>
                </c:pt>
                <c:pt idx="56">
                  <c:v>28.0</c:v>
                </c:pt>
                <c:pt idx="57">
                  <c:v>28.5</c:v>
                </c:pt>
                <c:pt idx="58">
                  <c:v>29.0</c:v>
                </c:pt>
                <c:pt idx="59">
                  <c:v>29.5</c:v>
                </c:pt>
                <c:pt idx="60">
                  <c:v>30.0</c:v>
                </c:pt>
              </c:numCache>
            </c:numRef>
          </c:xVal>
          <c:yVal>
            <c:numRef>
              <c:f>Sheet1!$B$65:$B$125</c:f>
              <c:numCache>
                <c:formatCode>General</c:formatCode>
                <c:ptCount val="61"/>
                <c:pt idx="0">
                  <c:v>1.0</c:v>
                </c:pt>
                <c:pt idx="1">
                  <c:v>0.9856542207481084</c:v>
                </c:pt>
                <c:pt idx="2">
                  <c:v>0.97190864488087</c:v>
                </c:pt>
                <c:pt idx="3">
                  <c:v>0.9587225543243534</c:v>
                </c:pt>
                <c:pt idx="4">
                  <c:v>0.946058996209746</c:v>
                </c:pt>
                <c:pt idx="5">
                  <c:v>0.9338843467379137</c:v>
                </c:pt>
                <c:pt idx="6">
                  <c:v>0.9221679352414079</c:v>
                </c:pt>
                <c:pt idx="7">
                  <c:v>0.9108817188646635</c:v>
                </c:pt>
                <c:pt idx="8">
                  <c:v>0.9</c:v>
                </c:pt>
                <c:pt idx="9">
                  <c:v>0.8894991799933214</c:v>
                </c:pt>
                <c:pt idx="10">
                  <c:v>0.8793575437428567</c:v>
                </c:pt>
                <c:pt idx="11">
                  <c:v>0.8695550707134658</c:v>
                </c:pt>
                <c:pt idx="12">
                  <c:v>0.8600732686214938</c:v>
                </c:pt>
                <c:pt idx="13">
                  <c:v>0.8508950266447178</c:v>
                </c:pt>
                <c:pt idx="14">
                  <c:v>0.8420044855049783</c:v>
                </c:pt>
                <c:pt idx="15">
                  <c:v>0.8333869221783348</c:v>
                </c:pt>
                <c:pt idx="16">
                  <c:v>0.8250286473253902</c:v>
                </c:pt>
                <c:pt idx="17">
                  <c:v>0.8169169138157624</c:v>
                </c:pt>
                <c:pt idx="18">
                  <c:v>0.8090398349558905</c:v>
                </c:pt>
                <c:pt idx="19">
                  <c:v>0.8013863112267426</c:v>
                </c:pt>
                <c:pt idx="20">
                  <c:v>0.7939459645042156</c:v>
                </c:pt>
                <c:pt idx="21">
                  <c:v>0.7867090788754763</c:v>
                </c:pt>
                <c:pt idx="22">
                  <c:v>0.779666547283578</c:v>
                </c:pt>
                <c:pt idx="23">
                  <c:v>0.7728098233339653</c:v>
                </c:pt>
                <c:pt idx="24">
                  <c:v>0.7661308776828737</c:v>
                </c:pt>
                <c:pt idx="25">
                  <c:v>0.75962215850155</c:v>
                </c:pt>
                <c:pt idx="26">
                  <c:v>0.753276555573637</c:v>
                </c:pt>
                <c:pt idx="27">
                  <c:v>0.7470873676376284</c:v>
                </c:pt>
                <c:pt idx="28">
                  <c:v>0.7410482726333564</c:v>
                </c:pt>
                <c:pt idx="29">
                  <c:v>0.7351533005521778</c:v>
                </c:pt>
                <c:pt idx="30">
                  <c:v>0.729396808625797</c:v>
                </c:pt>
                <c:pt idx="31">
                  <c:v>0.7237734586193242</c:v>
                </c:pt>
                <c:pt idx="32">
                  <c:v>0.71827819602086</c:v>
                </c:pt>
                <c:pt idx="33">
                  <c:v>0.7129062309432055</c:v>
                </c:pt>
                <c:pt idx="34">
                  <c:v>0.7076530205736763</c:v>
                </c:pt>
                <c:pt idx="35">
                  <c:v>0.7025142530258681</c:v>
                </c:pt>
                <c:pt idx="36">
                  <c:v>0.6974858324629157</c:v>
                </c:pt>
                <c:pt idx="37">
                  <c:v>0.6925638653755928</c:v>
                </c:pt>
                <c:pt idx="38">
                  <c:v>0.6877446479107832</c:v>
                </c:pt>
                <c:pt idx="39">
                  <c:v>0.6830246541566016</c:v>
                </c:pt>
                <c:pt idx="40">
                  <c:v>0.6784005252999682</c:v>
                </c:pt>
                <c:pt idx="41">
                  <c:v>0.6738690595808702</c:v>
                </c:pt>
                <c:pt idx="42">
                  <c:v>0.6694272029750417</c:v>
                </c:pt>
                <c:pt idx="43">
                  <c:v>0.6650720405434497</c:v>
                </c:pt>
                <c:pt idx="44">
                  <c:v>0.6608007883929171</c:v>
                </c:pt>
                <c:pt idx="45">
                  <c:v>0.6566107861974994</c:v>
                </c:pt>
                <c:pt idx="46">
                  <c:v>0.6524994902349723</c:v>
                </c:pt>
                <c:pt idx="47">
                  <c:v>0.648464466897018</c:v>
                </c:pt>
                <c:pt idx="48">
                  <c:v>0.6445033866354896</c:v>
                </c:pt>
                <c:pt idx="49">
                  <c:v>0.6406140183105462</c:v>
                </c:pt>
                <c:pt idx="50">
                  <c:v>0.6367942239095026</c:v>
                </c:pt>
                <c:pt idx="51">
                  <c:v>0.633041953607997</c:v>
                </c:pt>
                <c:pt idx="52">
                  <c:v>0.629355241147559</c:v>
                </c:pt>
                <c:pt idx="53">
                  <c:v>0.6257321995058984</c:v>
                </c:pt>
                <c:pt idx="54">
                  <c:v>0.6221710168382552</c:v>
                </c:pt>
                <c:pt idx="55">
                  <c:v>0.6186699526699841</c:v>
                </c:pt>
                <c:pt idx="56">
                  <c:v>0.6152273343221969</c:v>
                </c:pt>
                <c:pt idx="57">
                  <c:v>0.6118415535537879</c:v>
                </c:pt>
                <c:pt idx="58">
                  <c:v>0.608511063404532</c:v>
                </c:pt>
                <c:pt idx="59">
                  <c:v>0.6052343752251779</c:v>
                </c:pt>
                <c:pt idx="60">
                  <c:v>0.6020100558815861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Sheet1!$B$127</c:f>
              <c:strCache>
                <c:ptCount val="1"/>
                <c:pt idx="0">
                  <c:v>S = 15일</c:v>
                </c:pt>
              </c:strCache>
            </c:strRef>
          </c:tx>
          <c:spPr>
            <a:ln w="110329">
              <a:solidFill>
                <a:srgbClr val="6B4EFF"/>
              </a:solidFill>
            </a:ln>
          </c:spPr>
          <c:marker>
            <c:symbol val="none"/>
          </c:marker>
          <c:xVal>
            <c:numRef>
              <c:f>Sheet1!$A$128:$A$188</c:f>
              <c:numCache>
                <c:formatCode>General</c:formatCode>
                <c:ptCount val="61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  <c:pt idx="20">
                  <c:v>10.0</c:v>
                </c:pt>
                <c:pt idx="21">
                  <c:v>10.5</c:v>
                </c:pt>
                <c:pt idx="22">
                  <c:v>11.0</c:v>
                </c:pt>
                <c:pt idx="23">
                  <c:v>11.5</c:v>
                </c:pt>
                <c:pt idx="24">
                  <c:v>12.0</c:v>
                </c:pt>
                <c:pt idx="25">
                  <c:v>12.5</c:v>
                </c:pt>
                <c:pt idx="26">
                  <c:v>13.0</c:v>
                </c:pt>
                <c:pt idx="27">
                  <c:v>13.5</c:v>
                </c:pt>
                <c:pt idx="28">
                  <c:v>14.0</c:v>
                </c:pt>
                <c:pt idx="29">
                  <c:v>14.5</c:v>
                </c:pt>
                <c:pt idx="30">
                  <c:v>15.0</c:v>
                </c:pt>
                <c:pt idx="31">
                  <c:v>15.5</c:v>
                </c:pt>
                <c:pt idx="32">
                  <c:v>16.0</c:v>
                </c:pt>
                <c:pt idx="33">
                  <c:v>16.5</c:v>
                </c:pt>
                <c:pt idx="34">
                  <c:v>17.0</c:v>
                </c:pt>
                <c:pt idx="35">
                  <c:v>17.5</c:v>
                </c:pt>
                <c:pt idx="36">
                  <c:v>18.0</c:v>
                </c:pt>
                <c:pt idx="37">
                  <c:v>18.5</c:v>
                </c:pt>
                <c:pt idx="38">
                  <c:v>19.0</c:v>
                </c:pt>
                <c:pt idx="39">
                  <c:v>19.5</c:v>
                </c:pt>
                <c:pt idx="40">
                  <c:v>20.0</c:v>
                </c:pt>
                <c:pt idx="41">
                  <c:v>20.5</c:v>
                </c:pt>
                <c:pt idx="42">
                  <c:v>21.0</c:v>
                </c:pt>
                <c:pt idx="43">
                  <c:v>21.5</c:v>
                </c:pt>
                <c:pt idx="44">
                  <c:v>22.0</c:v>
                </c:pt>
                <c:pt idx="45">
                  <c:v>22.5</c:v>
                </c:pt>
                <c:pt idx="46">
                  <c:v>23.0</c:v>
                </c:pt>
                <c:pt idx="47">
                  <c:v>23.5</c:v>
                </c:pt>
                <c:pt idx="48">
                  <c:v>24.0</c:v>
                </c:pt>
                <c:pt idx="49">
                  <c:v>24.5</c:v>
                </c:pt>
                <c:pt idx="50">
                  <c:v>25.0</c:v>
                </c:pt>
                <c:pt idx="51">
                  <c:v>25.5</c:v>
                </c:pt>
                <c:pt idx="52">
                  <c:v>26.0</c:v>
                </c:pt>
                <c:pt idx="53">
                  <c:v>26.5</c:v>
                </c:pt>
                <c:pt idx="54">
                  <c:v>27.0</c:v>
                </c:pt>
                <c:pt idx="55">
                  <c:v>27.5</c:v>
                </c:pt>
                <c:pt idx="56">
                  <c:v>28.0</c:v>
                </c:pt>
                <c:pt idx="57">
                  <c:v>28.5</c:v>
                </c:pt>
                <c:pt idx="58">
                  <c:v>29.0</c:v>
                </c:pt>
                <c:pt idx="59">
                  <c:v>29.5</c:v>
                </c:pt>
                <c:pt idx="60">
                  <c:v>30.0</c:v>
                </c:pt>
              </c:numCache>
            </c:numRef>
          </c:xVal>
          <c:yVal>
            <c:numRef>
              <c:f>Sheet1!$B$128:$B$188</c:f>
              <c:numCache>
                <c:formatCode>General</c:formatCode>
                <c:ptCount val="61"/>
                <c:pt idx="0">
                  <c:v>1.0</c:v>
                </c:pt>
                <c:pt idx="1">
                  <c:v>0.9961133124895509</c:v>
                </c:pt>
                <c:pt idx="2">
                  <c:v>0.9922715945455545</c:v>
                </c:pt>
                <c:pt idx="3">
                  <c:v>0.9884739856290503</c:v>
                </c:pt>
                <c:pt idx="4">
                  <c:v>0.9847196480802256</c:v>
                </c:pt>
                <c:pt idx="5">
                  <c:v>0.9810077663422254</c:v>
                </c:pt>
                <c:pt idx="6">
                  <c:v>0.977337546216906</c:v>
                </c:pt>
                <c:pt idx="7">
                  <c:v>0.9737082141509905</c:v>
                </c:pt>
                <c:pt idx="8">
                  <c:v>0.9701190165511684</c:v>
                </c:pt>
                <c:pt idx="9">
                  <c:v>0.9665692191267637</c:v>
                </c:pt>
                <c:pt idx="10">
                  <c:v>0.9630581062586693</c:v>
                </c:pt>
                <c:pt idx="11">
                  <c:v>0.9595849803933146</c:v>
                </c:pt>
                <c:pt idx="12">
                  <c:v>0.9561491614605041</c:v>
                </c:pt>
                <c:pt idx="13">
                  <c:v>0.952749986314021</c:v>
                </c:pt>
                <c:pt idx="14">
                  <c:v>0.9493868081939523</c:v>
                </c:pt>
                <c:pt idx="15">
                  <c:v>0.946058996209746</c:v>
                </c:pt>
                <c:pt idx="16">
                  <c:v>0.9427659348430617</c:v>
                </c:pt>
                <c:pt idx="17">
                  <c:v>0.9395070234695243</c:v>
                </c:pt>
                <c:pt idx="18">
                  <c:v>0.9362816758985388</c:v>
                </c:pt>
                <c:pt idx="19">
                  <c:v>0.9330893199303654</c:v>
                </c:pt>
                <c:pt idx="20">
                  <c:v>0.9299293969296923</c:v>
                </c:pt>
                <c:pt idx="21">
                  <c:v>0.9268013614149898</c:v>
                </c:pt>
                <c:pt idx="22">
                  <c:v>0.923704680662955</c:v>
                </c:pt>
                <c:pt idx="23">
                  <c:v>0.9206388343273993</c:v>
                </c:pt>
                <c:pt idx="24">
                  <c:v>0.9176033140719588</c:v>
                </c:pt>
                <c:pt idx="25">
                  <c:v>0.9145976232160385</c:v>
                </c:pt>
                <c:pt idx="26">
                  <c:v>0.9116212763934305</c:v>
                </c:pt>
                <c:pt idx="27">
                  <c:v>0.908673799223074</c:v>
                </c:pt>
                <c:pt idx="28">
                  <c:v>0.90575472799145</c:v>
                </c:pt>
                <c:pt idx="29">
                  <c:v>0.9028636093461272</c:v>
                </c:pt>
                <c:pt idx="30">
                  <c:v>0.9</c:v>
                </c:pt>
                <c:pt idx="31">
                  <c:v>0.89716346644578</c:v>
                </c:pt>
                <c:pt idx="32">
                  <c:v>0.8943535846803246</c:v>
                </c:pt>
                <c:pt idx="33">
                  <c:v>0.8915699399384024</c:v>
                </c:pt>
                <c:pt idx="34">
                  <c:v>0.8888121264355194</c:v>
                </c:pt>
                <c:pt idx="35">
                  <c:v>0.8860797471194398</c:v>
                </c:pt>
                <c:pt idx="36">
                  <c:v>0.8833724134300599</c:v>
                </c:pt>
                <c:pt idx="37">
                  <c:v>0.8806897450673019</c:v>
                </c:pt>
                <c:pt idx="38">
                  <c:v>0.8780313697667164</c:v>
                </c:pt>
                <c:pt idx="39">
                  <c:v>0.8753969230824892</c:v>
                </c:pt>
                <c:pt idx="40">
                  <c:v>0.8727860481775686</c:v>
                </c:pt>
                <c:pt idx="41">
                  <c:v>0.8701983956206362</c:v>
                </c:pt>
                <c:pt idx="42">
                  <c:v>0.8676336231896614</c:v>
                </c:pt>
                <c:pt idx="43">
                  <c:v>0.8650913956817863</c:v>
                </c:pt>
                <c:pt idx="44">
                  <c:v>0.8625713847293031</c:v>
                </c:pt>
                <c:pt idx="45">
                  <c:v>0.8600732686214938</c:v>
                </c:pt>
                <c:pt idx="46">
                  <c:v>0.8575967321321137</c:v>
                </c:pt>
                <c:pt idx="47">
                  <c:v>0.8551414663523065</c:v>
                </c:pt>
                <c:pt idx="48">
                  <c:v>0.852707168528753</c:v>
                </c:pt>
                <c:pt idx="49">
                  <c:v>0.8502935419068578</c:v>
                </c:pt>
                <c:pt idx="50">
                  <c:v>0.8479002955787924</c:v>
                </c:pt>
                <c:pt idx="51">
                  <c:v>0.8455271443362157</c:v>
                </c:pt>
                <c:pt idx="52">
                  <c:v>0.843173808527504</c:v>
                </c:pt>
                <c:pt idx="53">
                  <c:v>0.840840013919328</c:v>
                </c:pt>
                <c:pt idx="54">
                  <c:v>0.8385254915624211</c:v>
                </c:pt>
                <c:pt idx="55">
                  <c:v>0.8362299776613897</c:v>
                </c:pt>
                <c:pt idx="56">
                  <c:v>0.8339532134484225</c:v>
                </c:pt>
                <c:pt idx="57">
                  <c:v>0.8316949450607621</c:v>
                </c:pt>
                <c:pt idx="58">
                  <c:v>0.8294549234218066</c:v>
                </c:pt>
                <c:pt idx="59">
                  <c:v>0.8272329041257138</c:v>
                </c:pt>
                <c:pt idx="60">
                  <c:v>0.8250286473253902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30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E2DCFF"/>
            </a:solidFill>
          </a:ln>
        </c:spPr>
        <c:txPr>
          <a:bodyPr/>
          <a:lstStyle/>
          <a:p>
            <a:pPr>
              <a:defRPr sz="3356">
                <a:solidFill>
                  <a:srgbClr val="6E6889"/>
                </a:solidFill>
              </a:defRPr>
            </a:pPr>
          </a:p>
        </c:txPr>
        <c:crossAx val="-2129643912"/>
        <c:crosses val="autoZero"/>
        <c:crossBetween val="midCat"/>
        <c:majorUnit val="5.0"/>
      </c:valAx>
      <c:valAx>
        <c:axId val="-2129643912"/>
        <c:scaling>
          <c:orientation val="minMax"/>
          <c:max val="1.0"/>
          <c:min val="0.5"/>
        </c:scaling>
        <c:delete val="0"/>
        <c:axPos val="l"/>
        <c:majorGridlines>
          <c:spPr>
            <a:ln>
              <a:solidFill>
                <a:srgbClr val="ECEAF5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rgbClr val="E2DCFF"/>
            </a:solidFill>
          </a:ln>
        </c:spPr>
        <c:txPr>
          <a:bodyPr/>
          <a:lstStyle/>
          <a:p>
            <a:pPr>
              <a:defRPr sz="3356">
                <a:solidFill>
                  <a:srgbClr val="6E6889"/>
                </a:solidFill>
              </a:defRPr>
            </a:pPr>
          </a:p>
        </c:txPr>
        <c:crossAx val="-2128940872"/>
        <c:crosses val="autoZero"/>
        <c:crossBetween val="midCat"/>
        <c:majorUnit val="0.1"/>
      </c:valAx>
    </c:plotArea>
    <c:legend>
      <c:legendPos val="t"/>
      <c:layout/>
      <c:overlay val="0"/>
      <c:txPr>
        <a:bodyPr/>
        <a:lstStyle/>
        <a:p>
          <a:pPr>
            <a:defRPr sz="3553">
              <a:latin typeface="맑은 고딕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0913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4161D-6FEB-4256-99E7-C415BFD83B69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1225" y="744538"/>
            <a:ext cx="49752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6D406F-9772-45B6-9B98-31F1F4A67C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45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1pPr>
    <a:lvl2pPr marL="1173430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2pPr>
    <a:lvl3pPr marL="2346867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3pPr>
    <a:lvl4pPr marL="3520297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4pPr>
    <a:lvl5pPr marL="4693731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5pPr>
    <a:lvl6pPr marL="5867158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6pPr>
    <a:lvl7pPr marL="7040591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7pPr>
    <a:lvl8pPr marL="8214024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8pPr>
    <a:lvl9pPr marL="9387454" algn="l" defTabSz="2346867" rtl="0" eaLnBrk="1" latinLnBrk="1" hangingPunct="1">
      <a:defRPr sz="30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752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406F-9772-45B6-9B98-31F1F4A67CE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02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1225" y="744538"/>
            <a:ext cx="49752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6D406F-9772-45B6-9B98-31F1F4A67CE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4867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08079" y="8387572"/>
            <a:ext cx="30691533" cy="578754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416157" y="15300123"/>
            <a:ext cx="25275382" cy="69000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088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177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26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354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443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5316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7620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8708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2260" y="17350142"/>
            <a:ext cx="30691533" cy="5362543"/>
          </a:xfrm>
        </p:spPr>
        <p:txBody>
          <a:bodyPr anchor="t"/>
          <a:lstStyle>
            <a:lvl1pPr algn="l">
              <a:defRPr sz="9525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852260" y="11443846"/>
            <a:ext cx="30691533" cy="5906292"/>
          </a:xfrm>
        </p:spPr>
        <p:txBody>
          <a:bodyPr anchor="b"/>
          <a:lstStyle>
            <a:lvl1pPr marL="0" indent="0">
              <a:buNone/>
              <a:defRPr sz="4763">
                <a:solidFill>
                  <a:schemeClr val="tx1">
                    <a:tint val="75000"/>
                  </a:schemeClr>
                </a:solidFill>
              </a:defRPr>
            </a:lvl1pPr>
            <a:lvl2pPr marL="1088614" indent="0">
              <a:buNone/>
              <a:defRPr sz="4287">
                <a:solidFill>
                  <a:schemeClr val="tx1">
                    <a:tint val="75000"/>
                  </a:schemeClr>
                </a:solidFill>
              </a:defRPr>
            </a:lvl2pPr>
            <a:lvl3pPr marL="2177230" indent="0">
              <a:buNone/>
              <a:defRPr sz="3809">
                <a:solidFill>
                  <a:schemeClr val="tx1">
                    <a:tint val="75000"/>
                  </a:schemeClr>
                </a:solidFill>
              </a:defRPr>
            </a:lvl3pPr>
            <a:lvl4pPr marL="326584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4pPr>
            <a:lvl5pPr marL="435445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5pPr>
            <a:lvl6pPr marL="544307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6pPr>
            <a:lvl7pPr marL="653168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7pPr>
            <a:lvl8pPr marL="7620303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8pPr>
            <a:lvl9pPr marL="8708919" indent="0">
              <a:buNone/>
              <a:defRPr sz="3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05384" y="6300062"/>
            <a:ext cx="15947563" cy="17818885"/>
          </a:xfrm>
        </p:spPr>
        <p:txBody>
          <a:bodyPr/>
          <a:lstStyle>
            <a:lvl1pPr>
              <a:defRPr sz="6668"/>
            </a:lvl1pPr>
            <a:lvl2pPr>
              <a:defRPr sz="5714"/>
            </a:lvl2pPr>
            <a:lvl3pPr>
              <a:defRPr sz="4763"/>
            </a:lvl3pPr>
            <a:lvl4pPr>
              <a:defRPr sz="4287"/>
            </a:lvl4pPr>
            <a:lvl5pPr>
              <a:defRPr sz="4287"/>
            </a:lvl5pPr>
            <a:lvl6pPr>
              <a:defRPr sz="4287"/>
            </a:lvl6pPr>
            <a:lvl7pPr>
              <a:defRPr sz="4287"/>
            </a:lvl7pPr>
            <a:lvl8pPr>
              <a:defRPr sz="4287"/>
            </a:lvl8pPr>
            <a:lvl9pPr>
              <a:defRPr sz="428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8354744" y="6300062"/>
            <a:ext cx="15947563" cy="17818885"/>
          </a:xfrm>
        </p:spPr>
        <p:txBody>
          <a:bodyPr/>
          <a:lstStyle>
            <a:lvl1pPr>
              <a:defRPr sz="6668"/>
            </a:lvl1pPr>
            <a:lvl2pPr>
              <a:defRPr sz="5714"/>
            </a:lvl2pPr>
            <a:lvl3pPr>
              <a:defRPr sz="4763"/>
            </a:lvl3pPr>
            <a:lvl4pPr>
              <a:defRPr sz="4287"/>
            </a:lvl4pPr>
            <a:lvl5pPr>
              <a:defRPr sz="4287"/>
            </a:lvl5pPr>
            <a:lvl6pPr>
              <a:defRPr sz="4287"/>
            </a:lvl6pPr>
            <a:lvl7pPr>
              <a:defRPr sz="4287"/>
            </a:lvl7pPr>
            <a:lvl8pPr>
              <a:defRPr sz="4287"/>
            </a:lvl8pPr>
            <a:lvl9pPr>
              <a:defRPr sz="428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05394" y="6043802"/>
            <a:ext cx="15953833" cy="2518767"/>
          </a:xfrm>
        </p:spPr>
        <p:txBody>
          <a:bodyPr anchor="b"/>
          <a:lstStyle>
            <a:lvl1pPr marL="0" indent="0">
              <a:buNone/>
              <a:defRPr sz="5714" b="1"/>
            </a:lvl1pPr>
            <a:lvl2pPr marL="1088614" indent="0">
              <a:buNone/>
              <a:defRPr sz="4763" b="1"/>
            </a:lvl2pPr>
            <a:lvl3pPr marL="2177230" indent="0">
              <a:buNone/>
              <a:defRPr sz="4287" b="1"/>
            </a:lvl3pPr>
            <a:lvl4pPr marL="3265843" indent="0">
              <a:buNone/>
              <a:defRPr sz="3809" b="1"/>
            </a:lvl4pPr>
            <a:lvl5pPr marL="4354459" indent="0">
              <a:buNone/>
              <a:defRPr sz="3809" b="1"/>
            </a:lvl5pPr>
            <a:lvl6pPr marL="5443073" indent="0">
              <a:buNone/>
              <a:defRPr sz="3809" b="1"/>
            </a:lvl6pPr>
            <a:lvl7pPr marL="6531689" indent="0">
              <a:buNone/>
              <a:defRPr sz="3809" b="1"/>
            </a:lvl7pPr>
            <a:lvl8pPr marL="7620303" indent="0">
              <a:buNone/>
              <a:defRPr sz="3809" b="1"/>
            </a:lvl8pPr>
            <a:lvl9pPr marL="8708919" indent="0">
              <a:buNone/>
              <a:defRPr sz="38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805394" y="8562578"/>
            <a:ext cx="15953833" cy="15556367"/>
          </a:xfrm>
        </p:spPr>
        <p:txBody>
          <a:bodyPr/>
          <a:lstStyle>
            <a:lvl1pPr>
              <a:defRPr sz="5714"/>
            </a:lvl1pPr>
            <a:lvl2pPr>
              <a:defRPr sz="4763"/>
            </a:lvl2pPr>
            <a:lvl3pPr>
              <a:defRPr sz="4287"/>
            </a:lvl3pPr>
            <a:lvl4pPr>
              <a:defRPr sz="3809"/>
            </a:lvl4pPr>
            <a:lvl5pPr>
              <a:defRPr sz="3809"/>
            </a:lvl5pPr>
            <a:lvl6pPr>
              <a:defRPr sz="3809"/>
            </a:lvl6pPr>
            <a:lvl7pPr>
              <a:defRPr sz="3809"/>
            </a:lvl7pPr>
            <a:lvl8pPr>
              <a:defRPr sz="3809"/>
            </a:lvl8pPr>
            <a:lvl9pPr>
              <a:defRPr sz="380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8342220" y="6043802"/>
            <a:ext cx="15960097" cy="2518767"/>
          </a:xfrm>
        </p:spPr>
        <p:txBody>
          <a:bodyPr anchor="b"/>
          <a:lstStyle>
            <a:lvl1pPr marL="0" indent="0">
              <a:buNone/>
              <a:defRPr sz="5714" b="1"/>
            </a:lvl1pPr>
            <a:lvl2pPr marL="1088614" indent="0">
              <a:buNone/>
              <a:defRPr sz="4763" b="1"/>
            </a:lvl2pPr>
            <a:lvl3pPr marL="2177230" indent="0">
              <a:buNone/>
              <a:defRPr sz="4287" b="1"/>
            </a:lvl3pPr>
            <a:lvl4pPr marL="3265843" indent="0">
              <a:buNone/>
              <a:defRPr sz="3809" b="1"/>
            </a:lvl4pPr>
            <a:lvl5pPr marL="4354459" indent="0">
              <a:buNone/>
              <a:defRPr sz="3809" b="1"/>
            </a:lvl5pPr>
            <a:lvl6pPr marL="5443073" indent="0">
              <a:buNone/>
              <a:defRPr sz="3809" b="1"/>
            </a:lvl6pPr>
            <a:lvl7pPr marL="6531689" indent="0">
              <a:buNone/>
              <a:defRPr sz="3809" b="1"/>
            </a:lvl7pPr>
            <a:lvl8pPr marL="7620303" indent="0">
              <a:buNone/>
              <a:defRPr sz="3809" b="1"/>
            </a:lvl8pPr>
            <a:lvl9pPr marL="8708919" indent="0">
              <a:buNone/>
              <a:defRPr sz="3809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8342220" y="8562578"/>
            <a:ext cx="15960097" cy="15556367"/>
          </a:xfrm>
        </p:spPr>
        <p:txBody>
          <a:bodyPr/>
          <a:lstStyle>
            <a:lvl1pPr>
              <a:defRPr sz="5714"/>
            </a:lvl1pPr>
            <a:lvl2pPr>
              <a:defRPr sz="4763"/>
            </a:lvl2pPr>
            <a:lvl3pPr>
              <a:defRPr sz="4287"/>
            </a:lvl3pPr>
            <a:lvl4pPr>
              <a:defRPr sz="3809"/>
            </a:lvl4pPr>
            <a:lvl5pPr>
              <a:defRPr sz="3809"/>
            </a:lvl5pPr>
            <a:lvl6pPr>
              <a:defRPr sz="3809"/>
            </a:lvl6pPr>
            <a:lvl7pPr>
              <a:defRPr sz="3809"/>
            </a:lvl7pPr>
            <a:lvl8pPr>
              <a:defRPr sz="3809"/>
            </a:lvl8pPr>
            <a:lvl9pPr>
              <a:defRPr sz="380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05405" y="1075015"/>
            <a:ext cx="11879180" cy="4575033"/>
          </a:xfrm>
        </p:spPr>
        <p:txBody>
          <a:bodyPr anchor="b"/>
          <a:lstStyle>
            <a:lvl1pPr algn="l">
              <a:defRPr sz="476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4117114" y="1075019"/>
            <a:ext cx="20185202" cy="23043922"/>
          </a:xfrm>
        </p:spPr>
        <p:txBody>
          <a:bodyPr/>
          <a:lstStyle>
            <a:lvl1pPr>
              <a:defRPr sz="7620"/>
            </a:lvl1pPr>
            <a:lvl2pPr>
              <a:defRPr sz="6668"/>
            </a:lvl2pPr>
            <a:lvl3pPr>
              <a:defRPr sz="5714"/>
            </a:lvl3pPr>
            <a:lvl4pPr>
              <a:defRPr sz="4763"/>
            </a:lvl4pPr>
            <a:lvl5pPr>
              <a:defRPr sz="4763"/>
            </a:lvl5pPr>
            <a:lvl6pPr>
              <a:defRPr sz="4763"/>
            </a:lvl6pPr>
            <a:lvl7pPr>
              <a:defRPr sz="4763"/>
            </a:lvl7pPr>
            <a:lvl8pPr>
              <a:defRPr sz="4763"/>
            </a:lvl8pPr>
            <a:lvl9pPr>
              <a:defRPr sz="476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05405" y="5650059"/>
            <a:ext cx="11879180" cy="18468889"/>
          </a:xfrm>
        </p:spPr>
        <p:txBody>
          <a:bodyPr/>
          <a:lstStyle>
            <a:lvl1pPr marL="0" indent="0">
              <a:buNone/>
              <a:defRPr sz="3333"/>
            </a:lvl1pPr>
            <a:lvl2pPr marL="1088614" indent="0">
              <a:buNone/>
              <a:defRPr sz="2857"/>
            </a:lvl2pPr>
            <a:lvl3pPr marL="2177230" indent="0">
              <a:buNone/>
              <a:defRPr sz="2381"/>
            </a:lvl3pPr>
            <a:lvl4pPr marL="3265843" indent="0">
              <a:buNone/>
              <a:defRPr sz="2142"/>
            </a:lvl4pPr>
            <a:lvl5pPr marL="4354459" indent="0">
              <a:buNone/>
              <a:defRPr sz="2142"/>
            </a:lvl5pPr>
            <a:lvl6pPr marL="5443073" indent="0">
              <a:buNone/>
              <a:defRPr sz="2142"/>
            </a:lvl6pPr>
            <a:lvl7pPr marL="6531689" indent="0">
              <a:buNone/>
              <a:defRPr sz="2142"/>
            </a:lvl7pPr>
            <a:lvl8pPr marL="7620303" indent="0">
              <a:buNone/>
              <a:defRPr sz="2142"/>
            </a:lvl8pPr>
            <a:lvl9pPr marL="8708919" indent="0">
              <a:buNone/>
              <a:defRPr sz="21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077360" y="18900151"/>
            <a:ext cx="21664613" cy="2231275"/>
          </a:xfrm>
        </p:spPr>
        <p:txBody>
          <a:bodyPr anchor="b"/>
          <a:lstStyle>
            <a:lvl1pPr algn="l">
              <a:defRPr sz="476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077360" y="2412530"/>
            <a:ext cx="21664613" cy="16200120"/>
          </a:xfrm>
        </p:spPr>
        <p:txBody>
          <a:bodyPr/>
          <a:lstStyle>
            <a:lvl1pPr marL="0" indent="0">
              <a:buNone/>
              <a:defRPr sz="7620"/>
            </a:lvl1pPr>
            <a:lvl2pPr marL="1088614" indent="0">
              <a:buNone/>
              <a:defRPr sz="6668"/>
            </a:lvl2pPr>
            <a:lvl3pPr marL="2177230" indent="0">
              <a:buNone/>
              <a:defRPr sz="5714"/>
            </a:lvl3pPr>
            <a:lvl4pPr marL="3265843" indent="0">
              <a:buNone/>
              <a:defRPr sz="4763"/>
            </a:lvl4pPr>
            <a:lvl5pPr marL="4354459" indent="0">
              <a:buNone/>
              <a:defRPr sz="4763"/>
            </a:lvl5pPr>
            <a:lvl6pPr marL="5443073" indent="0">
              <a:buNone/>
              <a:defRPr sz="4763"/>
            </a:lvl6pPr>
            <a:lvl7pPr marL="6531689" indent="0">
              <a:buNone/>
              <a:defRPr sz="4763"/>
            </a:lvl7pPr>
            <a:lvl8pPr marL="7620303" indent="0">
              <a:buNone/>
              <a:defRPr sz="4763"/>
            </a:lvl8pPr>
            <a:lvl9pPr marL="8708919" indent="0">
              <a:buNone/>
              <a:defRPr sz="4763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077360" y="21131420"/>
            <a:ext cx="21664613" cy="3168770"/>
          </a:xfrm>
        </p:spPr>
        <p:txBody>
          <a:bodyPr/>
          <a:lstStyle>
            <a:lvl1pPr marL="0" indent="0">
              <a:buNone/>
              <a:defRPr sz="3333"/>
            </a:lvl1pPr>
            <a:lvl2pPr marL="1088614" indent="0">
              <a:buNone/>
              <a:defRPr sz="2857"/>
            </a:lvl2pPr>
            <a:lvl3pPr marL="2177230" indent="0">
              <a:buNone/>
              <a:defRPr sz="2381"/>
            </a:lvl3pPr>
            <a:lvl4pPr marL="3265843" indent="0">
              <a:buNone/>
              <a:defRPr sz="2142"/>
            </a:lvl4pPr>
            <a:lvl5pPr marL="4354459" indent="0">
              <a:buNone/>
              <a:defRPr sz="2142"/>
            </a:lvl5pPr>
            <a:lvl6pPr marL="5443073" indent="0">
              <a:buNone/>
              <a:defRPr sz="2142"/>
            </a:lvl6pPr>
            <a:lvl7pPr marL="6531689" indent="0">
              <a:buNone/>
              <a:defRPr sz="2142"/>
            </a:lvl7pPr>
            <a:lvl8pPr marL="7620303" indent="0">
              <a:buNone/>
              <a:defRPr sz="2142"/>
            </a:lvl8pPr>
            <a:lvl9pPr marL="8708919" indent="0">
              <a:buNone/>
              <a:defRPr sz="2142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6178093" y="1081270"/>
            <a:ext cx="8124227" cy="2303766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5396" y="1081270"/>
            <a:ext cx="23770894" cy="2303766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805394" y="1081265"/>
            <a:ext cx="32496920" cy="4500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805394" y="6300062"/>
            <a:ext cx="32496920" cy="17818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805396" y="25025201"/>
            <a:ext cx="8425127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2336803" y="25025201"/>
            <a:ext cx="11434103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5877191" y="25025201"/>
            <a:ext cx="8425127" cy="14375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177230" rtl="0" eaLnBrk="1" latinLnBrk="1" hangingPunct="1">
        <a:spcBef>
          <a:spcPct val="0"/>
        </a:spcBef>
        <a:buNone/>
        <a:defRPr sz="104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6461" indent="-816461" algn="l" defTabSz="2177230" rtl="0" eaLnBrk="1" latinLnBrk="1" hangingPunct="1">
        <a:spcBef>
          <a:spcPct val="20000"/>
        </a:spcBef>
        <a:buFont typeface="Arial" pitchFamily="34" charset="0"/>
        <a:buChar char="•"/>
        <a:defRPr sz="7620" kern="1200">
          <a:solidFill>
            <a:schemeClr val="tx1"/>
          </a:solidFill>
          <a:latin typeface="+mn-lt"/>
          <a:ea typeface="+mn-ea"/>
          <a:cs typeface="+mn-cs"/>
        </a:defRPr>
      </a:lvl1pPr>
      <a:lvl2pPr marL="1768998" indent="-680385" algn="l" defTabSz="2177230" rtl="0" eaLnBrk="1" latinLnBrk="1" hangingPunct="1">
        <a:spcBef>
          <a:spcPct val="20000"/>
        </a:spcBef>
        <a:buFont typeface="Arial" pitchFamily="34" charset="0"/>
        <a:buChar char="–"/>
        <a:defRPr sz="6668" kern="1200">
          <a:solidFill>
            <a:schemeClr val="tx1"/>
          </a:solidFill>
          <a:latin typeface="+mn-lt"/>
          <a:ea typeface="+mn-ea"/>
          <a:cs typeface="+mn-cs"/>
        </a:defRPr>
      </a:lvl2pPr>
      <a:lvl3pPr marL="2721537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5714" kern="1200">
          <a:solidFill>
            <a:schemeClr val="tx1"/>
          </a:solidFill>
          <a:latin typeface="+mn-lt"/>
          <a:ea typeface="+mn-ea"/>
          <a:cs typeface="+mn-cs"/>
        </a:defRPr>
      </a:lvl3pPr>
      <a:lvl4pPr marL="3810152" indent="-544307" algn="l" defTabSz="2177230" rtl="0" eaLnBrk="1" latinLnBrk="1" hangingPunct="1">
        <a:spcBef>
          <a:spcPct val="20000"/>
        </a:spcBef>
        <a:buFont typeface="Arial" pitchFamily="34" charset="0"/>
        <a:buChar char="–"/>
        <a:defRPr sz="4763" kern="1200">
          <a:solidFill>
            <a:schemeClr val="tx1"/>
          </a:solidFill>
          <a:latin typeface="+mn-lt"/>
          <a:ea typeface="+mn-ea"/>
          <a:cs typeface="+mn-cs"/>
        </a:defRPr>
      </a:lvl4pPr>
      <a:lvl5pPr marL="4898767" indent="-544307" algn="l" defTabSz="2177230" rtl="0" eaLnBrk="1" latinLnBrk="1" hangingPunct="1">
        <a:spcBef>
          <a:spcPct val="20000"/>
        </a:spcBef>
        <a:buFont typeface="Arial" pitchFamily="34" charset="0"/>
        <a:buChar char="»"/>
        <a:defRPr sz="4763" kern="1200">
          <a:solidFill>
            <a:schemeClr val="tx1"/>
          </a:solidFill>
          <a:latin typeface="+mn-lt"/>
          <a:ea typeface="+mn-ea"/>
          <a:cs typeface="+mn-cs"/>
        </a:defRPr>
      </a:lvl5pPr>
      <a:lvl6pPr marL="5987380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6pPr>
      <a:lvl7pPr marL="7075997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7pPr>
      <a:lvl8pPr marL="8164610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8pPr>
      <a:lvl9pPr marL="9253226" indent="-544307" algn="l" defTabSz="2177230" rtl="0" eaLnBrk="1" latinLnBrk="1" hangingPunct="1">
        <a:spcBef>
          <a:spcPct val="20000"/>
        </a:spcBef>
        <a:buFont typeface="Arial" pitchFamily="34" charset="0"/>
        <a:buChar char="•"/>
        <a:defRPr sz="47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1pPr>
      <a:lvl2pPr marL="1088614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2pPr>
      <a:lvl3pPr marL="2177230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3pPr>
      <a:lvl4pPr marL="326584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4pPr>
      <a:lvl5pPr marL="435445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5pPr>
      <a:lvl6pPr marL="544307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6pPr>
      <a:lvl7pPr marL="653168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7pPr>
      <a:lvl8pPr marL="7620303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8pPr>
      <a:lvl9pPr marL="8708919" algn="l" defTabSz="2177230" rtl="0" eaLnBrk="1" latinLnBrk="1" hangingPunct="1">
        <a:defRPr sz="42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6.png"/><Relationship Id="rId12" Type="http://schemas.openxmlformats.org/officeDocument/2006/relationships/image" Target="../media/image20.png"/><Relationship Id="rId13" Type="http://schemas.openxmlformats.org/officeDocument/2006/relationships/image" Target="../media/image9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필요성 및 배경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1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384" y="5055076"/>
            <a:ext cx="16067921" cy="12818229"/>
          </a:xfrm>
          <a:prstGeom prst="roundRect">
            <a:avLst>
              <a:gd name="adj" fmla="val 3380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708077" y="5705015"/>
            <a:ext cx="14443075" cy="1444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7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한국어는 ‘붙여서’ 만드는 언어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6400" y="8015907"/>
            <a:ext cx="1516523" cy="1877600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49569" y="8015907"/>
            <a:ext cx="1516523" cy="1877600"/>
          </a:xfrm>
          <a:prstGeom prst="roundRect">
            <a:avLst>
              <a:gd name="adj" fmla="val 23809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60461" y="8015907"/>
            <a:ext cx="2238677" cy="18776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커피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15784" y="8015907"/>
            <a:ext cx="1516523" cy="1877600"/>
          </a:xfrm>
          <a:prstGeom prst="roundRect">
            <a:avLst>
              <a:gd name="adj" fmla="val 23809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626676" y="8015907"/>
            <a:ext cx="4044061" cy="187760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좋아해요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4061" y="10110153"/>
            <a:ext cx="3249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주제 조사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71476" y="10110153"/>
            <a:ext cx="3249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목적 조사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0691" y="10110153"/>
            <a:ext cx="6318845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해요체(존댓말) 동사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400" y="11373922"/>
            <a:ext cx="14443075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“I like coffee.”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400" y="12637691"/>
            <a:ext cx="14443075" cy="5055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935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단어 뒤에 조사·어미가 붙어 문장 속 역할이 정해지는 교착어.</a:t>
            </a:r>
          </a:p>
          <a:p>
            <a:pPr algn="l">
              <a:lnSpc>
                <a:spcPct val="130000"/>
              </a:lnSpc>
            </a:pPr>
            <a:r>
              <a:rPr sz="4935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영어처럼 어순만 외워서는 구조가 보이지 않는다.</a:t>
            </a:r>
          </a:p>
          <a:p>
            <a:pPr algn="l">
              <a:lnSpc>
                <a:spcPct val="130000"/>
              </a:lnSpc>
            </a:pPr>
            <a:r>
              <a:rPr sz="4935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미국 외교연수원(FSI) 기준, 영어 화자에게 </a:t>
            </a:r>
            <a:r>
              <a:rPr sz="4935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최고 난이도(Category IV)</a:t>
            </a:r>
            <a:r>
              <a:rPr sz="4935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 언어.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595459" y="5055076"/>
            <a:ext cx="15706844" cy="12818229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75224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9498152" y="5705015"/>
            <a:ext cx="14081998" cy="1444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7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기존 학습 앱의 한계</a:t>
            </a:r>
          </a:p>
        </p:txBody>
      </p:sp>
      <p:sp>
        <p:nvSpPr>
          <p:cNvPr id="21" name="Oval 20"/>
          <p:cNvSpPr/>
          <p:nvPr/>
        </p:nvSpPr>
        <p:spPr>
          <a:xfrm>
            <a:off x="19498152" y="7943691"/>
            <a:ext cx="1299877" cy="1299877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1375751" y="7763153"/>
            <a:ext cx="12276614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암기 · 객관식 중심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375751" y="9063030"/>
            <a:ext cx="12276614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4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단어 카드와 보기 고르기 위주라 실제로 문장을 만들어 보는 경험이 적다.</a:t>
            </a:r>
          </a:p>
        </p:txBody>
      </p:sp>
      <p:sp>
        <p:nvSpPr>
          <p:cNvPr id="24" name="Oval 23"/>
          <p:cNvSpPr/>
          <p:nvPr/>
        </p:nvSpPr>
        <p:spPr>
          <a:xfrm>
            <a:off x="19498152" y="11265599"/>
            <a:ext cx="1299877" cy="1299877"/>
          </a:xfrm>
          <a:prstGeom prst="ellipse">
            <a:avLst/>
          </a:prstGeom>
          <a:solidFill>
            <a:srgbClr val="4CD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1375751" y="11085060"/>
            <a:ext cx="12276614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구조를 체험할 기회 부족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75751" y="12384937"/>
            <a:ext cx="12276614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4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조사·어미를 직접 붙이고 떼어 보며 원리를 이해하는 과정이 없다.</a:t>
            </a:r>
          </a:p>
        </p:txBody>
      </p:sp>
      <p:sp>
        <p:nvSpPr>
          <p:cNvPr id="27" name="Oval 26"/>
          <p:cNvSpPr/>
          <p:nvPr/>
        </p:nvSpPr>
        <p:spPr>
          <a:xfrm>
            <a:off x="19498152" y="14587506"/>
            <a:ext cx="1299877" cy="1299877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1375751" y="14406968"/>
            <a:ext cx="12276614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AI 대화는 목적·끝·피드백이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75751" y="15706844"/>
            <a:ext cx="12276614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54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무엇을 말할지, 언제 끝낼지, 무엇을 고칠지 학습자가 알 수 없다.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05384" y="18595459"/>
            <a:ext cx="32496919" cy="6318845"/>
          </a:xfrm>
          <a:prstGeom prst="roundRect">
            <a:avLst>
              <a:gd name="adj" fmla="val 6857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c_rabbit_ha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538" y="18775998"/>
            <a:ext cx="5651369" cy="5957769"/>
          </a:xfrm>
          <a:prstGeom prst="rect">
            <a:avLst/>
          </a:prstGeom>
        </p:spPr>
      </p:pic>
      <p:pic>
        <p:nvPicPr>
          <p:cNvPr id="32" name="Picture 31" descr="c_turtle_thi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86150" y="18956536"/>
            <a:ext cx="5802096" cy="577723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8485307" y="19425936"/>
            <a:ext cx="5055076" cy="13720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473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MARU의 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307" y="21122997"/>
            <a:ext cx="21303536" cy="1805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1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토끼처럼 </a:t>
            </a:r>
            <a:r>
              <a:rPr sz="6318" b="1">
                <a:solidFill>
                  <a:srgbClr val="FFC83D"/>
                </a:solidFill>
                <a:latin typeface="맑은 고딕"/>
                <a:ea typeface="맑은 고딕"/>
                <a:cs typeface="맑은 고딕"/>
              </a:rPr>
              <a:t>빠르게 체험</a:t>
            </a:r>
            <a:r>
              <a:rPr sz="631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하고, 거북이처럼 </a:t>
            </a:r>
            <a:r>
              <a:rPr sz="6318" b="1">
                <a:solidFill>
                  <a:srgbClr val="4CD4B0"/>
                </a:solidFill>
                <a:latin typeface="맑은 고딕"/>
                <a:ea typeface="맑은 고딕"/>
                <a:cs typeface="맑은 고딕"/>
              </a:rPr>
              <a:t>천천히 분석</a:t>
            </a:r>
            <a:r>
              <a:rPr sz="631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307" y="23036705"/>
            <a:ext cx="20220305" cy="1444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935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한국어의 구조를 직접 체험하는 학습 앱 — 레슨 · 단어 · 미션 · 실험실</a:t>
            </a:r>
          </a:p>
        </p:txBody>
      </p:sp>
    </p:spTree>
    <p:extLst>
      <p:ext uri="{BB962C8B-B14F-4D97-AF65-F5344CB8AC3E}">
        <p14:creationId xmlns:p14="http://schemas.microsoft.com/office/powerpoint/2010/main" val="2347805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시스템 구성도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384" y="5235615"/>
            <a:ext cx="9929614" cy="13540383"/>
          </a:xfrm>
          <a:prstGeom prst="roundRect">
            <a:avLst>
              <a:gd name="adj" fmla="val 4363"/>
            </a:avLst>
          </a:prstGeom>
          <a:solidFill>
            <a:srgbClr val="F0EDFF"/>
          </a:solidFill>
          <a:ln w="75224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527538" y="5705015"/>
            <a:ext cx="8665845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1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Flutter 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7538" y="6968784"/>
            <a:ext cx="8665845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iOS · Android 단일 코드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7538" y="8485307"/>
            <a:ext cx="8485307" cy="1516523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816400" y="8701953"/>
            <a:ext cx="1083231" cy="1083231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434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60707" y="8485307"/>
            <a:ext cx="6499384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형태소 레슨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7538" y="10290691"/>
            <a:ext cx="8485307" cy="1516523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816400" y="10507337"/>
            <a:ext cx="1083231" cy="1083231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434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0707" y="10290691"/>
            <a:ext cx="6499384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적응형 단어 복습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27538" y="12096075"/>
            <a:ext cx="8485307" cy="1516523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816400" y="12312722"/>
            <a:ext cx="1083231" cy="1083231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434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60707" y="12096075"/>
            <a:ext cx="6499384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롤플레이 미션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27538" y="13901460"/>
            <a:ext cx="8485307" cy="1516523"/>
          </a:xfrm>
          <a:prstGeom prst="roundRect">
            <a:avLst>
              <a:gd name="adj" fmla="val 2380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816400" y="14118106"/>
            <a:ext cx="1083231" cy="1083231"/>
          </a:xfrm>
          <a:prstGeom prst="roundRect">
            <a:avLst>
              <a:gd name="adj" fmla="val 2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434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0707" y="13901460"/>
            <a:ext cx="6499384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언어 실험실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27538" y="15706844"/>
            <a:ext cx="8485307" cy="1516523"/>
          </a:xfrm>
          <a:prstGeom prst="roundRect">
            <a:avLst>
              <a:gd name="adj" fmla="val 23809"/>
            </a:avLst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527538" y="15706844"/>
            <a:ext cx="8485307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토끼 · 거북이 캐릭터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7538" y="17512229"/>
            <a:ext cx="8665845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Riverpod · Dio · just_audio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915537" y="11373922"/>
            <a:ext cx="2347000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1915537" y="12457152"/>
            <a:ext cx="2347000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554460" y="9207460"/>
            <a:ext cx="3069153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 algn="ctr">
              <a:lnSpc>
                <a:spcPct val="115000"/>
              </a:lnSpc>
            </a:pPr>
            <a:r>
              <a:rPr sz="394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JWT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443075" y="5235615"/>
            <a:ext cx="10832306" cy="13540383"/>
          </a:xfrm>
          <a:prstGeom prst="roundRect">
            <a:avLst>
              <a:gd name="adj" fmla="val 4000"/>
            </a:avLst>
          </a:prstGeom>
          <a:solidFill>
            <a:srgbClr val="2B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5165229" y="5705015"/>
            <a:ext cx="9749076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1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Spring Boot 3.5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165229" y="6968784"/>
            <a:ext cx="9749076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0">
                <a:solidFill>
                  <a:srgbClr val="E2DCFF"/>
                </a:solidFill>
                <a:latin typeface="맑은 고딕"/>
                <a:ea typeface="맑은 고딕"/>
                <a:cs typeface="맑은 고딕"/>
              </a:rPr>
              <a:t>Java 17 · Railway 운영 서버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165229" y="8485307"/>
            <a:ext cx="9387999" cy="1516523"/>
          </a:xfrm>
          <a:prstGeom prst="roundRect">
            <a:avLst>
              <a:gd name="adj" fmla="val 23809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5706844" y="8485307"/>
            <a:ext cx="8665845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인증 · JWT 발급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165229" y="10290691"/>
            <a:ext cx="9387999" cy="1516523"/>
          </a:xfrm>
          <a:prstGeom prst="roundRect">
            <a:avLst>
              <a:gd name="adj" fmla="val 23809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5706844" y="10290691"/>
            <a:ext cx="8665845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레슨 · 진도 · 발음(TTS)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165229" y="12096075"/>
            <a:ext cx="9387999" cy="1516523"/>
          </a:xfrm>
          <a:prstGeom prst="roundRect">
            <a:avLst>
              <a:gd name="adj" fmla="val 23809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706844" y="12096075"/>
            <a:ext cx="8665845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단어 · FSRS-4.5 스케줄러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165229" y="13901460"/>
            <a:ext cx="9387999" cy="1516523"/>
          </a:xfrm>
          <a:prstGeom prst="roundRect">
            <a:avLst>
              <a:gd name="adj" fmla="val 23809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5706844" y="13901460"/>
            <a:ext cx="8665845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미션 대화 · 병렬 AI 호출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165229" y="15706844"/>
            <a:ext cx="9387999" cy="1516523"/>
          </a:xfrm>
          <a:prstGeom prst="roundRect">
            <a:avLst>
              <a:gd name="adj" fmla="val 23809"/>
            </a:avLst>
          </a:prstGeom>
          <a:solidFill>
            <a:srgbClr val="403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5706844" y="15706844"/>
            <a:ext cx="8665845" cy="15165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실험실 · AI 응답 캐시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9859228" y="18848213"/>
            <a:ext cx="0" cy="1191554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n 41"/>
          <p:cNvSpPr/>
          <p:nvPr/>
        </p:nvSpPr>
        <p:spPr>
          <a:xfrm>
            <a:off x="14443075" y="20039767"/>
            <a:ext cx="10832306" cy="4874538"/>
          </a:xfrm>
          <a:prstGeom prst="can">
            <a:avLst>
              <a:gd name="adj" fmla="val 18000"/>
            </a:avLst>
          </a:prstGeom>
          <a:solidFill>
            <a:srgbClr val="4CD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4623614" y="21014674"/>
            <a:ext cx="10471230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92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PostgreSQL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23614" y="22278443"/>
            <a:ext cx="10471230" cy="21664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146" b="0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레슨 JSONB · 단어 5,561개</a:t>
            </a:r>
          </a:p>
          <a:p>
            <a:pPr algn="ctr">
              <a:lnSpc>
                <a:spcPct val="115000"/>
              </a:lnSpc>
            </a:pPr>
            <a:r>
              <a:rPr sz="4146" b="0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AI 응답 캐시 · TTS 캐시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622381" y="5235615"/>
            <a:ext cx="6679922" cy="28886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7983458" y="5524476"/>
            <a:ext cx="6138307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OpenAI GPT-4o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983458" y="6752138"/>
            <a:ext cx="6138307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미션 대화 · 교정 · 판정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5347597" y="6679922"/>
            <a:ext cx="2166461" cy="0"/>
          </a:xfrm>
          <a:prstGeom prst="line">
            <a:avLst/>
          </a:prstGeom>
          <a:ln w="60179">
            <a:solidFill>
              <a:srgbClr val="6E688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7622381" y="8665845"/>
            <a:ext cx="6679922" cy="28886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7983458" y="8954707"/>
            <a:ext cx="6138307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OpenAI gpt-4o-mini-tts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983458" y="10182368"/>
            <a:ext cx="6138307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한국어 발음 음성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5347597" y="10110153"/>
            <a:ext cx="2166461" cy="0"/>
          </a:xfrm>
          <a:prstGeom prst="line">
            <a:avLst/>
          </a:prstGeom>
          <a:ln w="60179">
            <a:solidFill>
              <a:srgbClr val="6E688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27622381" y="12096075"/>
            <a:ext cx="6679922" cy="28886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27983458" y="12384937"/>
            <a:ext cx="6138307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Google Gemini 2.5 Flash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983458" y="13612598"/>
            <a:ext cx="6138307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AI 문법 실험실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5347597" y="13540383"/>
            <a:ext cx="2166461" cy="0"/>
          </a:xfrm>
          <a:prstGeom prst="line">
            <a:avLst/>
          </a:prstGeom>
          <a:ln w="60179">
            <a:solidFill>
              <a:srgbClr val="6E688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27622381" y="15526306"/>
            <a:ext cx="6679922" cy="288861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27983458" y="15815167"/>
            <a:ext cx="6138307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Google · Apple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983458" y="17042829"/>
            <a:ext cx="6138307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소셜 로그인 (토큰 검증)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25347597" y="16970613"/>
            <a:ext cx="2166461" cy="0"/>
          </a:xfrm>
          <a:prstGeom prst="line">
            <a:avLst/>
          </a:prstGeom>
          <a:ln w="60179">
            <a:solidFill>
              <a:srgbClr val="6E6889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7622381" y="19317613"/>
            <a:ext cx="6679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외부 AI · 인증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805384" y="20039767"/>
            <a:ext cx="11734999" cy="4874538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00299">
            <a:solidFill>
              <a:srgbClr val="FFC8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455323" y="20292521"/>
            <a:ext cx="10832306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935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오프라인 콘텐츠 파이프라인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55323" y="21484074"/>
            <a:ext cx="10832306" cy="324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레슨: CSV → Kiwi 형태소 분석 → 레슨 JSON</a:t>
            </a:r>
          </a:p>
          <a:p>
            <a:pPr algn="l">
              <a:lnSpc>
                <a:spcPct val="125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단어: 국립국어원 어휘 → Gemini 번역·예문</a:t>
            </a:r>
          </a:p>
          <a:p>
            <a:pPr algn="l">
              <a:lnSpc>
                <a:spcPct val="125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→ 멱등 SQL 패치로 DB 반영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3648706" y="22458982"/>
            <a:ext cx="722154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6" name="Picture 65" descr="c_turtle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7766" y="20581382"/>
            <a:ext cx="3986289" cy="4332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87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주요 기술 ① Morpheme 레슨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3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pic>
        <p:nvPicPr>
          <p:cNvPr id="7" name="Picture 6" descr="ph_lesson_h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923" y="5127292"/>
            <a:ext cx="5777230" cy="1213218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44308" y="17476121"/>
            <a:ext cx="68604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거북이 단계 · 힌트 말풍선</a:t>
            </a:r>
          </a:p>
        </p:txBody>
      </p:sp>
      <p:pic>
        <p:nvPicPr>
          <p:cNvPr id="9" name="Picture 8" descr="ph_lesson_d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307" y="5127292"/>
            <a:ext cx="5777230" cy="121321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43691" y="17476121"/>
            <a:ext cx="68604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레슨 완료 · 토끼 환호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345767" y="5127292"/>
            <a:ext cx="18956536" cy="4332923"/>
          </a:xfrm>
          <a:prstGeom prst="roundRect">
            <a:avLst>
              <a:gd name="adj" fmla="val 10000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_rabbit_tal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79060" y="5307830"/>
            <a:ext cx="3722187" cy="397184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498152" y="5416153"/>
            <a:ext cx="14443075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토끼 단계</a:t>
            </a: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 — 의미 덩어리로 문장 조립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498152" y="7149322"/>
            <a:ext cx="2708077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저는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95090" y="7149322"/>
            <a:ext cx="3430230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커피를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14181" y="7149322"/>
            <a:ext cx="4332923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좋아해요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733766" y="9604645"/>
            <a:ext cx="0" cy="722154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5345767" y="10471230"/>
            <a:ext cx="18956536" cy="5235615"/>
          </a:xfrm>
          <a:prstGeom prst="roundRect">
            <a:avLst>
              <a:gd name="adj" fmla="val 8275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c_turtle_thi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06844" y="10760091"/>
            <a:ext cx="4170257" cy="41523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9498152" y="10760091"/>
            <a:ext cx="14443075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거북이 단계</a:t>
            </a: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 — 레슨 목표 문법만 분해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498152" y="12384937"/>
            <a:ext cx="2708077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저는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495090" y="12384937"/>
            <a:ext cx="2708077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커피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492028" y="12384937"/>
            <a:ext cx="1805384" cy="1516523"/>
          </a:xfrm>
          <a:prstGeom prst="roundRect">
            <a:avLst>
              <a:gd name="adj" fmla="val 19047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586274" y="12384937"/>
            <a:ext cx="4332923" cy="1516523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5014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좋아해요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498152" y="14154214"/>
            <a:ext cx="14443075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146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‘저는’·‘좋아해요’는 통째로, 이번 레슨 목표(을/를)인 ‘커피를’만 분리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45767" y="16248460"/>
            <a:ext cx="19137075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Kiwi 기반 오프라인 콘텐츠 파이프라인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345767" y="17512229"/>
            <a:ext cx="4044061" cy="27080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5345767" y="17692767"/>
            <a:ext cx="40440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45767" y="18775998"/>
            <a:ext cx="4044061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553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문장+목표 품사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9462044" y="18848213"/>
            <a:ext cx="794369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0328628" y="17512229"/>
            <a:ext cx="4044061" cy="27080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0328628" y="17692767"/>
            <a:ext cx="40440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Kiwi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328628" y="18775998"/>
            <a:ext cx="4044061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553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형태소 분석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444905" y="18848213"/>
            <a:ext cx="794369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5311489" y="17512229"/>
            <a:ext cx="4044061" cy="27080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5311489" y="17692767"/>
            <a:ext cx="40440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생성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311489" y="18775998"/>
            <a:ext cx="4044061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553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조립 문제·탭 분석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9427766" y="18848213"/>
            <a:ext cx="794369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30294350" y="17512229"/>
            <a:ext cx="4044061" cy="27080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0179">
            <a:solidFill>
              <a:srgbClr val="6B4E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0294350" y="17692767"/>
            <a:ext cx="40440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SQL 패치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294350" y="18775998"/>
            <a:ext cx="4044061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553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멱등·DB 반영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05384" y="21122997"/>
            <a:ext cx="7763153" cy="3791307"/>
          </a:xfrm>
          <a:prstGeom prst="roundRect">
            <a:avLst>
              <a:gd name="adj" fmla="val 11428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47000" y="21339644"/>
            <a:ext cx="6679922" cy="189565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12개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47000" y="23397782"/>
            <a:ext cx="6679922" cy="144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한글 레슨 · 자모·음절 80항목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037937" y="21122997"/>
            <a:ext cx="7763153" cy="3791307"/>
          </a:xfrm>
          <a:prstGeom prst="roundRect">
            <a:avLst>
              <a:gd name="adj" fmla="val 11428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579553" y="21339644"/>
            <a:ext cx="6679922" cy="189565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3개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9553" y="23397782"/>
            <a:ext cx="6679922" cy="144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문법 레슨 · 은/는, 이에요/예요, 을/를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8270490" y="21122997"/>
            <a:ext cx="7763153" cy="3791307"/>
          </a:xfrm>
          <a:prstGeom prst="roundRect">
            <a:avLst>
              <a:gd name="adj" fmla="val 11428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8812105" y="21339644"/>
            <a:ext cx="6679922" cy="189565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첫 시도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812105" y="23397782"/>
            <a:ext cx="6679922" cy="144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점수 = 첫 시도 정답률 · 별 · 이어하기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503043" y="21122997"/>
            <a:ext cx="7799261" cy="3791307"/>
          </a:xfrm>
          <a:prstGeom prst="roundRect">
            <a:avLst>
              <a:gd name="adj" fmla="val 11428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7044658" y="21339644"/>
            <a:ext cx="6716030" cy="1895654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TTS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044658" y="23397782"/>
            <a:ext cx="6716030" cy="14406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서버 음성 생성 · DB 캐시 재사용</a:t>
            </a:r>
          </a:p>
        </p:txBody>
      </p:sp>
    </p:spTree>
    <p:extLst>
      <p:ext uri="{BB962C8B-B14F-4D97-AF65-F5344CB8AC3E}">
        <p14:creationId xmlns:p14="http://schemas.microsoft.com/office/powerpoint/2010/main" val="55980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주요 기술 ② Adaptive 단어 (FSRS-4.5)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4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384" y="5127292"/>
            <a:ext cx="13540383" cy="108323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455323" y="5416153"/>
            <a:ext cx="1263769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34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기억률 곡선  R(t) = (1 + 19/81 · t/S)^−0.5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5323" y="6427168"/>
            <a:ext cx="12637691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553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t: 경과 일수 · S: 안정성 · R = 90%가 되는 날이 다음 복습일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2166461" y="7293753"/>
          <a:ext cx="12818229" cy="848530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5887383" y="5127292"/>
            <a:ext cx="8304768" cy="3358015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16320675" y="5993876"/>
            <a:ext cx="1624846" cy="1624846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92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42706" y="5488369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935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안정성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342706" y="6643815"/>
            <a:ext cx="5596692" cy="173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기억이 유지되는 기간. 잘 기억할수록 커진다.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87383" y="8864437"/>
            <a:ext cx="8304768" cy="3358015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16320675" y="9731022"/>
            <a:ext cx="1624846" cy="1624846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92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342706" y="9225514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935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난이도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42706" y="10380960"/>
            <a:ext cx="5596692" cy="173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단어별 어려움(1~10). 평가에 따라 조정.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887383" y="12601583"/>
            <a:ext cx="8304768" cy="3358015"/>
          </a:xfrm>
          <a:prstGeom prst="roundRect">
            <a:avLst>
              <a:gd name="adj" fmla="val 12903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6320675" y="13468168"/>
            <a:ext cx="1624846" cy="1624846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92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342706" y="12962660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935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인출가능성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42706" y="14118106"/>
            <a:ext cx="5596692" cy="17331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지금 떠올릴 확률. 90% 직전이 복습일.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5384" y="16609536"/>
            <a:ext cx="22386767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4단계 평가 → FSRS-4.5 표준 공식 · 기본 파라미터로 다음 복습일 계산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5384" y="18126059"/>
            <a:ext cx="5235615" cy="1624846"/>
          </a:xfrm>
          <a:prstGeom prst="roundRect">
            <a:avLst>
              <a:gd name="adj" fmla="val 26666"/>
            </a:avLst>
          </a:prstGeom>
          <a:solidFill>
            <a:srgbClr val="F05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13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Again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2076" y="18126059"/>
            <a:ext cx="5235615" cy="1624846"/>
          </a:xfrm>
          <a:prstGeom prst="roundRect">
            <a:avLst>
              <a:gd name="adj" fmla="val 26666"/>
            </a:avLst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13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998768" y="18126059"/>
            <a:ext cx="5235615" cy="1624846"/>
          </a:xfrm>
          <a:prstGeom prst="roundRect">
            <a:avLst>
              <a:gd name="adj" fmla="val 26666"/>
            </a:avLst>
          </a:prstGeom>
          <a:solidFill>
            <a:srgbClr val="4CD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13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595459" y="18126059"/>
            <a:ext cx="5235615" cy="1624846"/>
          </a:xfrm>
          <a:prstGeom prst="roundRect">
            <a:avLst>
              <a:gd name="adj" fmla="val 26666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513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Easy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5384" y="19931444"/>
            <a:ext cx="22386767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버튼마다 다음 간격 미리보기 (예: Again 5분 · Good 4일) · ‘오늘의 복습’은 기한이 된 단어만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05384" y="21484074"/>
            <a:ext cx="5235615" cy="3430230"/>
          </a:xfrm>
          <a:prstGeom prst="roundRect">
            <a:avLst>
              <a:gd name="adj" fmla="val 12631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47000" y="21700720"/>
            <a:ext cx="4152384" cy="171511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789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5,561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47000" y="23542213"/>
            <a:ext cx="4152384" cy="130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학습 단어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2076" y="21484074"/>
            <a:ext cx="5235615" cy="3430230"/>
          </a:xfrm>
          <a:prstGeom prst="roundRect">
            <a:avLst>
              <a:gd name="adj" fmla="val 12631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943691" y="21700720"/>
            <a:ext cx="4152384" cy="171511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789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14개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3691" y="23542213"/>
            <a:ext cx="4152384" cy="130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주제 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998768" y="21484074"/>
            <a:ext cx="5235615" cy="3430230"/>
          </a:xfrm>
          <a:prstGeom prst="roundRect">
            <a:avLst>
              <a:gd name="adj" fmla="val 12631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540383" y="21700720"/>
            <a:ext cx="4152384" cy="171511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789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30단어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40383" y="23542213"/>
            <a:ext cx="4152384" cy="130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레슨 단위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595459" y="21484074"/>
            <a:ext cx="5416153" cy="3430230"/>
          </a:xfrm>
          <a:prstGeom prst="roundRect">
            <a:avLst>
              <a:gd name="adj" fmla="val 12631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9137075" y="21700720"/>
            <a:ext cx="4332923" cy="1715115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789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5쌍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137075" y="23542213"/>
            <a:ext cx="4332923" cy="1303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짝맞추기 라운드</a:t>
            </a:r>
          </a:p>
        </p:txBody>
      </p:sp>
      <p:pic>
        <p:nvPicPr>
          <p:cNvPr id="41" name="Picture 40" descr="ph_vocab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4843" y="5127292"/>
            <a:ext cx="4260707" cy="89474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4553228" y="14291423"/>
            <a:ext cx="5343938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오늘의 복습 완료</a:t>
            </a:r>
          </a:p>
        </p:txBody>
      </p:sp>
      <p:pic>
        <p:nvPicPr>
          <p:cNvPr id="43" name="Picture 42" descr="ph_vocab_ma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69381" y="5127292"/>
            <a:ext cx="4260707" cy="8947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9427766" y="14291423"/>
            <a:ext cx="5343938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짝맞추기 완료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914305" y="15959598"/>
            <a:ext cx="9387999" cy="469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국립국어원 학습용 어휘 기반,</a:t>
            </a:r>
          </a:p>
          <a:p>
            <a:pPr algn="l">
              <a:lnSpc>
                <a:spcPct val="13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번역·예문은 Gemini로 생성해</a:t>
            </a:r>
          </a:p>
          <a:p>
            <a:pPr algn="l">
              <a:lnSpc>
                <a:spcPct val="13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주제별 덱으로 구성</a:t>
            </a:r>
          </a:p>
        </p:txBody>
      </p:sp>
      <p:pic>
        <p:nvPicPr>
          <p:cNvPr id="46" name="Picture 45" descr="c_turtle_hap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61304" y="20039767"/>
            <a:ext cx="4676771" cy="498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71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주요 기술 ③ 미션 대화 · 언어 실험실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5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5384" y="4982861"/>
            <a:ext cx="21303536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Roleplay 미션 — 목적 · 끝 · 피드백이 있는 AI 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5384" y="7040999"/>
            <a:ext cx="4513461" cy="3430230"/>
          </a:xfrm>
          <a:prstGeom prst="roundRect">
            <a:avLst>
              <a:gd name="adj" fmla="val 12631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805384" y="7040999"/>
            <a:ext cx="4513461" cy="343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학습자</a:t>
            </a:r>
          </a:p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한국어 문장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6427168" y="7149322"/>
            <a:ext cx="1697062" cy="794369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7168" y="9568537"/>
            <a:ext cx="1697062" cy="794369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04768" y="6318845"/>
            <a:ext cx="7582614" cy="1985923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75224">
            <a:solidFill>
              <a:srgbClr val="FF8F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c_rabbit_tal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414" y="6427168"/>
            <a:ext cx="1691903" cy="18053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90691" y="6318845"/>
            <a:ext cx="5596692" cy="1985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토끼 · 역할 연기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4768" y="9387999"/>
            <a:ext cx="7582614" cy="1985923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75224">
            <a:solidFill>
              <a:srgbClr val="4CD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_turtle_tal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414" y="9496322"/>
            <a:ext cx="1818373" cy="18053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90691" y="9387999"/>
            <a:ext cx="5596692" cy="19859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거북이 · 채점 교정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4768" y="8304768"/>
            <a:ext cx="7582614" cy="10832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동시에 호출 (GPT-4o)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995706" y="7293753"/>
            <a:ext cx="1516523" cy="830477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995706" y="9568537"/>
            <a:ext cx="1516523" cy="794369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692767" y="6860461"/>
            <a:ext cx="5416153" cy="3791307"/>
          </a:xfrm>
          <a:prstGeom prst="roundRect">
            <a:avLst>
              <a:gd name="adj" fmla="val 11428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92767" y="6860461"/>
            <a:ext cx="5416153" cy="37913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146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한 턴</a:t>
            </a:r>
          </a:p>
          <a:p>
            <a:pPr algn="ctr">
              <a:lnSpc>
                <a:spcPct val="105000"/>
              </a:lnSpc>
            </a:pPr>
            <a:r>
              <a:rPr sz="71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1.5~2초</a:t>
            </a:r>
          </a:p>
          <a:p>
            <a:pPr algn="ctr">
              <a:lnSpc>
                <a:spcPct val="105000"/>
              </a:lnSpc>
            </a:pPr>
            <a:r>
              <a:rPr sz="3751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순차 대비 30~50%↓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5384" y="11554460"/>
            <a:ext cx="21303536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73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3-Zone 판정 — 서버가 강제, 최대 minTurns+3 턴 안에 종료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05384" y="12818229"/>
            <a:ext cx="6968784" cy="2238677"/>
          </a:xfrm>
          <a:prstGeom prst="roundRect">
            <a:avLst>
              <a:gd name="adj" fmla="val 12903"/>
            </a:avLst>
          </a:prstGeom>
          <a:solidFill>
            <a:srgbClr val="E2D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805384" y="12890445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 초반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05384" y="13901460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판정 보류 · 대화 유지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72760" y="12818229"/>
            <a:ext cx="6968784" cy="2238677"/>
          </a:xfrm>
          <a:prstGeom prst="roundRect">
            <a:avLst>
              <a:gd name="adj" fmla="val 12903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972760" y="12890445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 판정 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2760" y="13901460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 달성 여부 판단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140137" y="12818229"/>
            <a:ext cx="6968784" cy="2238677"/>
          </a:xfrm>
          <a:prstGeom prst="roundRect">
            <a:avLst>
              <a:gd name="adj" fmla="val 12903"/>
            </a:avLst>
          </a:prstGeom>
          <a:solidFill>
            <a:srgbClr val="2B1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6140137" y="12890445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 연장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140137" y="13901460"/>
            <a:ext cx="6968784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턴 상한 도달 → 종료</a:t>
            </a:r>
          </a:p>
        </p:txBody>
      </p:sp>
      <p:pic>
        <p:nvPicPr>
          <p:cNvPr id="33" name="Picture 32" descr="ph_mission_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5384" y="15706844"/>
            <a:ext cx="3899630" cy="816485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63769" y="24088341"/>
            <a:ext cx="49828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역할로 변신 로딩</a:t>
            </a:r>
          </a:p>
        </p:txBody>
      </p:sp>
      <p:pic>
        <p:nvPicPr>
          <p:cNvPr id="35" name="Picture 34" descr="ph_mission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522" y="15706844"/>
            <a:ext cx="3899630" cy="818313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668907" y="24106620"/>
            <a:ext cx="49828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레드카드 교정</a:t>
            </a:r>
          </a:p>
        </p:txBody>
      </p:sp>
      <p:pic>
        <p:nvPicPr>
          <p:cNvPr id="37" name="Picture 36" descr="ph_mission_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5660" y="15706844"/>
            <a:ext cx="3899630" cy="8164851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074045" y="24088341"/>
            <a:ext cx="4982861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미션 리포트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165229" y="15887383"/>
            <a:ext cx="7943691" cy="90269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레드 · 옐로카드</a:t>
            </a:r>
          </a:p>
          <a:p>
            <a:pPr algn="l">
              <a:lnSpc>
                <a:spcPct val="12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대화 중 고칠 표현을 카드로 바로 알려 준다.</a:t>
            </a:r>
          </a:p>
          <a:p>
            <a:pPr algn="l">
              <a:lnSpc>
                <a:spcPct val="120000"/>
              </a:lnSpc>
              <a:spcBef>
                <a:spcPts val="2369"/>
              </a:spcBef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AI 코치 판정</a:t>
            </a:r>
          </a:p>
          <a:p>
            <a:pPr algn="l">
              <a:lnSpc>
                <a:spcPct val="12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목표 달성 시 클리어, 미달 시 재도전 권유.</a:t>
            </a:r>
          </a:p>
          <a:p>
            <a:pPr algn="l">
              <a:lnSpc>
                <a:spcPct val="120000"/>
              </a:lnSpc>
              <a:spcBef>
                <a:spcPts val="2369"/>
              </a:spcBef>
            </a:pPr>
            <a:r>
              <a:rPr sz="4146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항상 피드백</a:t>
            </a:r>
          </a:p>
          <a:p>
            <a:pPr algn="l">
              <a:lnSpc>
                <a:spcPct val="120000"/>
              </a:lnSpc>
            </a:pPr>
            <a:r>
              <a:rPr sz="4146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잘한 표현 · 고칠 표현 · 다음 목표 (실제로 보낸 문장만 인용)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011613" y="4982861"/>
            <a:ext cx="10290691" cy="19931444"/>
          </a:xfrm>
          <a:prstGeom prst="roundRect">
            <a:avLst>
              <a:gd name="adj" fmla="val 4210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4661551" y="5416153"/>
            <a:ext cx="9026922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528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Upgrade 실험실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61551" y="6860461"/>
            <a:ext cx="9026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343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한글랩 — 자모 → 글자 조합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61551" y="8015907"/>
            <a:ext cx="9026922" cy="180538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4661551" y="8015907"/>
            <a:ext cx="9026922" cy="18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0xAC00 + (초성×21 + 중성)×28 + 종성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61551" y="9929614"/>
            <a:ext cx="9026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유니코드 공식 · 기기에서 즉시 계산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661551" y="11265599"/>
            <a:ext cx="9026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343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그래머랩 — AI 문법 변형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661551" y="12348829"/>
            <a:ext cx="9026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Gemini 2.5 Flash · 같은 요청은 DB 캐시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61551" y="13648706"/>
            <a:ext cx="4332923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4661551" y="13720921"/>
            <a:ext cx="4332923" cy="18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712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1~2ms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661551" y="15345767"/>
            <a:ext cx="4332923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캐시 HIT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355550" y="13648706"/>
            <a:ext cx="4332923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29355550" y="13720921"/>
            <a:ext cx="4332923" cy="1805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6712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3~5초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355550" y="15345767"/>
            <a:ext cx="4332923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MISS (AI 호출)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661551" y="16970613"/>
            <a:ext cx="902692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751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수식어 순서가 달라도 같은 캐시 키</a:t>
            </a:r>
          </a:p>
        </p:txBody>
      </p:sp>
      <p:pic>
        <p:nvPicPr>
          <p:cNvPr id="55" name="Picture 54" descr="ph_lab_gramm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61551" y="18234382"/>
            <a:ext cx="2960830" cy="6217744"/>
          </a:xfrm>
          <a:prstGeom prst="rect">
            <a:avLst/>
          </a:prstGeom>
        </p:spPr>
      </p:pic>
      <p:pic>
        <p:nvPicPr>
          <p:cNvPr id="56" name="Picture 55" descr="c_turtle_happ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05612" y="19678690"/>
            <a:ext cx="4575102" cy="487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492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>
            <a:normAutofit/>
          </a:bodyPr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결론 및 기대효과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7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5384" y="4874538"/>
            <a:ext cx="32496919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Railway 운영 서버 배포 · iPhone 실기기 설치와 Google 로그인까지 확인한 실제 서비스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5384" y="6679922"/>
            <a:ext cx="7763153" cy="3971846"/>
          </a:xfrm>
          <a:prstGeom prst="roundRect">
            <a:avLst>
              <a:gd name="adj" fmla="val 10909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347000" y="6896568"/>
            <a:ext cx="6679922" cy="1985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4개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7000" y="9063030"/>
            <a:ext cx="6679922" cy="1509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핵심 학습 기능 (M · A · R · U)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48770" y="6679922"/>
            <a:ext cx="7763153" cy="3971846"/>
          </a:xfrm>
          <a:prstGeom prst="roundRect">
            <a:avLst>
              <a:gd name="adj" fmla="val 10909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90385" y="6896568"/>
            <a:ext cx="6679922" cy="1985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15개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0385" y="9063030"/>
            <a:ext cx="6679922" cy="1509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레슨 (한글 12 + 문법 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92155" y="6679922"/>
            <a:ext cx="7763153" cy="3971846"/>
          </a:xfrm>
          <a:prstGeom prst="roundRect">
            <a:avLst>
              <a:gd name="adj" fmla="val 10909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833770" y="6896568"/>
            <a:ext cx="6679922" cy="1985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5,561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3770" y="9063030"/>
            <a:ext cx="6679922" cy="1509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학습 단어 · 14개 주제 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35540" y="6679922"/>
            <a:ext cx="7763153" cy="3971846"/>
          </a:xfrm>
          <a:prstGeom prst="roundRect">
            <a:avLst>
              <a:gd name="adj" fmla="val 10909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7077155" y="6896568"/>
            <a:ext cx="6679922" cy="1985923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15000"/>
              </a:lnSpc>
            </a:pPr>
            <a:r>
              <a:rPr sz="947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123 · 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77155" y="9063030"/>
            <a:ext cx="6679922" cy="1509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자동 테스트 (서버 · 앱) 통과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05384" y="11373922"/>
            <a:ext cx="10471230" cy="938799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75224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2527538" y="11987752"/>
            <a:ext cx="2238677" cy="2238677"/>
          </a:xfrm>
          <a:prstGeom prst="ellipse">
            <a:avLst/>
          </a:prstGeom>
          <a:solidFill>
            <a:srgbClr val="FFC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c_rabbit_hap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355" y="12023860"/>
            <a:ext cx="2055043" cy="21664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5615" y="11987752"/>
            <a:ext cx="6860461" cy="22386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92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학습자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9754" y="14804152"/>
            <a:ext cx="9026922" cy="577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덩어리 → 목표 문법 분해로 교착어 구조를 직접 체험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잊기 직전에 복습하는 FSRS-4.5로 효율적인 단어 기억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목적 · 종료 · 피드백이 있는 AI 회화 연습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818229" y="11373922"/>
            <a:ext cx="10471230" cy="938799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75224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3540383" y="11987752"/>
            <a:ext cx="2238677" cy="2238677"/>
          </a:xfrm>
          <a:prstGeom prst="ellipse">
            <a:avLst/>
          </a:prstGeom>
          <a:solidFill>
            <a:srgbClr val="4CD4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c_turtle_thi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2598" y="12064455"/>
            <a:ext cx="2094246" cy="208527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248460" y="11987752"/>
            <a:ext cx="6860461" cy="22386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92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교육 · 콘텐츠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612598" y="14804152"/>
            <a:ext cx="9026922" cy="577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CSV(문장 + 목표 품사)만으로 레슨 데이터 생성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어휘 파이프라인 재사용으로 주제 덱 확장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멱등 SQL 패치로 운영 DB에 안전하게 반영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831074" y="11373922"/>
            <a:ext cx="10471230" cy="9387999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75224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4553228" y="11987752"/>
            <a:ext cx="2238677" cy="2238677"/>
          </a:xfrm>
          <a:prstGeom prst="ellipse">
            <a:avLst/>
          </a:prstGeom>
          <a:solidFill>
            <a:srgbClr val="FF8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c_turtle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5877" y="12023860"/>
            <a:ext cx="2033379" cy="216646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7261304" y="11987752"/>
            <a:ext cx="6860461" cy="22386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592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개발 · 운영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25443" y="14804152"/>
            <a:ext cx="9026922" cy="57772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AI 응답 캐시 · 병렬 호출로 응답 시간과 비용 관리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캐릭터 그림 / 모션 분리로 디자인 교체 비용 최소화</a:t>
            </a:r>
          </a:p>
          <a:p>
            <a:pPr algn="l">
              <a:lnSpc>
                <a:spcPct val="120000"/>
              </a:lnSpc>
              <a:spcBef>
                <a:spcPts val="1974"/>
              </a:spcBef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· 자동 테스트 + 푸시 시 Railway 자동 배포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805384" y="21484074"/>
            <a:ext cx="32496919" cy="3430230"/>
          </a:xfrm>
          <a:prstGeom prst="roundRect">
            <a:avLst>
              <a:gd name="adj" fmla="val 12631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c_rabbit_ch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7000" y="21122997"/>
            <a:ext cx="3509667" cy="3791307"/>
          </a:xfrm>
          <a:prstGeom prst="rect">
            <a:avLst/>
          </a:prstGeom>
        </p:spPr>
      </p:pic>
      <p:pic>
        <p:nvPicPr>
          <p:cNvPr id="37" name="Picture 36" descr="c_turtle_che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08304" y="21231321"/>
            <a:ext cx="3954124" cy="36829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60461" y="21484074"/>
            <a:ext cx="22386767" cy="3430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5923" b="1">
                <a:solidFill>
                  <a:srgbClr val="FFC83D"/>
                </a:solidFill>
                <a:latin typeface="맑은 고딕"/>
                <a:ea typeface="맑은 고딕"/>
                <a:cs typeface="맑은 고딕"/>
              </a:rPr>
              <a:t>향후 계획  </a:t>
            </a:r>
            <a:r>
              <a:rPr sz="5923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웹 체험판 · 랜딩 페이지 → 2026년 11월 졸업전시</a:t>
            </a:r>
          </a:p>
        </p:txBody>
      </p:sp>
    </p:spTree>
    <p:extLst>
      <p:ext uri="{BB962C8B-B14F-4D97-AF65-F5344CB8AC3E}">
        <p14:creationId xmlns:p14="http://schemas.microsoft.com/office/powerpoint/2010/main" val="2066829598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784" y="1516523"/>
            <a:ext cx="29608304" cy="2599754"/>
          </a:xfrm>
        </p:spPr>
        <p:txBody>
          <a:bodyPr lIns="0" rIns="0" tIns="0" bIns="0" anchor="ctr"/>
          <a:lstStyle/>
          <a:p>
            <a:pPr algn="l"/>
            <a:r>
              <a:rPr sz="11846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캐릭터 · 사용자 경험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5384" y="1733169"/>
            <a:ext cx="2166461" cy="2166461"/>
          </a:xfrm>
          <a:prstGeom prst="roundRect">
            <a:avLst>
              <a:gd name="adj" fmla="val 50000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4431" rIns="144431" tIns="0" bIns="0"/>
          <a:lstStyle/>
          <a:p>
            <a:pPr algn="ctr"/>
            <a:r>
              <a:rPr sz="6712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4" name="머리말"/>
          <p:cNvSpPr txBox="1"/>
          <p:nvPr/>
        </p:nvSpPr>
        <p:spPr>
          <a:xfrm>
            <a:off x="1805384" y="433292"/>
            <a:ext cx="21664613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2026년 졸업작품 · MARU (마루)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469997" y="433292"/>
            <a:ext cx="10832306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6 / 7</a:t>
            </a:r>
          </a:p>
        </p:txBody>
      </p:sp>
      <p:sp>
        <p:nvSpPr>
          <p:cNvPr id="6" name="바닥글"/>
          <p:cNvSpPr txBox="1"/>
          <p:nvPr/>
        </p:nvSpPr>
        <p:spPr>
          <a:xfrm>
            <a:off x="1805384" y="25628108"/>
            <a:ext cx="32496919" cy="902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48" b="0">
                <a:solidFill>
                  <a:srgbClr val="6E6889"/>
                </a:solidFill>
                <a:latin typeface="맑은 고딕"/>
                <a:ea typeface="맑은 고딕"/>
                <a:cs typeface="맑은 고딕"/>
              </a:rPr>
              <a:t>팀원 하도윤 · 지도교수 한경수 교수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05384" y="5127292"/>
            <a:ext cx="13359845" cy="11734999"/>
          </a:xfrm>
          <a:prstGeom prst="roundRect">
            <a:avLst>
              <a:gd name="adj" fmla="val 3692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_rabbit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461" y="6497904"/>
            <a:ext cx="6138307" cy="7043959"/>
          </a:xfrm>
          <a:prstGeom prst="rect">
            <a:avLst/>
          </a:prstGeom>
        </p:spPr>
      </p:pic>
      <p:pic>
        <p:nvPicPr>
          <p:cNvPr id="9" name="Picture 8" descr="c_turtle_i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307" y="6946805"/>
            <a:ext cx="6318845" cy="68683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166461" y="14623614"/>
            <a:ext cx="6138307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343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토끼</a:t>
            </a:r>
          </a:p>
          <a:p>
            <a:pPr algn="ctr">
              <a:lnSpc>
                <a:spcPct val="110000"/>
              </a:lnSpc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빠른 체험 · 연기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5307" y="14623614"/>
            <a:ext cx="6318845" cy="19859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4343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거북이</a:t>
            </a:r>
          </a:p>
          <a:p>
            <a:pPr algn="ctr">
              <a:lnSpc>
                <a:spcPct val="110000"/>
              </a:lnSpc>
            </a:pPr>
            <a:r>
              <a:rPr sz="4343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느린 분석 · 코칭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67921" y="4982861"/>
            <a:ext cx="18053844" cy="12637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13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학습 이벤트에 실시간 반응 — 4개 기능 21개 화면 지점 + 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067921" y="6499384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_rabbit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0400" y="6716030"/>
            <a:ext cx="2500303" cy="26358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137075" y="6788245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37075" y="7871476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캐릭터가 함께 기뻐한다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275382" y="6499384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c_turtle_thi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64243" y="6775608"/>
            <a:ext cx="2527538" cy="25167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344535" y="6788245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오답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4535" y="7871476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거북이가 힌트 말풍선으로 코칭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067921" y="10001830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c_rabbit_che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00525" y="10218476"/>
            <a:ext cx="2440054" cy="26358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137075" y="10290691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레슨 완료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137075" y="11373922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토끼 환호 점프 + 축하 효과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275382" y="10001830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c_rabbit_mag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17399" y="10218476"/>
            <a:ext cx="2421227" cy="26358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8344535" y="10290691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미션 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4535" y="11373922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토끼가 역할로 변신하는 로딩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6067921" y="13504275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c_turtle_tal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56783" y="13784110"/>
            <a:ext cx="2527538" cy="250948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9137075" y="13793137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대화 교정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137075" y="14876367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거북이가 레드 · 옐로카드로 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275382" y="13504275"/>
            <a:ext cx="8846384" cy="3069153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 w="60179">
            <a:solidFill>
              <a:srgbClr val="E2D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c_rabbit_b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15516" y="13720921"/>
            <a:ext cx="2424992" cy="2635861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8344535" y="13793137"/>
            <a:ext cx="5596692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44535" y="14876367"/>
            <a:ext cx="5596692" cy="16248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숨쉬기 · 눈 깜빡임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5384" y="17403906"/>
            <a:ext cx="32496919" cy="108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343" b="1">
                <a:solidFill>
                  <a:srgbClr val="2B1D5C"/>
                </a:solidFill>
                <a:latin typeface="맑은 고딕"/>
                <a:ea typeface="맑은 고딕"/>
                <a:cs typeface="맑은 고딕"/>
              </a:rPr>
              <a:t>AI 생성 표정 이미지 15장 (토끼 8 · 거북이 7)</a:t>
            </a:r>
          </a:p>
        </p:txBody>
      </p:sp>
      <p:pic>
        <p:nvPicPr>
          <p:cNvPr id="38" name="Picture 37" descr="c_rabbit_i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192" y="18595459"/>
            <a:ext cx="1950847" cy="2238677"/>
          </a:xfrm>
          <a:prstGeom prst="rect">
            <a:avLst/>
          </a:prstGeom>
        </p:spPr>
      </p:pic>
      <p:pic>
        <p:nvPicPr>
          <p:cNvPr id="39" name="Picture 38" descr="c_rabbit_happ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4061" y="18648968"/>
            <a:ext cx="2022031" cy="2131659"/>
          </a:xfrm>
          <a:prstGeom prst="rect">
            <a:avLst/>
          </a:prstGeom>
        </p:spPr>
      </p:pic>
      <p:pic>
        <p:nvPicPr>
          <p:cNvPr id="40" name="Picture 39" descr="c_rabbit_che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522" y="18622652"/>
            <a:ext cx="2022031" cy="2184292"/>
          </a:xfrm>
          <a:prstGeom prst="rect">
            <a:avLst/>
          </a:prstGeom>
        </p:spPr>
      </p:pic>
      <p:pic>
        <p:nvPicPr>
          <p:cNvPr id="41" name="Picture 40" descr="c_rabbit_think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6984" y="18660087"/>
            <a:ext cx="2022031" cy="2109421"/>
          </a:xfrm>
          <a:prstGeom prst="rect">
            <a:avLst/>
          </a:prstGeom>
        </p:spPr>
      </p:pic>
      <p:pic>
        <p:nvPicPr>
          <p:cNvPr id="42" name="Picture 41" descr="c_rabbit_talk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3445" y="18635970"/>
            <a:ext cx="2022031" cy="2157655"/>
          </a:xfrm>
          <a:prstGeom prst="rect">
            <a:avLst/>
          </a:prstGeom>
        </p:spPr>
      </p:pic>
      <p:pic>
        <p:nvPicPr>
          <p:cNvPr id="43" name="Picture 42" descr="c_rabbit_s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09906" y="18706671"/>
            <a:ext cx="2022031" cy="2016253"/>
          </a:xfrm>
          <a:prstGeom prst="rect">
            <a:avLst/>
          </a:prstGeom>
        </p:spPr>
      </p:pic>
      <p:pic>
        <p:nvPicPr>
          <p:cNvPr id="44" name="Picture 43" descr="c_rabbit_bl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76367" y="18615868"/>
            <a:ext cx="2022031" cy="2197859"/>
          </a:xfrm>
          <a:prstGeom prst="rect">
            <a:avLst/>
          </a:prstGeom>
        </p:spPr>
      </p:pic>
      <p:pic>
        <p:nvPicPr>
          <p:cNvPr id="45" name="Picture 44" descr="c_rabbit_mag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42829" y="18614159"/>
            <a:ext cx="2022031" cy="2201277"/>
          </a:xfrm>
          <a:prstGeom prst="rect">
            <a:avLst/>
          </a:prstGeom>
        </p:spPr>
      </p:pic>
      <p:pic>
        <p:nvPicPr>
          <p:cNvPr id="46" name="Picture 45" descr="c_turtle_id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9290" y="18615868"/>
            <a:ext cx="2022031" cy="2197859"/>
          </a:xfrm>
          <a:prstGeom prst="rect">
            <a:avLst/>
          </a:prstGeom>
        </p:spPr>
      </p:pic>
      <p:pic>
        <p:nvPicPr>
          <p:cNvPr id="47" name="Picture 46" descr="c_turtle_happy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375751" y="18637612"/>
            <a:ext cx="2022031" cy="2154370"/>
          </a:xfrm>
          <a:prstGeom prst="rect">
            <a:avLst/>
          </a:prstGeom>
        </p:spPr>
      </p:pic>
      <p:pic>
        <p:nvPicPr>
          <p:cNvPr id="48" name="Picture 47" descr="c_turtle_che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542213" y="18773109"/>
            <a:ext cx="2022031" cy="1883377"/>
          </a:xfrm>
          <a:prstGeom prst="rect">
            <a:avLst/>
          </a:prstGeom>
        </p:spPr>
      </p:pic>
      <p:pic>
        <p:nvPicPr>
          <p:cNvPr id="49" name="Picture 48" descr="c_turtle_think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08674" y="18708115"/>
            <a:ext cx="2022031" cy="2013365"/>
          </a:xfrm>
          <a:prstGeom prst="rect">
            <a:avLst/>
          </a:prstGeom>
        </p:spPr>
      </p:pic>
      <p:pic>
        <p:nvPicPr>
          <p:cNvPr id="50" name="Picture 49" descr="c_turtle_talk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5135" y="18711004"/>
            <a:ext cx="2022031" cy="2007587"/>
          </a:xfrm>
          <a:prstGeom prst="rect">
            <a:avLst/>
          </a:prstGeom>
        </p:spPr>
      </p:pic>
      <p:pic>
        <p:nvPicPr>
          <p:cNvPr id="51" name="Picture 50" descr="c_turtle_sa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041596" y="18666337"/>
            <a:ext cx="2022031" cy="2096921"/>
          </a:xfrm>
          <a:prstGeom prst="rect">
            <a:avLst/>
          </a:prstGeom>
        </p:spPr>
      </p:pic>
      <p:pic>
        <p:nvPicPr>
          <p:cNvPr id="52" name="Picture 51" descr="c_turtle_blink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208058" y="18741334"/>
            <a:ext cx="2022031" cy="1946927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1805384" y="21592397"/>
            <a:ext cx="7582614" cy="3249692"/>
          </a:xfrm>
          <a:prstGeom prst="roundRect">
            <a:avLst>
              <a:gd name="adj" fmla="val 13333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805384" y="21592397"/>
            <a:ext cx="7582614" cy="3249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54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표정 그림</a:t>
            </a:r>
          </a:p>
          <a:p>
            <a:pPr algn="ctr">
              <a:lnSpc>
                <a:spcPct val="115000"/>
              </a:lnSpc>
            </a:pPr>
            <a:r>
              <a:rPr sz="454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AI 생성 PNG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87999" y="21592397"/>
            <a:ext cx="1444308" cy="3249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897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+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832306" y="21592397"/>
            <a:ext cx="8665845" cy="3249692"/>
          </a:xfrm>
          <a:prstGeom prst="roundRect">
            <a:avLst>
              <a:gd name="adj" fmla="val 13333"/>
            </a:avLst>
          </a:prstGeom>
          <a:solidFill>
            <a:srgbClr val="F0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832306" y="21592397"/>
            <a:ext cx="8665845" cy="3249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751" b="1">
                <a:solidFill>
                  <a:srgbClr val="6B4EFF"/>
                </a:solidFill>
                <a:latin typeface="맑은 고딕"/>
                <a:ea typeface="맑은 고딕"/>
                <a:cs typeface="맑은 고딕"/>
              </a:rPr>
              <a:t>몸짓</a:t>
            </a:r>
          </a:p>
          <a:p>
            <a:pPr algn="ctr">
              <a:lnSpc>
                <a:spcPct val="115000"/>
              </a:lnSpc>
            </a:pPr>
            <a:r>
              <a:rPr sz="3751" b="0">
                <a:solidFill>
                  <a:srgbClr val="2B2540"/>
                </a:solidFill>
                <a:latin typeface="맑은 고딕"/>
                <a:ea typeface="맑은 고딕"/>
                <a:cs typeface="맑은 고딕"/>
              </a:rPr>
              <a:t>코드 모션: 숨쉬기·깜빡임·점프·찌그러짐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9678690" y="23217243"/>
            <a:ext cx="1444307" cy="0"/>
          </a:xfrm>
          <a:prstGeom prst="line">
            <a:avLst/>
          </a:prstGeom>
          <a:ln w="100299">
            <a:solidFill>
              <a:srgbClr val="6B4EF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1303536" y="21592397"/>
            <a:ext cx="12998768" cy="3249692"/>
          </a:xfrm>
          <a:prstGeom prst="roundRect">
            <a:avLst>
              <a:gd name="adj" fmla="val 13333"/>
            </a:avLst>
          </a:prstGeom>
          <a:solidFill>
            <a:srgbClr val="6B4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21303536" y="21592397"/>
            <a:ext cx="12998768" cy="32496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738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그림 교체 시 기능 코드 수정 0줄</a:t>
            </a:r>
          </a:p>
          <a:p>
            <a:pPr algn="ctr">
              <a:lnSpc>
                <a:spcPct val="115000"/>
              </a:lnSpc>
            </a:pPr>
            <a:r>
              <a:rPr sz="4738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없는 표정은 자동 폴백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</TotalTime>
  <Words>76</Words>
  <Application>Microsoft Office PowerPoint</Application>
  <PresentationFormat>사용자 지정</PresentationFormat>
  <Paragraphs>15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필요성 및 배경</vt:lpstr>
      <vt:lpstr>시스템 구성도</vt:lpstr>
      <vt:lpstr>주요 기술</vt:lpstr>
      <vt:lpstr>주요 기술</vt:lpstr>
      <vt:lpstr>주요 기술</vt:lpstr>
      <vt:lpstr>결론 및 기대효과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MARU (마루) — 졸업작품 책자</dc:title>
  <dc:creator>하도윤</dc:creator>
  <cp:lastModifiedBy>전 특</cp:lastModifiedBy>
  <cp:revision>18</cp:revision>
  <cp:lastPrinted>2017-09-25T07:20:11Z</cp:lastPrinted>
  <dcterms:created xsi:type="dcterms:W3CDTF">2006-10-05T04:04:58Z</dcterms:created>
  <dcterms:modified xsi:type="dcterms:W3CDTF">2026-09-11T05:38:24Z</dcterms:modified>
</cp:coreProperties>
</file>