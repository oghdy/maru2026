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60" r:id="rId1"/>
  </p:sldMasterIdLst>
  <p:sldIdLst>
    <p:sldId id="256" r:id="rId2"/>
  </p:sldIdLst>
  <p:sldSz cx="15119350" cy="21599525"/>
  <p:notesSz cx="6858000" cy="9144000"/>
  <p:defaultTextStyle>
    <a:defPPr>
      <a:defRPr lang="ko-KR"/>
    </a:defPPr>
    <a:lvl1pPr marL="0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1pPr>
    <a:lvl2pPr marL="881253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2pPr>
    <a:lvl3pPr marL="1762506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3pPr>
    <a:lvl4pPr marL="2643759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4pPr>
    <a:lvl5pPr marL="3525012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5pPr>
    <a:lvl6pPr marL="4406265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6pPr>
    <a:lvl7pPr marL="5287518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7pPr>
    <a:lvl8pPr marL="6168771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8pPr>
    <a:lvl9pPr marL="7050024" algn="l" defTabSz="1762506" rtl="0" eaLnBrk="1" latinLnBrk="1" hangingPunct="1">
      <a:defRPr sz="34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36" d="100"/>
          <a:sy n="36" d="100"/>
        </p:scale>
        <p:origin x="28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534924"/>
            <a:ext cx="12851448" cy="7519835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344752"/>
            <a:ext cx="11339513" cy="5214884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3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65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84888"/>
            <a:ext cx="13040439" cy="8984801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454688"/>
            <a:ext cx="13040439" cy="4724895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0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749874"/>
            <a:ext cx="6425724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749874"/>
            <a:ext cx="6425724" cy="137047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00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49979"/>
            <a:ext cx="13040439" cy="417491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94885"/>
            <a:ext cx="6396193" cy="2594941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89827"/>
            <a:ext cx="6396193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94885"/>
            <a:ext cx="6427693" cy="2594941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89827"/>
            <a:ext cx="6427693" cy="1160474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58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20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26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39968"/>
            <a:ext cx="4876384" cy="5039889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109937"/>
            <a:ext cx="7654171" cy="15349662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79857"/>
            <a:ext cx="4876384" cy="12004738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563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39968"/>
            <a:ext cx="4876384" cy="5039889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109937"/>
            <a:ext cx="7654171" cy="15349662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79857"/>
            <a:ext cx="4876384" cy="12004738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77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041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49975"/>
            <a:ext cx="3260110" cy="1830459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49975"/>
            <a:ext cx="9591338" cy="18304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6713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49979"/>
            <a:ext cx="13040439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749874"/>
            <a:ext cx="13040439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20019564"/>
            <a:ext cx="340185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5E34C-743F-4E73-AFC6-6B5CE6201921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20019564"/>
            <a:ext cx="510278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20019564"/>
            <a:ext cx="340185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82662-189E-450A-AA1E-F1237951D3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73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11960" rtl="0" eaLnBrk="1" latinLnBrk="1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1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1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19350" cy="9179605"/>
          </a:xfrm>
          <a:prstGeom prst="rect">
            <a:avLst/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639629" y="-3239861"/>
            <a:ext cx="9359598" cy="9359598"/>
          </a:xfrm>
          <a:prstGeom prst="ellipse">
            <a:avLst/>
          </a:prstGeom>
          <a:solidFill>
            <a:srgbClr val="7A6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-2159907" y="5759752"/>
            <a:ext cx="5039783" cy="5039783"/>
          </a:xfrm>
          <a:prstGeom prst="ellipse">
            <a:avLst/>
          </a:prstGeom>
          <a:solidFill>
            <a:srgbClr val="5A3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9179605"/>
            <a:ext cx="15119350" cy="124194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99961" y="863963"/>
            <a:ext cx="2951873" cy="5399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30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TEAM  MARU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03824" y="863963"/>
            <a:ext cx="7199690" cy="5399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>
                <a:solidFill>
                  <a:srgbClr val="E2DCFF"/>
                </a:solidFill>
                <a:latin typeface="맑은 고딕"/>
                <a:ea typeface="맑은 고딕"/>
                <a:cs typeface="맑은 고딕"/>
              </a:rPr>
              <a:t>팀원  </a:t>
            </a:r>
            <a:r>
              <a:rPr sz="3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하도윤</a:t>
            </a:r>
            <a:r>
              <a:rPr sz="2400" b="0">
                <a:solidFill>
                  <a:srgbClr val="E2DCFF"/>
                </a:solidFill>
                <a:latin typeface="맑은 고딕"/>
                <a:ea typeface="맑은 고딕"/>
                <a:cs typeface="맑은 고딕"/>
              </a:rPr>
              <a:t>  컴퓨터공학과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961" y="1655929"/>
            <a:ext cx="7199690" cy="3599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2DCFF"/>
                </a:solidFill>
                <a:latin typeface="맑은 고딕"/>
                <a:ea typeface="맑은 고딕"/>
                <a:cs typeface="맑은 고딕"/>
              </a:rPr>
              <a:t>2026년 졸업작품 · 지도교수 한경수 교수</a:t>
            </a:r>
          </a:p>
        </p:txBody>
      </p:sp>
      <p:sp>
        <p:nvSpPr>
          <p:cNvPr id="9" name="QR_자리"/>
          <p:cNvSpPr/>
          <p:nvPr/>
        </p:nvSpPr>
        <p:spPr>
          <a:xfrm>
            <a:off x="11987485" y="719969"/>
            <a:ext cx="2411896" cy="2411896"/>
          </a:xfrm>
          <a:prstGeom prst="roundRect">
            <a:avLst>
              <a:gd name="adj" fmla="val 74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987485" y="3203862"/>
            <a:ext cx="2411896" cy="2879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E2DCFF"/>
                </a:solidFill>
                <a:latin typeface="맑은 고딕"/>
                <a:ea typeface="맑은 고딕"/>
                <a:cs typeface="맑은 고딕"/>
              </a:rPr>
              <a:t>팀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969" y="2303901"/>
            <a:ext cx="10799536" cy="2699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MARU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960" y="5003785"/>
            <a:ext cx="7379683" cy="719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C83D"/>
                </a:solidFill>
                <a:latin typeface="맑은 고딕"/>
                <a:ea typeface="맑은 고딕"/>
                <a:cs typeface="맑은 고딕"/>
              </a:rPr>
              <a:t>마루</a:t>
            </a:r>
            <a:r>
              <a:rPr sz="3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· 외국인을 위한 한국어 학습 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960" y="6119737"/>
            <a:ext cx="6659714" cy="16199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토끼처럼 </a:t>
            </a:r>
            <a:r>
              <a:rPr sz="4000" b="1">
                <a:solidFill>
                  <a:srgbClr val="FFC83D"/>
                </a:solidFill>
                <a:latin typeface="맑은 고딕"/>
                <a:ea typeface="맑은 고딕"/>
                <a:cs typeface="맑은 고딕"/>
              </a:rPr>
              <a:t>빠르게 체험</a:t>
            </a:r>
            <a:r>
              <a:rPr sz="4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하고,</a:t>
            </a:r>
          </a:p>
          <a:p>
            <a:pPr algn="l">
              <a:lnSpc>
                <a:spcPct val="120000"/>
              </a:lnSpc>
            </a:pPr>
            <a:r>
              <a:rPr sz="4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거북이처럼 </a:t>
            </a:r>
            <a:r>
              <a:rPr sz="4000" b="1">
                <a:solidFill>
                  <a:srgbClr val="4CD4B0"/>
                </a:solidFill>
                <a:latin typeface="맑은 고딕"/>
                <a:ea typeface="맑은 고딕"/>
                <a:cs typeface="맑은 고딕"/>
              </a:rPr>
              <a:t>천천히 이해</a:t>
            </a:r>
            <a:r>
              <a:rPr sz="4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한다.</a:t>
            </a:r>
          </a:p>
        </p:txBody>
      </p:sp>
      <p:pic>
        <p:nvPicPr>
          <p:cNvPr id="14" name="Picture 13" descr="c_rabbit_ch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690" y="4031827"/>
            <a:ext cx="5197019" cy="5615759"/>
          </a:xfrm>
          <a:prstGeom prst="rect">
            <a:avLst/>
          </a:prstGeom>
        </p:spPr>
      </p:pic>
      <p:pic>
        <p:nvPicPr>
          <p:cNvPr id="15" name="Picture 14" descr="c_turtle_ha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533" y="5039783"/>
            <a:ext cx="4390488" cy="467979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99961" y="10079567"/>
            <a:ext cx="3599845" cy="539977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961" y="10799536"/>
            <a:ext cx="13319427" cy="14399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한국어는 단어에 조사·어미를 붙여 뜻을 만드는 </a:t>
            </a:r>
            <a:r>
              <a:rPr sz="27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교착어</a:t>
            </a:r>
            <a:r>
              <a:rPr sz="27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다. 기존 학습 앱은 암기와 객관식 위주라 이 구조를 체험하기 어렵다. </a:t>
            </a:r>
            <a:r>
              <a:rPr sz="27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MARU</a:t>
            </a:r>
            <a:r>
              <a:rPr sz="27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는 토끼와 함께 문장을 덩어리로 먼저 써 보고, 거북이와 함께 레슨 목표 문법만 쪼개 보며 한국어의 구조를 직접 익히는 앱이다.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961" y="12455465"/>
            <a:ext cx="6479721" cy="3743839"/>
          </a:xfrm>
          <a:prstGeom prst="roundRect">
            <a:avLst>
              <a:gd name="adj" fmla="val 7692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187949" y="12743452"/>
            <a:ext cx="719969" cy="719969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4800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7949" y="13571417"/>
            <a:ext cx="3311858" cy="503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Morpheme 레슨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7949" y="14147392"/>
            <a:ext cx="3347856" cy="1943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덩어리로 조립(토끼) →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목표 문법만 분해(거북이)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Kiwi 콘텐츠 파이프라인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한글 12 + 문법 3 레슨</a:t>
            </a:r>
          </a:p>
        </p:txBody>
      </p:sp>
      <p:pic>
        <p:nvPicPr>
          <p:cNvPr id="22" name="Picture 21" descr="ph_lesson_d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745" y="12981042"/>
            <a:ext cx="1223947" cy="2574369"/>
          </a:xfrm>
          <a:prstGeom prst="rect">
            <a:avLst/>
          </a:prstGeom>
        </p:spPr>
      </p:pic>
      <p:pic>
        <p:nvPicPr>
          <p:cNvPr id="23" name="Picture 22" descr="ph_lesson_h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9803" y="12981042"/>
            <a:ext cx="1223947" cy="257436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739667" y="12455465"/>
            <a:ext cx="6479721" cy="3743839"/>
          </a:xfrm>
          <a:prstGeom prst="roundRect">
            <a:avLst>
              <a:gd name="adj" fmla="val 7692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027655" y="12743452"/>
            <a:ext cx="719969" cy="719969"/>
          </a:xfrm>
          <a:prstGeom prst="roundRect">
            <a:avLst>
              <a:gd name="adj" fmla="val 50000"/>
            </a:avLst>
          </a:prstGeom>
          <a:solidFill>
            <a:srgbClr val="4CD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4800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7655" y="13571417"/>
            <a:ext cx="3311858" cy="503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Adaptive 단어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7655" y="14147392"/>
            <a:ext cx="3347856" cy="1943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FSRS-4.5 표준 공식으로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단어별 다음 복습일 계산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5,561단어 · 14개 주제 덱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짝맞추기 라운드당 5쌍</a:t>
            </a:r>
          </a:p>
        </p:txBody>
      </p:sp>
      <p:pic>
        <p:nvPicPr>
          <p:cNvPr id="28" name="Picture 27" descr="ph_vocab_m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79451" y="12981042"/>
            <a:ext cx="1223947" cy="2574369"/>
          </a:xfrm>
          <a:prstGeom prst="rect">
            <a:avLst/>
          </a:prstGeom>
        </p:spPr>
      </p:pic>
      <p:pic>
        <p:nvPicPr>
          <p:cNvPr id="29" name="Picture 28" descr="ph_vocab_re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9509" y="12981042"/>
            <a:ext cx="1223947" cy="2574369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99961" y="16523290"/>
            <a:ext cx="6479721" cy="3743839"/>
          </a:xfrm>
          <a:prstGeom prst="roundRect">
            <a:avLst>
              <a:gd name="adj" fmla="val 7692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187949" y="16811277"/>
            <a:ext cx="719969" cy="719969"/>
          </a:xfrm>
          <a:prstGeom prst="roundRect">
            <a:avLst>
              <a:gd name="adj" fmla="val 50000"/>
            </a:avLst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7949" y="17639242"/>
            <a:ext cx="3311858" cy="503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Roleplay 미션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7949" y="18215217"/>
            <a:ext cx="3347856" cy="1943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토끼가 역할로 변신해 대화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거북이가 레드·옐로카드 교정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한 턴 약 1.5~2초 (병렬 호출)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AI 코치가 클리어 판정</a:t>
            </a:r>
          </a:p>
        </p:txBody>
      </p:sp>
      <p:pic>
        <p:nvPicPr>
          <p:cNvPr id="34" name="Picture 33" descr="ph_mission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745" y="17048867"/>
            <a:ext cx="1223947" cy="2571649"/>
          </a:xfrm>
          <a:prstGeom prst="rect">
            <a:avLst/>
          </a:prstGeom>
        </p:spPr>
      </p:pic>
      <p:pic>
        <p:nvPicPr>
          <p:cNvPr id="35" name="Picture 34" descr="ph_mission_magi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9803" y="17048867"/>
            <a:ext cx="1223947" cy="256757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739667" y="16523290"/>
            <a:ext cx="6479721" cy="3743839"/>
          </a:xfrm>
          <a:prstGeom prst="roundRect">
            <a:avLst>
              <a:gd name="adj" fmla="val 7692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027655" y="16811277"/>
            <a:ext cx="719969" cy="719969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7655" y="17639242"/>
            <a:ext cx="3311858" cy="5039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Upgrade 실험실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7655" y="18215217"/>
            <a:ext cx="3347856" cy="19439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한글 자모 → 글자 조합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AI 문법 변형 (Gemini)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같은 요청은 DB 캐시</a:t>
            </a: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캐시 HIT 1~2ms</a:t>
            </a:r>
          </a:p>
        </p:txBody>
      </p:sp>
      <p:pic>
        <p:nvPicPr>
          <p:cNvPr id="40" name="Picture 39" descr="ph_lab_gramm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79451" y="17048867"/>
            <a:ext cx="1223947" cy="2574369"/>
          </a:xfrm>
          <a:prstGeom prst="rect">
            <a:avLst/>
          </a:prstGeom>
        </p:spPr>
      </p:pic>
      <p:pic>
        <p:nvPicPr>
          <p:cNvPr id="41" name="Picture 40" descr="ph_lab_hangeu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9509" y="17048867"/>
            <a:ext cx="1223947" cy="2574369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899961" y="20303127"/>
            <a:ext cx="13319427" cy="935960"/>
          </a:xfrm>
          <a:prstGeom prst="roundRect">
            <a:avLst>
              <a:gd name="adj" fmla="val 50000"/>
            </a:avLst>
          </a:prstGeom>
          <a:solidFill>
            <a:srgbClr val="2B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223947" y="20303127"/>
            <a:ext cx="1799923" cy="93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C83D"/>
                </a:solidFill>
                <a:latin typeface="맑은 고딕"/>
                <a:ea typeface="맑은 고딕"/>
                <a:cs typeface="맑은 고딕"/>
              </a:rPr>
              <a:t>TECH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35882" y="20537117"/>
            <a:ext cx="1069154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Flutter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3032" y="20537117"/>
            <a:ext cx="1515535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Spring Boot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36562" y="20537117"/>
            <a:ext cx="1403940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8497" y="20537117"/>
            <a:ext cx="1069154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Railway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5646" y="20537117"/>
            <a:ext cx="1180749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FSRS-4.5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14391" y="20537117"/>
            <a:ext cx="734368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Kiwi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56755" y="20537117"/>
            <a:ext cx="1738725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OpenAI GPT-4o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203475" y="20537117"/>
            <a:ext cx="1403940" cy="467980"/>
          </a:xfrm>
          <a:prstGeom prst="roundRect">
            <a:avLst>
              <a:gd name="adj" fmla="val 50000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399" rIns="14399" tIns="0" bIns="0"/>
          <a:lstStyle/>
          <a:p>
            <a:pPr algn="ctr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 2.5</a:t>
            </a:r>
          </a:p>
        </p:txBody>
      </p:sp>
    </p:spTree>
    <p:extLst>
      <p:ext uri="{BB962C8B-B14F-4D97-AF65-F5344CB8AC3E}">
        <p14:creationId xmlns:p14="http://schemas.microsoft.com/office/powerpoint/2010/main" val="2212056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72</Words>
  <Application>Microsoft Office PowerPoint</Application>
  <PresentationFormat>사용자 지정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 (마루) — 졸업작품 포스터</dc:title>
  <dc:creator>하도윤</dc:creator>
  <cp:lastModifiedBy>문다영</cp:lastModifiedBy>
  <cp:revision>5</cp:revision>
  <dcterms:created xsi:type="dcterms:W3CDTF">2017-09-29T08:12:49Z</dcterms:created>
  <dcterms:modified xsi:type="dcterms:W3CDTF">2022-10-12T01:55:45Z</dcterms:modified>
</cp:coreProperties>
</file>